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7" r:id="rId2"/>
    <p:sldId id="258" r:id="rId3"/>
    <p:sldId id="260" r:id="rId4"/>
    <p:sldId id="259" r:id="rId5"/>
    <p:sldId id="263" r:id="rId6"/>
    <p:sldId id="268" r:id="rId7"/>
    <p:sldId id="269" r:id="rId8"/>
    <p:sldId id="270" r:id="rId9"/>
    <p:sldId id="261" r:id="rId10"/>
    <p:sldId id="262" r:id="rId11"/>
    <p:sldId id="264" r:id="rId12"/>
    <p:sldId id="265" r:id="rId13"/>
    <p:sldId id="266" r:id="rId14"/>
    <p:sldId id="267" r:id="rId15"/>
    <p:sldId id="287" r:id="rId16"/>
    <p:sldId id="281" r:id="rId17"/>
    <p:sldId id="291" r:id="rId18"/>
    <p:sldId id="290" r:id="rId19"/>
    <p:sldId id="271" r:id="rId20"/>
    <p:sldId id="272" r:id="rId21"/>
    <p:sldId id="273" r:id="rId22"/>
    <p:sldId id="274" r:id="rId23"/>
    <p:sldId id="275" r:id="rId24"/>
    <p:sldId id="278" r:id="rId25"/>
    <p:sldId id="279" r:id="rId26"/>
    <p:sldId id="286" r:id="rId27"/>
    <p:sldId id="282" r:id="rId28"/>
    <p:sldId id="284" r:id="rId29"/>
    <p:sldId id="28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A086CB-A695-49D9-8C2E-9873859BCA4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80E1E-2258-41D2-8B32-8E87B6056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508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A1B7-DB72-A681-2033-56C8C70BE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4B660-CAF4-3219-EB44-792D929C42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15C1E-3914-AB6B-3CA2-EA5E6FCF4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9E74-BB92-43A1-93A9-56899A08A8EA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FD7B1-FB33-F83A-27B1-BDF1D7D2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91F03-8979-70F2-ECEA-6E3384D1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39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F1C7A-10E1-DD26-45F1-4B3C9B69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1CD10-3BB0-8EA8-6623-6B9FCC23F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DDC0A-3B65-F5D7-C477-4A4E3B5D7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E7E5C-3220-4614-A522-AFD916A4C527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96670-8629-CDBD-2385-848186326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24927-65FB-51BA-8102-D4AEEBD12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45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06355-A4DA-DB3D-D25D-6CE74C95C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14B1C1-1CF7-C71A-0FBE-4EF3DAC4D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ECB99-27F5-4A28-9842-289C6349F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044-EFFF-4CBD-97F7-2F91E5899AD1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A4995-9159-6B08-17FD-DE7E17BA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96CB5-B0F0-E3AA-073C-B5C64DF4E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37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26A3E-5A1B-F5FD-FACF-8DA04D63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9B25C-4928-214B-363E-487C1DBD4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F98C1E-39AA-0188-CC22-64D81BB82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7D118-BF47-AF47-352E-5B09110FA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58A1C-7692-454B-B2B0-19CF8E1B29B2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08DA9D-DE52-9BBD-E0FF-BFDBA75FC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8C15E-C400-FEFF-1290-A6DEB68AA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165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3AC29-F777-E2F6-16AE-EAE703C7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4ABF2-2425-958C-9323-803F873CAC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A46DEF-E969-0793-D297-F9CF74163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90DF9C-102E-D80A-7E68-CF7369D75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D20BAF-76DE-0BC8-D083-C8C1313B60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A01325-3495-2498-3DA1-878A08F0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4287-8B58-4D94-B233-149ADA4285AB}" type="datetime1">
              <a:rPr lang="it-IT" smtClean="0"/>
              <a:t>04/01/2026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A206E-ACE8-AB81-0614-4989B20BB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2BF2F3-2087-D1AA-3AA9-CEAEFCDFC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17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10C88-BBC7-C2F0-B41C-FA324875D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876B24-8A07-0D3B-CB49-BCAF2E5CE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69EFB-7A72-40B7-8B4E-23EC3F3D9178}" type="datetime1">
              <a:rPr lang="it-IT" smtClean="0"/>
              <a:t>04/01/2026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432E46-E76A-2D8B-743D-BBD66FB26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6486C1-36B7-5697-C9AD-1B40273A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405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2C0781-351F-4D4C-BBB9-40C29E859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B6C92-C1CD-4F55-ADFF-59EB1DF3CE0B}" type="datetime1">
              <a:rPr lang="it-IT" smtClean="0"/>
              <a:t>04/01/2026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9553ED-EBCD-5BED-7D87-958BE8938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DFE19-4251-A3FE-2B05-768E712BC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09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0CCE-E24A-1368-158C-9CC2A1E7F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CD1A9-79B9-04C4-183A-ABEB42673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77F018-9907-24DA-67B7-AB78A72C06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3C5A86-BBB9-9C51-C388-1BD0B6BE9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4A038-0D44-4453-9D70-4F5E44A505EF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BF32C-3944-3316-33E6-6520F9301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B70AE-F95D-5837-B650-BC5DBA79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808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269E1-1BA9-4E0A-C9EC-830BF45DB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6A815-0A97-9B72-B7E9-1F937307FB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6C0D3-4315-8005-460D-1DA6294A7F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36B32C-81D8-D1AD-CD17-940179586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DD4DD-220B-420A-80A9-E353ADB19088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3E62C-C7E7-F97A-57F4-80205B29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3191FD-C317-CE02-809C-87ADAE13D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5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A97DD-A9F9-7404-38EB-6D12A4D4C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29CE41-6887-02C4-30C1-A65B22E7A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9D0E2-F731-2F81-F96B-81FBEB951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FB06-37EE-426F-B4C2-4056D956FFB6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3CAE9-F861-789E-BBEA-4F67F7536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85167-1BA4-811F-4D8A-8C4D653A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01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30D08-8BAB-44ED-5615-BB6125B95A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73AC-82A3-EC34-0644-68E57B8270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10FFD-020E-B0BC-72DD-C7C8C51EF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66374-9FAD-424A-A417-2FC77F42A162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FC030-3D6A-25C0-7668-21CEF0ED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DB095-E1C3-DD27-F709-E521831AC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272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04014F-349A-6C80-8E2C-CB5615472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93B1D5-9190-A3C1-E196-50D937185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5195C-BEFC-41CB-0ED4-891EA0B80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ACF47F-4A45-43A2-A4A7-840A2C11A772}" type="datetime1">
              <a:rPr lang="it-IT" smtClean="0"/>
              <a:t>04/01/2026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904F7-082A-3B23-6CDC-E8FE417FFC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nn-NO"/>
              <a:t>DINO MENG [SM3201466], BsC AIDA@MIGE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20877-A428-08AA-89EF-8267193D69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F32AC9-143A-477E-841D-1F801B7F8FE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853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oi.org/10.1007/s13538-024-01594-9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052F-BD7A-1D1B-43D1-C9EDE961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33497BF-796B-A4A2-27A7-D594593D9E44}"/>
              </a:ext>
            </a:extLst>
          </p:cNvPr>
          <p:cNvSpPr txBox="1"/>
          <p:nvPr/>
        </p:nvSpPr>
        <p:spPr>
          <a:xfrm>
            <a:off x="0" y="2028616"/>
            <a:ext cx="12192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400" b="1" dirty="0"/>
              <a:t>PROGETTO SISTEMI COMPLESSI</a:t>
            </a:r>
          </a:p>
          <a:p>
            <a:pPr algn="ctr"/>
            <a:endParaRPr lang="it-IT" sz="4400" b="1" dirty="0"/>
          </a:p>
          <a:p>
            <a:pPr algn="ctr"/>
            <a:endParaRPr lang="en-US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E88BC2-BB4A-9967-895D-53C032476E89}"/>
              </a:ext>
            </a:extLst>
          </p:cNvPr>
          <p:cNvSpPr txBox="1"/>
          <p:nvPr/>
        </p:nvSpPr>
        <p:spPr>
          <a:xfrm>
            <a:off x="747252" y="27211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dirty="0"/>
              <a:t>DINO MENG [SM3201466]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AAD7C6-C278-936E-9D63-9403940955C9}"/>
              </a:ext>
            </a:extLst>
          </p:cNvPr>
          <p:cNvSpPr/>
          <p:nvPr/>
        </p:nvSpPr>
        <p:spPr>
          <a:xfrm>
            <a:off x="1720645" y="1728330"/>
            <a:ext cx="8524568" cy="1156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A430C8-B4FE-BEF8-15C2-7DBA6F32E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8E00E-772D-4437-B382-3CBA9B54C360}" type="datetime1">
              <a:rPr lang="it-IT" smtClean="0"/>
              <a:t>04/01/2026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902D50-6EA2-9686-38DC-FAB7048B7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8CF44-DB57-60DB-AB41-D2EFB4F8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113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83EDE-02B6-E8AC-2521-60C029C17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0A35CD-D2E2-120B-D1B4-F34531D5C50D}"/>
              </a:ext>
            </a:extLst>
          </p:cNvPr>
          <p:cNvSpPr txBox="1"/>
          <p:nvPr/>
        </p:nvSpPr>
        <p:spPr>
          <a:xfrm>
            <a:off x="688257" y="442035"/>
            <a:ext cx="54077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INTRODUZIONE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2F190A-AADC-AEC9-B613-D7B38E6B36B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4CDCCF-1BC0-D866-B370-AD2C83637A8F}"/>
              </a:ext>
            </a:extLst>
          </p:cNvPr>
          <p:cNvSpPr txBox="1"/>
          <p:nvPr/>
        </p:nvSpPr>
        <p:spPr>
          <a:xfrm>
            <a:off x="688257" y="1242253"/>
            <a:ext cx="673509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Dinamica prede-predatori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Più fattori: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«Paura» delle prede e fattore di «rifugio»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«Risorse aggiuntive» esterne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Risposta funzionale asimmetrica (1 preda consumata != 1 predatore)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Emigrazione dei predatori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Articolo scientifico: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F3A0B6-5A5F-4103-CA68-7D3869F21563}"/>
              </a:ext>
            </a:extLst>
          </p:cNvPr>
          <p:cNvSpPr txBox="1"/>
          <p:nvPr/>
        </p:nvSpPr>
        <p:spPr>
          <a:xfrm>
            <a:off x="1696064" y="5027905"/>
            <a:ext cx="879987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Effect of the Fear Factor and Prey Refuge in an Asymmetric Predator–Prey Model</a:t>
            </a:r>
          </a:p>
          <a:p>
            <a:pPr algn="ctr"/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Rasha M. Yaseen · May M. Helal · Kaushik </a:t>
            </a:r>
            <a:r>
              <a:rPr lang="en-US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Dehingia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 · Ahmed A. Mohsen</a:t>
            </a:r>
          </a:p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Brazilian Journal of Physics (2024)</a:t>
            </a:r>
          </a:p>
          <a:p>
            <a:pPr algn="ctr"/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DOI: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https://doi.org/10.1007/s13538-024-01594-9</a:t>
            </a:r>
            <a:b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 descr="A group of black and white books">
            <a:extLst>
              <a:ext uri="{FF2B5EF4-FFF2-40B4-BE49-F238E27FC236}">
                <a16:creationId xmlns:a16="http://schemas.microsoft.com/office/drawing/2014/main" id="{D34E898A-D22B-361E-3757-B9958ED76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3355" y="1984705"/>
            <a:ext cx="4601496" cy="230074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9F9A49-6EAB-475E-F1A0-7281F77EE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09506-6624-4C93-99FC-2FCD7C3B5EE8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3F394-AA29-7D3E-79E3-8E53BC37D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99908-6A31-CACD-4ED7-FFD6629F9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61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3727E-27C8-3BC2-0BE9-6E847212F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AC9E22-B53F-66C9-EC08-8C202BDA41B1}"/>
              </a:ext>
            </a:extLst>
          </p:cNvPr>
          <p:cNvSpPr txBox="1"/>
          <p:nvPr/>
        </p:nvSpPr>
        <p:spPr>
          <a:xfrm>
            <a:off x="688257" y="442035"/>
            <a:ext cx="49911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OBBIETTIVI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8E64B5-1412-B215-45FD-678D251A311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963430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Implementazione del modello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Python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Riproduzione dei risultati con i parametri proposti nell’articolo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7 esperimenti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it-IT" sz="2400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≥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simulazione/i per ogni esperimento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Confronto dei risultati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Risultati sperimentali VS Risultati proposti nel paper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Implementazioni accessorie ed esperimenti aggiuntivi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Ciò che non è stato svolto nel paper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Approfondimenti o altri strumenti per analizzare il modello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9634303" cy="4893647"/>
              </a:xfrm>
              <a:prstGeom prst="rect">
                <a:avLst/>
              </a:prstGeom>
              <a:blipFill>
                <a:blip r:embed="rId2"/>
                <a:stretch>
                  <a:fillRect l="-886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3D3DA8-4ED4-1FFD-5BF3-665CBDEC1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3E659-987F-4162-B81F-7A5AC08EB42B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1BE40E-DBD2-F0C8-470A-B85277778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78F72-A646-3A49-DE0A-CCD78E625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0A686-DFD5-2D2F-235D-4DDBFBE48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E1DB56-ABFB-86C3-626B-9709152BDC02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/>
              <a:t>EQUAZIONE DEL MODELLO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608E6D-59EF-BC53-6D97-AE8E06DBD9B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D8418-E939-06EA-511E-2EAAD6F76ED1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8D367E-65A4-B583-B623-87BA4BD82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922" y="1790033"/>
            <a:ext cx="7058154" cy="1772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2FADDF-8C32-1BBD-3859-5B9DE50E6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1927" y="3562300"/>
            <a:ext cx="4568144" cy="26668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BDC0EA-4505-AAFE-85B4-4BED38C2F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6902C-A1AD-0D17-FE0F-A6AC2A47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3C6B06-87CC-7D38-FA98-DA670DE27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6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A4A0F-6F25-08C5-784E-E83B02315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91D8DD-B481-4C6B-4717-5A0CC11A8287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A1F8A8-B389-92E2-11ED-7FDA911440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7983795" cy="3918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Tre punti d’equilibrio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W0: Punto d’equilibrio di estinzione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W1: Punto d’equilibrio di assenza dei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W2: Punto d’equilibrio di coesistenza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Intersezione delle isocline g1, g2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Metodi numerici (fsolve)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7983795" cy="3918252"/>
              </a:xfrm>
              <a:prstGeom prst="rect">
                <a:avLst/>
              </a:prstGeom>
              <a:blipFill>
                <a:blip r:embed="rId2"/>
                <a:stretch>
                  <a:fillRect l="-1069" t="-1089" b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8C9A882-9361-4902-3E01-45EEB4A52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805" y="5056101"/>
            <a:ext cx="8652388" cy="1359864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402504-592C-00C0-F28F-9918461FC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CCD83-F29B-4178-A789-3E26EABE1C7A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2A2D0-C8C4-7061-346C-B0C7DD175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1F251D3-0D90-6B83-FD34-5B0132A56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6420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D4FCF-82AB-3C42-97F3-7034E745F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E6157-C4AE-AA20-58D3-7BDF2E787E20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06D227-FB10-B8F5-CD73-38CAF819268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6A6D52-8190-5984-7099-CB3DBC5ABC1B}"/>
              </a:ext>
            </a:extLst>
          </p:cNvPr>
          <p:cNvSpPr txBox="1"/>
          <p:nvPr/>
        </p:nvSpPr>
        <p:spPr>
          <a:xfrm>
            <a:off x="688256" y="1242253"/>
            <a:ext cx="7983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</a:t>
            </a: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locale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e globale di alcuni punti d’equilibrio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8BC9BDB6-3720-FBFF-1175-576FA3ADA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408" y="2324439"/>
            <a:ext cx="6577058" cy="13250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619745-CF81-E75F-01A8-EEC41D3DD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79" y="4141713"/>
            <a:ext cx="5037036" cy="1474034"/>
          </a:xfrm>
          <a:prstGeom prst="rect">
            <a:avLst/>
          </a:prstGeom>
        </p:spPr>
      </p:pic>
      <p:pic>
        <p:nvPicPr>
          <p:cNvPr id="11" name="Picture 10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E544F69D-41B2-CBC9-0B7A-5FC91BE15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908" y="3772977"/>
            <a:ext cx="5627886" cy="256460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5C0265-C537-1D92-FB35-4AEDBA5F6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41016-63A1-42AC-B939-9B58CF64338C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38EF9A-7C04-23AB-0D0F-D77EDED6E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4B6F45D-201E-BE3D-32CD-64B2D183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84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FB015-236F-096D-B404-8047166F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8BBB70-4BF6-C48E-7D0C-F2F2582BA264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1BE814-046A-9F05-4897-03A89BA165F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E90A87-3AD7-E597-2E37-E829F4647827}"/>
              </a:ext>
            </a:extLst>
          </p:cNvPr>
          <p:cNvSpPr txBox="1"/>
          <p:nvPr/>
        </p:nvSpPr>
        <p:spPr>
          <a:xfrm>
            <a:off x="688256" y="1242253"/>
            <a:ext cx="7983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locale e </a:t>
            </a: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globale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di alcuni punti d’equilibrio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39026EA-245F-66F3-DFC1-37E0A3FD5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6" y="2602412"/>
            <a:ext cx="5578258" cy="1653176"/>
          </a:xfrm>
          <a:prstGeom prst="rect">
            <a:avLst/>
          </a:prstGeom>
        </p:spPr>
      </p:pic>
      <p:pic>
        <p:nvPicPr>
          <p:cNvPr id="15" name="Picture 1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959D9A99-E2F4-C395-2A44-604CC1EA4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9794" y="2166095"/>
            <a:ext cx="5470490" cy="1915146"/>
          </a:xfrm>
          <a:prstGeom prst="rect">
            <a:avLst/>
          </a:prstGeom>
        </p:spPr>
      </p:pic>
      <p:pic>
        <p:nvPicPr>
          <p:cNvPr id="17" name="Picture 1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C6BB18C-1A93-4330-7FF1-6C7748E55A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1298" y="4727907"/>
            <a:ext cx="4290432" cy="1585097"/>
          </a:xfrm>
          <a:prstGeom prst="rect">
            <a:avLst/>
          </a:prstGeom>
        </p:spPr>
      </p:pic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1362303D-F2E9-34D7-AE02-33301F5288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9783" y="4342077"/>
            <a:ext cx="5613462" cy="207388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2CBF0-95DC-48D4-2572-EB2D407F4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55B49-8341-42AA-9537-F1E5653FF438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4C968-B45B-7EB7-B3BD-684553CE3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A56642B-83B9-BBDD-F58C-94088171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04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311C4-3795-2E81-9EAD-773F0607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436853-1A98-74C7-6AF3-2A638A554CEE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5839F4-775F-7DAA-2804-5B8CD287F4D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53E520-BB9B-997F-7B8D-7F73EBBE6E54}"/>
              </a:ext>
            </a:extLst>
          </p:cNvPr>
          <p:cNvSpPr txBox="1"/>
          <p:nvPr/>
        </p:nvSpPr>
        <p:spPr>
          <a:xfrm>
            <a:off x="688256" y="1242253"/>
            <a:ext cx="79837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locale e globale di alcuni punti d’equilibrio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Obbiettivo: Implementare i test e verificare che funzionino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CDAC3-2215-8FE6-C245-09209ADB5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82B6C-FF82-4F52-8DBB-5FB157E26F63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54C18-38C3-8038-FCFF-FBBC9759C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9A9E8-D01E-67C2-931C-BA005F2DB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962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2A9BA-5805-9D04-E204-7C7F76A5D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85787D-45A4-A2E5-5B2C-B76D23295D2E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PARAMETRI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E3D087-4C3C-CD56-67B9-CA955C5B6B4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/>
              <p:nvPr/>
            </p:nvSpPr>
            <p:spPr>
              <a:xfrm>
                <a:off x="688257" y="1242253"/>
                <a:ext cx="6735098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 proposti: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Variazioni individuali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0: invariato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1: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𝑑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2: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3: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=1.2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=0.5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=0.4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=0.03, 0.0003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5: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=0.005, 0.4, 0.7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6: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=0.1, 0.25, 0.9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42253"/>
                <a:ext cx="6735098" cy="4893647"/>
              </a:xfrm>
              <a:prstGeom prst="rect">
                <a:avLst/>
              </a:prstGeom>
              <a:blipFill>
                <a:blip r:embed="rId2"/>
                <a:stretch>
                  <a:fillRect l="-1267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678160E-EA03-704B-3D41-7A9490F23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33" y="1703918"/>
            <a:ext cx="6621532" cy="13341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D61C79-F204-6CF4-13CA-732C09B8B50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889BB-5A95-B1E2-6295-EC7F00A50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D5E0C-B568-4CE8-9D10-8B739A803584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8BAF1-AF64-079F-5229-460CF5B64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DABA7F1-7DC5-4666-91FC-19BCF9883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06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C1407-7F3D-0C56-D370-740285DC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B9DCAF-EBA1-6A30-4917-0DCF76E233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58EBDD-964C-07FA-E24B-477E6E4847D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C67B88-1CAA-66E4-C897-C0F1FB28C201}"/>
              </a:ext>
            </a:extLst>
          </p:cNvPr>
          <p:cNvSpPr txBox="1"/>
          <p:nvPr/>
        </p:nvSpPr>
        <p:spPr>
          <a:xfrm>
            <a:off x="688257" y="1147031"/>
            <a:ext cx="8288595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Obbiettivo: Replicare i seguenti risultati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0: W2 esiste ed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1: W1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2: W0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3: Cicli limite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4: W2 GAS per k «grandi», W1 gas per k «piccoli»; cicli limite per epsilon «piccoli»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5: W2 per e piccoli, W1 per e «intermedi» e clicli limite per e «grandi»</a:t>
            </a:r>
          </a:p>
          <a:p>
            <a:pPr lvl="1"/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6: meno predatori per m più grande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FC90B2-4911-9B9D-5A25-7D2058CE275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446B3F-C9D6-4636-C312-27288D6CA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A5B5-971E-48A8-D742-D1D6E5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24FF1-F6C1-419D-6F3D-940B6066C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729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C0431-0AB3-F77F-566E-4B9CF6348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72F745-6616-B2F2-E21B-7DFF699640EF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1CB0BB-4A2F-1D61-87D7-7F648C57868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F9FB1-0FBB-FFB5-95EB-58B7FEEBF26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C1AF1D3-A3B9-9EE7-EB0F-CCA3A8ECF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308" y="2028068"/>
            <a:ext cx="8329382" cy="358171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6C4089-FE40-029D-72F0-3F33CF96F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D458A-1DE7-4BA5-AF5A-3746645FA5DB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D5796-009F-4FB3-876F-1E72E3909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5410E-20B5-BE1F-45CE-AB82423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03D181-7A07-426F-76A1-12764B85F819}"/>
              </a:ext>
            </a:extLst>
          </p:cNvPr>
          <p:cNvSpPr txBox="1"/>
          <p:nvPr/>
        </p:nvSpPr>
        <p:spPr>
          <a:xfrm>
            <a:off x="688257" y="1354929"/>
            <a:ext cx="8288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</a:t>
            </a:r>
          </a:p>
        </p:txBody>
      </p:sp>
    </p:spTree>
    <p:extLst>
      <p:ext uri="{BB962C8B-B14F-4D97-AF65-F5344CB8AC3E}">
        <p14:creationId xmlns:p14="http://schemas.microsoft.com/office/powerpoint/2010/main" val="871290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450F0-C6D6-1855-DD34-8E0E8A07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B75270-BB3E-88B6-BEC2-3DCB5103554B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C8D455-B3BB-40D3-EC36-98FDC4B5EDC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5892E-8EC7-138E-DCC7-326DB810A84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6" name="Picture 5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DC687D9B-315C-C65E-0085-FDE215804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011" y="1652784"/>
            <a:ext cx="6187976" cy="481625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F18AC1-5DE0-48C0-449D-9E6754898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73BDE-955B-4E08-A876-9008EBC2E5D9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B8CA9-BABA-9778-DB1A-E8EE6F4D0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2A81A3-B678-294E-AA6D-4E0C49642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B9D807-8DDD-9EAA-751E-700FEAE81398}"/>
              </a:ext>
            </a:extLst>
          </p:cNvPr>
          <p:cNvSpPr txBox="1"/>
          <p:nvPr/>
        </p:nvSpPr>
        <p:spPr>
          <a:xfrm>
            <a:off x="688257" y="1191119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Una parte di esperimento 3</a:t>
            </a:r>
          </a:p>
        </p:txBody>
      </p:sp>
    </p:spTree>
    <p:extLst>
      <p:ext uri="{BB962C8B-B14F-4D97-AF65-F5344CB8AC3E}">
        <p14:creationId xmlns:p14="http://schemas.microsoft.com/office/powerpoint/2010/main" val="16243172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6954A-AA7D-8F4D-5329-13B7E38A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A663B9-820B-B0E5-FB9A-7C8D6DA24DD6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F7F1AE-A981-0DE1-3B8F-3562054A01F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510718-E9DA-374A-5B2F-A3754C32438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2D78DDCB-6BB7-DC52-2C96-45A30F3781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665" y="1593242"/>
            <a:ext cx="5852667" cy="474005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EB2DAB-3681-44D7-3171-493A72B47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7CAD-8672-4530-9999-911CF4F320CA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6014F-5003-48C8-1105-7E71707E7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963C8-5380-3EFE-D4AE-C25881A2A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13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8F7B66-6F76-A0EB-BE9D-0CFD56CBD1F0}"/>
              </a:ext>
            </a:extLst>
          </p:cNvPr>
          <p:cNvSpPr txBox="1"/>
          <p:nvPr/>
        </p:nvSpPr>
        <p:spPr>
          <a:xfrm>
            <a:off x="688257" y="1142135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Una parte di esperimento 4</a:t>
            </a:r>
          </a:p>
        </p:txBody>
      </p:sp>
    </p:spTree>
    <p:extLst>
      <p:ext uri="{BB962C8B-B14F-4D97-AF65-F5344CB8AC3E}">
        <p14:creationId xmlns:p14="http://schemas.microsoft.com/office/powerpoint/2010/main" val="31532874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F276B-D53A-D4EB-435C-5F5923613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18FA9-FC5D-B538-7232-2788B44B7877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CONFRONTO DEI RISULTATI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2A116B-1487-BCD9-A22F-4DE5B79713E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F244F8-11C6-5014-50B5-4D33F89A39A6}"/>
              </a:ext>
            </a:extLst>
          </p:cNvPr>
          <p:cNvSpPr txBox="1"/>
          <p:nvPr/>
        </p:nvSpPr>
        <p:spPr>
          <a:xfrm>
            <a:off x="688257" y="1257642"/>
            <a:ext cx="828859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Maggior parte: risultati confermati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Tuttavia...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Alcuni risultati inconsistenti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Alcuni risultati non replicabili</a:t>
            </a:r>
          </a:p>
          <a:p>
            <a:pPr lvl="1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Vediamo subito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F84AA6-E879-C6BC-54DE-FDC21DACB34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0DB329-3CCE-4F30-21E6-56D490C15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F2A43-5120-4B7D-95A3-344374AC366D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6BCE6-7521-E6FC-9121-FC8F15B94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303E4-3167-FC58-B2DA-4F1D8E58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118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017D8-AFD3-9ECF-888F-78B1E69A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EAB306-B5C9-C2C2-9518-F42386EB11A9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55AECD-545C-F2BB-503F-DC60D369564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A77567-78A8-4540-A0B0-5DDF183203B7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Gli esperimenti 0, 1, 2, 5, 6 erano consistenti col paper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 parzialmente consistente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0 (paper)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161C93-E697-979E-5CEF-EE525B6D4512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832A08-EC71-B794-47C2-154D92E49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1573E2-3348-0555-2CC6-822818967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3E3F76-D042-3D3C-C405-A1E194CA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15</a:t>
            </a:fld>
            <a:endParaRPr lang="en-US"/>
          </a:p>
        </p:txBody>
      </p:sp>
      <p:pic>
        <p:nvPicPr>
          <p:cNvPr id="10" name="Picture 9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098C0D8-EC70-870E-F65A-F825650BC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424" y="2449377"/>
            <a:ext cx="9183150" cy="3966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1287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B9EBC-E960-80F8-4F38-DE4B7C8E5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A99946-3FA8-411E-1F48-FD34A6944862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EEA687-C59E-7030-1D94-51E5843E548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42E841-85E9-5FF2-60D6-1574D81FA1B3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Gli esperimenti 0, 1, 2, 5, 6 erano consistenti col paper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 parzialmente consistente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0 (mio)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BACEA1-240E-D3D7-F3F2-AF893C247B2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2" name="0_0">
            <a:hlinkClick r:id="" action="ppaction://media"/>
            <a:extLst>
              <a:ext uri="{FF2B5EF4-FFF2-40B4-BE49-F238E27FC236}">
                <a16:creationId xmlns:a16="http://schemas.microsoft.com/office/drawing/2014/main" id="{AAEA3DFA-6895-ED91-D3AE-2696E3665B2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8914" y="2501321"/>
            <a:ext cx="9134170" cy="391464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FFB836-DAC2-9267-C2C5-F936165DC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F957D-84CF-9D72-2976-E12DF3928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5BF30A-8419-AA8E-8F24-C09FCE784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1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1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5AEBC-42B1-6175-B5AA-846E8D1DF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6C62D8-4D7A-703C-CBBB-364F4E15906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4DA277-9B4B-44E0-7836-CEDA8642592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72DD00-1859-E8C8-6ABE-FD948B09E642}"/>
                  </a:ext>
                </a:extLst>
              </p:cNvPr>
              <p:cNvSpPr txBox="1"/>
              <p:nvPr/>
            </p:nvSpPr>
            <p:spPr>
              <a:xfrm>
                <a:off x="688258" y="1257642"/>
                <a:ext cx="5007868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Esempio: Esperimento 5 (paper)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(a): 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≤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0.01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(b):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0.01 &lt;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≤0.5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(c):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6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≤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72DD00-1859-E8C8-6ABE-FD948B09E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8" y="1257642"/>
                <a:ext cx="5007868" cy="2677656"/>
              </a:xfrm>
              <a:prstGeom prst="rect">
                <a:avLst/>
              </a:prstGeom>
              <a:blipFill>
                <a:blip r:embed="rId2"/>
                <a:stretch>
                  <a:fillRect l="-1705" t="-15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8F60D2B-40BB-7E2A-976F-C051554D1EF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2F4F5F-071A-A029-DC45-FE35BEB55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3FECD1-FEA2-35C1-C58E-6F59D92FD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13C14F-D97B-AD5A-AFF9-355CF4671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17</a:t>
            </a:fld>
            <a:endParaRPr lang="en-US"/>
          </a:p>
        </p:txBody>
      </p:sp>
      <p:pic>
        <p:nvPicPr>
          <p:cNvPr id="10" name="Picture 9" descr="A graph of different types of data&#10;&#10;AI-generated content may be incorrect.">
            <a:extLst>
              <a:ext uri="{FF2B5EF4-FFF2-40B4-BE49-F238E27FC236}">
                <a16:creationId xmlns:a16="http://schemas.microsoft.com/office/drawing/2014/main" id="{A49F2C5B-FD7A-0466-C4CE-EE22A8A57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924" y="1244240"/>
            <a:ext cx="6295352" cy="501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7157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52923-C3F6-36C6-E92B-965CA3B75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701AAC-E917-91A8-A07E-665E33A7748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5123C6-739B-4783-904E-CBA17D5F01C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33972-B305-3D52-C6CC-1D6765BB7EEB}"/>
              </a:ext>
            </a:extLst>
          </p:cNvPr>
          <p:cNvSpPr txBox="1"/>
          <p:nvPr/>
        </p:nvSpPr>
        <p:spPr>
          <a:xfrm>
            <a:off x="688257" y="1257642"/>
            <a:ext cx="82885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5 (mio)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R: 0.005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G: 0.4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B: 0.7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6AF2EB-4740-D17D-C653-75D632B26AAC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D3E362-D7C6-712E-DD9E-A57AB37F1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B6BFBE-294D-CE22-E1F4-13A8F51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C58775-F23C-1494-D35B-E901F386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18</a:t>
            </a:fld>
            <a:endParaRPr lang="en-US"/>
          </a:p>
        </p:txBody>
      </p:sp>
      <p:pic>
        <p:nvPicPr>
          <p:cNvPr id="11" name="Picture 10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2DACABAC-2446-5411-5181-D5CFB873E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747" y="1743147"/>
            <a:ext cx="8870446" cy="4508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7208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78673-4825-EC4B-F4F7-BF51030C5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2CA64F-8E26-E4B7-CAB5-F5EDB878072C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INCONSISTENTE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1FC2B3-3748-019D-1903-91D4ADDF4F0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609ED0-6A3E-6E1B-3C35-51BC913134D4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 determinato con le isocline del paper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≠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determinato nell’esperimento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Nel paper: solo l’approssimazione (33,18)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Simulazione: 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Secondo l’algoritmo (33.705..., 18.230...)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Secondo la simulazione (32.929..., 18.185...)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Implementato altre isocline, risultati più consistenti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609ED0-6A3E-6E1B-3C35-51BC91313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blipFill>
                <a:blip r:embed="rId2"/>
                <a:stretch>
                  <a:fillRect l="-851" t="-1127"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6C94292-CE88-EE37-B1D4-09B5FA704ED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396841-2BC8-A799-FB68-877EE9A5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901C-25D2-4418-A5A0-267BB4E58730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8182E-3E51-D74B-1591-7FC530F34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AB016-2E55-8FF2-1B10-330CFE264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510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C9857-1A52-1072-F295-5D0148F30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A2403C-D09D-3F27-55BF-7DC6795B12D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INCONSISTENTE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290CE3-5ED5-8A21-4C29-85A33BA673D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CFA2C9-7EE8-1CF1-F197-18AD1CAD4799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 (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=0.0003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Algoritmo implementato: W1 determinato è (6600, 0)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Ha senso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Paper: W1 dichiarato è (2.6, 0)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Impossibile con i parametri proposti...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CFA2C9-7EE8-1CF1-F197-18AD1CAD4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2677656"/>
              </a:xfrm>
              <a:prstGeom prst="rect">
                <a:avLst/>
              </a:prstGeom>
              <a:blipFill>
                <a:blip r:embed="rId2"/>
                <a:stretch>
                  <a:fillRect l="-851" t="-1591" b="-4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577F87D-77B1-C1CB-21C2-9B1FF11224E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AFD971-C78C-6A6E-EFC5-E78A9480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62A29-0D40-4C95-BBC3-4CE9585C45D0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D37AF-82E5-70BF-06D3-C8D708DB9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B7FBD-B10B-3C8A-DB5B-8ADFBA750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695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5F63-A6FA-B93E-7CB0-0794D0ECF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2E7892-5688-0F45-971F-A76C6C5950C5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F79662-FF70-67AA-B77A-E15BA9B9E32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4CE18C-7C78-0931-96B4-3F0A6C387C6A}"/>
              </a:ext>
            </a:extLst>
          </p:cNvPr>
          <p:cNvSpPr txBox="1"/>
          <p:nvPr/>
        </p:nvSpPr>
        <p:spPr>
          <a:xfrm>
            <a:off x="688257" y="1257642"/>
            <a:ext cx="10028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Cicli limite: OK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... Tuttavia le forme (e le scale) sono diverse!!!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AF3B11-A705-CC0C-A494-727CDDCEB86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13BAC56E-B8B8-BF96-3FCC-DEA5B5C84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510" y="2934443"/>
            <a:ext cx="7854978" cy="34090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B35BDF-3E2C-FF4F-E5DF-183A1D2EB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91BEE-CBDC-4E52-BEE4-6FA4559C220C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EFB2F6-531F-BBA0-FBCB-39DB87F8C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FE45285-0787-3EA9-02EC-2491CF838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7581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D25D6-DF3E-3A97-3D95-1AF6E2697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B57647-AFEA-49E4-DC17-3F73C7EFD8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116D3D-FD7A-FFED-460F-9F3A48DFE0C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7B5244-9BC4-7A7B-CD78-3D99A832B7AA}"/>
              </a:ext>
            </a:extLst>
          </p:cNvPr>
          <p:cNvSpPr txBox="1"/>
          <p:nvPr/>
        </p:nvSpPr>
        <p:spPr>
          <a:xfrm>
            <a:off x="688257" y="1257642"/>
            <a:ext cx="1002890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di stabilità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 test di stabilità non sono affidabili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Problema: Se x1 &gt; 1, allora chiaramente 1-x1 &lt; 0 e quindi la seconda equazione è sicuramente soddisfatta in quanto psi è positiva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Ridondanza, è «sempre vera»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F03D98-FD92-19A8-6C74-C69617A2B6A7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3A0F69CA-E6C0-F97A-9B5F-430835072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239" y="2410783"/>
            <a:ext cx="5816940" cy="203643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A809DB-3D3D-8914-0886-852390D12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A915D-2BA8-4F27-943A-17EA02CCA069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7EC52C-B23D-BCB5-E5AF-A85DD77BE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F26B32F-7F49-17DD-9E16-FF42F586D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7712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ECB2B-DC3A-AED2-DE99-71ADF792F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428316-75AB-D183-4E4E-D0605625A83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67F6A2-35D7-0C65-9C42-0C4D29A2636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28E273-BF7E-5A38-FF53-C27C8435D32D}"/>
              </a:ext>
            </a:extLst>
          </p:cNvPr>
          <p:cNvSpPr txBox="1"/>
          <p:nvPr/>
        </p:nvSpPr>
        <p:spPr>
          <a:xfrm>
            <a:off x="688257" y="1257642"/>
            <a:ext cx="10028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di stabilità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Alternativa (solo per la stabilità locale):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Calcoliamo direttamente gli autovalori della Jacobiana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8ED580-8CEF-579E-F95E-8256EB094D1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DB870E-656D-F110-C16F-A80E26913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AB137-0A56-4868-923D-646D7C7CC445}" type="datetime1">
              <a:rPr lang="it-IT" smtClean="0"/>
              <a:t>04/01/2026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8A38-BBDC-13DF-A25D-5DE1CB1D0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9D57B-FEE5-1526-32C4-1589F6092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5668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FE9A4-6EA0-3AB3-6F89-BE1990D2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B0DD3E-4157-B76F-9987-D1CD9DC5873B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APPROFONDIMENTO SU W2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F43595-52D0-D7A0-717D-FDCAAB81CCE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A882A3-E78C-B2BA-6C34-867AB5F7AA15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29A26A-3C47-D1AB-FDA1-B2AF227D8AB0}"/>
              </a:ext>
            </a:extLst>
          </p:cNvPr>
          <p:cNvSpPr txBox="1"/>
          <p:nvPr/>
        </p:nvSpPr>
        <p:spPr>
          <a:xfrm>
            <a:off x="688257" y="1257642"/>
            <a:ext cx="1002890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Implicazioni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In realtà W2 non era mai LAS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 discapito delle apparenze e quanto proposto nel paper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Per confermare che non sia noise dovuto al risolutore: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Rieffettuato l’esperimento con metodi numerici diversi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Stessi risultati, confermato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D846B0-B38C-A692-E9A3-FFA97B603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77C2B-364A-4D71-8BAD-691E9BD64FFE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469EB7-D049-4D97-ECD0-F3AE4915C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F40AED-F76D-795E-5333-A4B814668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393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630C4-A2E7-4675-A543-9FEFEB48C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900290-CEF3-1C84-ED74-6C905D2E8C39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ULTERIORI SPERIMENTAZIONI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96E94F-3EDF-85B5-9FE9-C83560FAD80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E974E-5D79-EAAD-8215-1CA8EB2ACDE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B97E06-7102-F81F-5051-50DE12775BFD}"/>
              </a:ext>
            </a:extLst>
          </p:cNvPr>
          <p:cNvSpPr txBox="1"/>
          <p:nvPr/>
        </p:nvSpPr>
        <p:spPr>
          <a:xfrm>
            <a:off x="688257" y="1152875"/>
            <a:ext cx="10028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Disegno del campo vettoriale del modello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Per «intuire» l’analisi della stabilità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7E0F7C-1668-FDA7-9EF0-021890FEC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5CFCE-A70D-F477-FB32-EC44EEBCE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C4F433-73F9-6ECE-A411-3A85C2F9B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25</a:t>
            </a:fld>
            <a:endParaRPr lang="en-US"/>
          </a:p>
        </p:txBody>
      </p:sp>
      <p:pic>
        <p:nvPicPr>
          <p:cNvPr id="10" name="Picture 9" descr="A graph of a graph of a graph&#10;&#10;AI-generated content may be incorrect.">
            <a:extLst>
              <a:ext uri="{FF2B5EF4-FFF2-40B4-BE49-F238E27FC236}">
                <a16:creationId xmlns:a16="http://schemas.microsoft.com/office/drawing/2014/main" id="{CD6DC7DE-1358-6F55-0D9D-5163B0F2E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99103"/>
            <a:ext cx="6847528" cy="3942016"/>
          </a:xfrm>
          <a:prstGeom prst="rect">
            <a:avLst/>
          </a:prstGeom>
        </p:spPr>
      </p:pic>
      <p:pic>
        <p:nvPicPr>
          <p:cNvPr id="13" name="Picture 12" descr="A math equations with numbers&#10;&#10;AI-generated content may be incorrect.">
            <a:extLst>
              <a:ext uri="{FF2B5EF4-FFF2-40B4-BE49-F238E27FC236}">
                <a16:creationId xmlns:a16="http://schemas.microsoft.com/office/drawing/2014/main" id="{917F945D-FE12-D765-28FF-03F42E5D7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5728" y="2588677"/>
            <a:ext cx="4044892" cy="964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3971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BDE77-1D47-6679-BF7F-01B39EDAC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685A1F-5E89-447C-43A5-111C7407504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ULTERIORI SPERIMENTAZIONI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20AC3E-7693-5EF2-ADD1-5171E6B4A39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A9BD0E-6101-BB72-CD0C-F6B3B412E1E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41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Sperimentazioni con altri parametri: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Non visti/modificati nel paper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succede al modello? Come viene influenzata la stabilità?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Strumento: diagramma di biforcazione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Calcoliamo 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 «passo passo» e lo confrontiamo con W1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Parametri: stessi dell’esperimento 0 (Esistenza e ciclo limite «attorno» di W2)</a:t>
                </a: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4154984"/>
              </a:xfrm>
              <a:prstGeom prst="rect">
                <a:avLst/>
              </a:prstGeom>
              <a:blipFill>
                <a:blip r:embed="rId2"/>
                <a:stretch>
                  <a:fillRect l="-851" t="-1026" r="-790" b="-2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F588AD-4A53-AC39-5FDC-962763761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56487E-47B2-E8F5-D950-30C70724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4304-72F4-2CCB-5650-9280065B4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543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425A3-A17A-E86E-40CE-C2602872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B109E4-023D-9AAE-29E9-40A6930BD57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αθ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D6AE5C-BEBB-50EA-C3A3-F09815BDF23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DBF9D8-6A4A-9DF4-013C-0739E7CEA80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5F1F18-9B90-7C78-D732-B23D9F61B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D79F01-0EFF-7581-3164-84C4F2184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A6FC86-7911-4BBF-01D3-9D5A570E0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27</a:t>
            </a:fld>
            <a:endParaRPr lang="en-US"/>
          </a:p>
        </p:txBody>
      </p:sp>
      <p:pic>
        <p:nvPicPr>
          <p:cNvPr id="10" name="Picture 9" descr="A diagram of a diagram&#10;&#10;AI-generated content may be incorrect.">
            <a:extLst>
              <a:ext uri="{FF2B5EF4-FFF2-40B4-BE49-F238E27FC236}">
                <a16:creationId xmlns:a16="http://schemas.microsoft.com/office/drawing/2014/main" id="{913F4DF8-8440-13C2-D076-CAD7EA95D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42" y="1488475"/>
            <a:ext cx="535305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/>
              <p:nvPr/>
            </p:nvSpPr>
            <p:spPr>
              <a:xfrm>
                <a:off x="6213010" y="1536160"/>
                <a:ext cx="5447687" cy="4524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modellistica: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migliore risorse aggiuntive all’esterno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Predatori emigrano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migliori risorse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tende a W1 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Quindi meno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confermata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Tuttavia...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Scala logaritmica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1536160"/>
                <a:ext cx="5447687" cy="4524315"/>
              </a:xfrm>
              <a:prstGeom prst="rect">
                <a:avLst/>
              </a:prstGeom>
              <a:blipFill>
                <a:blip r:embed="rId3"/>
                <a:stretch>
                  <a:fillRect l="-1454" t="-943" r="-2573" b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60812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63B-C443-2C30-76AC-1A20ED6B1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D8A499-2D61-3350-373E-8EBD281DB141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BBA5D8-A77B-7A34-15A4-D5765E55631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2678C-7842-9FB1-14CE-5E5831F4C67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24BAF3-B0FA-49A4-4F07-372D1C29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AAAC8-FFC7-7B63-19BE-AF2B8C105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A1E7B-5B7F-2BF9-E56B-74329CFAE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/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 analogo per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Questa volta fatto variare «solo» in [0,10]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blipFill>
                <a:blip r:embed="rId2"/>
                <a:stretch>
                  <a:fillRect l="-1454" t="-3553" r="-895" b="-11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 descr="A diagram of a graph&#10;&#10;AI-generated content may be incorrect.">
            <a:extLst>
              <a:ext uri="{FF2B5EF4-FFF2-40B4-BE49-F238E27FC236}">
                <a16:creationId xmlns:a16="http://schemas.microsoft.com/office/drawing/2014/main" id="{B2263EAB-BD24-3C41-ED62-87EE15141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416015"/>
            <a:ext cx="535305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281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B6A40-D661-9A26-0E43-D4D937EBC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F2C9DA-85F0-4279-745E-F5A7627C211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C17A29-B201-8A6E-5DFB-AF2E0F3F132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DCA7A-CA30-93E7-807D-37D345A7EF6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64E64-4683-F6B2-A4E8-3147F1ED8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04/01/2026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A6F43F-BCD3-A849-551B-FD5B61092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F95E78-CE82-F067-7EBD-C1EB7772B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29</a:t>
            </a:fld>
            <a:endParaRPr lang="en-US"/>
          </a:p>
        </p:txBody>
      </p:sp>
      <p:pic>
        <p:nvPicPr>
          <p:cNvPr id="8" name="Picture 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5C000E7-208C-EC4A-1744-A812B88A2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40" y="1416015"/>
            <a:ext cx="9891320" cy="462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12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1341</Words>
  <Application>Microsoft Office PowerPoint</Application>
  <PresentationFormat>Widescreen</PresentationFormat>
  <Paragraphs>298</Paragraphs>
  <Slides>29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MENG DINO [SM3201466]</dc:creator>
  <cp:lastModifiedBy>MENG DINO [SM3201466]</cp:lastModifiedBy>
  <cp:revision>18</cp:revision>
  <dcterms:created xsi:type="dcterms:W3CDTF">2025-12-30T16:32:43Z</dcterms:created>
  <dcterms:modified xsi:type="dcterms:W3CDTF">2026-01-04T21:14:29Z</dcterms:modified>
</cp:coreProperties>
</file>