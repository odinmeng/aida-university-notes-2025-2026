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7" r:id="rId2"/>
    <p:sldId id="258" r:id="rId3"/>
    <p:sldId id="259" r:id="rId4"/>
    <p:sldId id="292" r:id="rId5"/>
    <p:sldId id="313" r:id="rId6"/>
    <p:sldId id="263" r:id="rId7"/>
    <p:sldId id="260" r:id="rId8"/>
    <p:sldId id="261" r:id="rId9"/>
    <p:sldId id="262" r:id="rId10"/>
    <p:sldId id="264" r:id="rId11"/>
    <p:sldId id="331" r:id="rId12"/>
    <p:sldId id="266" r:id="rId13"/>
    <p:sldId id="321" r:id="rId14"/>
    <p:sldId id="314" r:id="rId15"/>
    <p:sldId id="315" r:id="rId16"/>
    <p:sldId id="316" r:id="rId17"/>
    <p:sldId id="329" r:id="rId18"/>
    <p:sldId id="330" r:id="rId19"/>
    <p:sldId id="320" r:id="rId20"/>
    <p:sldId id="322" r:id="rId21"/>
    <p:sldId id="323" r:id="rId22"/>
    <p:sldId id="327" r:id="rId23"/>
    <p:sldId id="318" r:id="rId24"/>
    <p:sldId id="328" r:id="rId25"/>
    <p:sldId id="319" r:id="rId26"/>
    <p:sldId id="286" r:id="rId27"/>
    <p:sldId id="282" r:id="rId28"/>
    <p:sldId id="284" r:id="rId29"/>
    <p:sldId id="285" r:id="rId30"/>
    <p:sldId id="293" r:id="rId31"/>
    <p:sldId id="300" r:id="rId32"/>
    <p:sldId id="302" r:id="rId33"/>
    <p:sldId id="294" r:id="rId34"/>
    <p:sldId id="301" r:id="rId35"/>
    <p:sldId id="326" r:id="rId36"/>
    <p:sldId id="303" r:id="rId37"/>
    <p:sldId id="310" r:id="rId38"/>
    <p:sldId id="311" r:id="rId39"/>
    <p:sldId id="304" r:id="rId40"/>
    <p:sldId id="307" r:id="rId41"/>
    <p:sldId id="309" r:id="rId42"/>
    <p:sldId id="32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CCFF"/>
    <a:srgbClr val="FF7C80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9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80E1E-2258-41D2-8B32-8E87B6056374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301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80E1E-2258-41D2-8B32-8E87B6056374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2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21/01/2026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21/01/2026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21/01/2026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21/01/2026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2.png"/><Relationship Id="rId4" Type="http://schemas.openxmlformats.org/officeDocument/2006/relationships/image" Target="../media/image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4.png"/><Relationship Id="rId4" Type="http://schemas.openxmlformats.org/officeDocument/2006/relationships/image" Target="../media/image1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43.png"/><Relationship Id="rId4" Type="http://schemas.openxmlformats.org/officeDocument/2006/relationships/notesSlide" Target="../notesSlides/notesSlide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Competizione di risorse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Quantità e qualità delle risorse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1" i="1" u="sng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Articolo scientifico di ispirazione: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438027" y="4658573"/>
            <a:ext cx="11315943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204" y="1905975"/>
            <a:ext cx="3896538" cy="1948269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8625AF-41BF-1309-01A5-3FFADE300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57" y="2718191"/>
            <a:ext cx="9420884" cy="236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2A15E-3746-CD8F-3947-6BF57CD42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9D002B-4D76-B070-206B-9D18DC0D25F4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5414DF-8D3A-8EB1-392F-00F6B37A7C7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CA399-369E-6402-B496-FBCC365B7C63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FF5B7-8874-0F28-594B-7CA044AC7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57" y="2718191"/>
            <a:ext cx="9420884" cy="23655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539F47-1891-6A1F-8FF1-9DE33A64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F4854-2402-AD96-2E4E-78D062C68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3C0F7E-1C25-F0B8-437E-BED56DA5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EA96DE-2492-D896-75BA-C6A0F6BD514A}"/>
              </a:ext>
            </a:extLst>
          </p:cNvPr>
          <p:cNvSpPr/>
          <p:nvPr/>
        </p:nvSpPr>
        <p:spPr>
          <a:xfrm>
            <a:off x="2859024" y="3006094"/>
            <a:ext cx="1179576" cy="870962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67EB51-EB35-9F51-4DFA-4ABCA3E5A209}"/>
              </a:ext>
            </a:extLst>
          </p:cNvPr>
          <p:cNvCxnSpPr>
            <a:cxnSpLocks/>
          </p:cNvCxnSpPr>
          <p:nvPr/>
        </p:nvCxnSpPr>
        <p:spPr>
          <a:xfrm flipH="1" flipV="1">
            <a:off x="2468880" y="2421055"/>
            <a:ext cx="530352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5AA7A5-E76F-6ED8-449D-07BCE193FD21}"/>
              </a:ext>
            </a:extLst>
          </p:cNvPr>
          <p:cNvSpPr txBox="1"/>
          <p:nvPr/>
        </p:nvSpPr>
        <p:spPr>
          <a:xfrm>
            <a:off x="4443984" y="1947036"/>
            <a:ext cx="1127760" cy="786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54C168-29A1-A77C-B478-CFB4B46A0765}"/>
              </a:ext>
            </a:extLst>
          </p:cNvPr>
          <p:cNvSpPr txBox="1"/>
          <p:nvPr/>
        </p:nvSpPr>
        <p:spPr>
          <a:xfrm>
            <a:off x="1716957" y="177472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Reproduction rate dipendente da 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FF1A88-F6F6-E071-6198-222AEC29167C}"/>
              </a:ext>
            </a:extLst>
          </p:cNvPr>
          <p:cNvSpPr/>
          <p:nvPr/>
        </p:nvSpPr>
        <p:spPr>
          <a:xfrm>
            <a:off x="8610600" y="3128147"/>
            <a:ext cx="792480" cy="491354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3B809A-3A49-D107-DF01-58C7869B08A6}"/>
              </a:ext>
            </a:extLst>
          </p:cNvPr>
          <p:cNvCxnSpPr>
            <a:cxnSpLocks/>
          </p:cNvCxnSpPr>
          <p:nvPr/>
        </p:nvCxnSpPr>
        <p:spPr>
          <a:xfrm flipH="1" flipV="1">
            <a:off x="7786411" y="2543108"/>
            <a:ext cx="1100033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3CB2303-409B-F1DF-1068-1AD8E47AA92B}"/>
              </a:ext>
            </a:extLst>
          </p:cNvPr>
          <p:cNvSpPr txBox="1"/>
          <p:nvPr/>
        </p:nvSpPr>
        <p:spPr>
          <a:xfrm>
            <a:off x="7034488" y="1896777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Mortalità dovuta alla paura psicologica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409B31-B0D4-4266-EF0A-45F142BF0093}"/>
              </a:ext>
            </a:extLst>
          </p:cNvPr>
          <p:cNvSpPr/>
          <p:nvPr/>
        </p:nvSpPr>
        <p:spPr>
          <a:xfrm>
            <a:off x="4310167" y="2904883"/>
            <a:ext cx="3379223" cy="1048233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F13D53-05A6-26E2-A86C-1EDD9FCAEFA8}"/>
              </a:ext>
            </a:extLst>
          </p:cNvPr>
          <p:cNvCxnSpPr>
            <a:cxnSpLocks/>
          </p:cNvCxnSpPr>
          <p:nvPr/>
        </p:nvCxnSpPr>
        <p:spPr>
          <a:xfrm flipH="1" flipV="1">
            <a:off x="5668765" y="1848856"/>
            <a:ext cx="747446" cy="105602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80EED8E-5C58-7DBC-8046-A1F377BBE2BC}"/>
              </a:ext>
            </a:extLst>
          </p:cNvPr>
          <p:cNvSpPr txBox="1"/>
          <p:nvPr/>
        </p:nvSpPr>
        <p:spPr>
          <a:xfrm>
            <a:off x="4737820" y="1373063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Predazione, limitata da più fattori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ACEDB6-80E5-5079-2503-4E33F8A9B059}"/>
              </a:ext>
            </a:extLst>
          </p:cNvPr>
          <p:cNvSpPr/>
          <p:nvPr/>
        </p:nvSpPr>
        <p:spPr>
          <a:xfrm>
            <a:off x="2840736" y="4156857"/>
            <a:ext cx="260604" cy="343745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8C6900-212A-5427-0043-F3AC95BC90F3}"/>
              </a:ext>
            </a:extLst>
          </p:cNvPr>
          <p:cNvCxnSpPr>
            <a:cxnSpLocks/>
          </p:cNvCxnSpPr>
          <p:nvPr/>
        </p:nvCxnSpPr>
        <p:spPr>
          <a:xfrm flipH="1">
            <a:off x="2209800" y="4500602"/>
            <a:ext cx="750528" cy="787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12D83CE-E4BD-6BC1-E24B-C02A9DD3530C}"/>
              </a:ext>
            </a:extLst>
          </p:cNvPr>
          <p:cNvSpPr txBox="1"/>
          <p:nvPr/>
        </p:nvSpPr>
        <p:spPr>
          <a:xfrm>
            <a:off x="1157944" y="524641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Risposta asimmetrica</a:t>
            </a:r>
            <a:b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alla predazione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15B9E-6E65-8BBD-EAC8-BF32556D9A42}"/>
              </a:ext>
            </a:extLst>
          </p:cNvPr>
          <p:cNvSpPr/>
          <p:nvPr/>
        </p:nvSpPr>
        <p:spPr>
          <a:xfrm>
            <a:off x="7293052" y="4019404"/>
            <a:ext cx="2254807" cy="872718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0AD12A-FA9F-EBF3-689B-528D5B3F6CEF}"/>
              </a:ext>
            </a:extLst>
          </p:cNvPr>
          <p:cNvSpPr txBox="1"/>
          <p:nvPr/>
        </p:nvSpPr>
        <p:spPr>
          <a:xfrm>
            <a:off x="4968240" y="5380865"/>
            <a:ext cx="5334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Emigrazione, incentivata o dalla risorsa alternativa di cibo o dalla quantità di prede «scoperte»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115AA91-FD02-C605-7AD1-F642D97E99CE}"/>
              </a:ext>
            </a:extLst>
          </p:cNvPr>
          <p:cNvCxnSpPr>
            <a:cxnSpLocks/>
          </p:cNvCxnSpPr>
          <p:nvPr/>
        </p:nvCxnSpPr>
        <p:spPr>
          <a:xfrm flipH="1">
            <a:off x="8153400" y="4906870"/>
            <a:ext cx="163363" cy="473995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AFA8B5DF-643F-5123-65F9-8E995966C4B4}"/>
              </a:ext>
            </a:extLst>
          </p:cNvPr>
          <p:cNvSpPr/>
          <p:nvPr/>
        </p:nvSpPr>
        <p:spPr>
          <a:xfrm>
            <a:off x="9807654" y="2904883"/>
            <a:ext cx="661415" cy="1987239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1F8491-B262-ACB7-D6A4-08D0607F2D68}"/>
              </a:ext>
            </a:extLst>
          </p:cNvPr>
          <p:cNvCxnSpPr>
            <a:cxnSpLocks/>
          </p:cNvCxnSpPr>
          <p:nvPr/>
        </p:nvCxnSpPr>
        <p:spPr>
          <a:xfrm flipV="1">
            <a:off x="10469069" y="3369811"/>
            <a:ext cx="274225" cy="53114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519A07A-03E8-5ED2-4800-FEB5D3DA9AC6}"/>
              </a:ext>
            </a:extLst>
          </p:cNvPr>
          <p:cNvSpPr txBox="1"/>
          <p:nvPr/>
        </p:nvSpPr>
        <p:spPr>
          <a:xfrm>
            <a:off x="10565096" y="2682928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Competizione</a:t>
            </a:r>
            <a:b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delle risorse</a:t>
            </a:r>
          </a:p>
        </p:txBody>
      </p:sp>
    </p:spTree>
    <p:extLst>
      <p:ext uri="{BB962C8B-B14F-4D97-AF65-F5344CB8AC3E}">
        <p14:creationId xmlns:p14="http://schemas.microsoft.com/office/powerpoint/2010/main" val="3807585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7213D-0A80-C1C0-CA30-4659965E5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7D450E-7AF7-6095-AB1C-869D7154CD7C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B8F344-B360-67F4-F49F-4A068BA9F7A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3E36C3-7325-147B-7AA5-71BF4F3C3D4E}"/>
              </a:ext>
            </a:extLst>
          </p:cNvPr>
          <p:cNvSpPr txBox="1"/>
          <p:nvPr/>
        </p:nvSpPr>
        <p:spPr>
          <a:xfrm>
            <a:off x="688257" y="1242253"/>
            <a:ext cx="6735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Riassunto: diagramma (</a:t>
            </a:r>
            <a:r>
              <a:rPr lang="it-IT" sz="2400" b="1" u="sng" dirty="0">
                <a:latin typeface="Arial" panose="020B0604020202020204" pitchFamily="34" charset="0"/>
                <a:cs typeface="Arial" panose="020B0604020202020204" pitchFamily="34" charset="0"/>
              </a:rPr>
              <a:t>molto qualitativa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) del modello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3EDB7A-DA70-A42C-2439-A16C1C375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19720-C9CC-48AA-867D-79A9AC47C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B4BF3E-93AC-E9A7-7080-ACA026BD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FDC86E-7C6A-8F88-4254-47A4D959C711}"/>
              </a:ext>
            </a:extLst>
          </p:cNvPr>
          <p:cNvSpPr/>
          <p:nvPr/>
        </p:nvSpPr>
        <p:spPr>
          <a:xfrm>
            <a:off x="1418301" y="2576052"/>
            <a:ext cx="7070373" cy="2694038"/>
          </a:xfrm>
          <a:prstGeom prst="rect">
            <a:avLst/>
          </a:prstGeom>
          <a:noFill/>
          <a:ln w="57150">
            <a:solidFill>
              <a:srgbClr val="FF7C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20700A-A9A7-FCBE-AA64-7AC6B3CED7E4}"/>
              </a:ext>
            </a:extLst>
          </p:cNvPr>
          <p:cNvSpPr/>
          <p:nvPr/>
        </p:nvSpPr>
        <p:spPr>
          <a:xfrm>
            <a:off x="9144000" y="2576052"/>
            <a:ext cx="2359742" cy="2694038"/>
          </a:xfrm>
          <a:prstGeom prst="rect">
            <a:avLst/>
          </a:prstGeom>
          <a:noFill/>
          <a:ln w="57150">
            <a:solidFill>
              <a:srgbClr val="99CC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51D4822-B85C-EC3D-BBF5-8C2205C35E95}"/>
              </a:ext>
            </a:extLst>
          </p:cNvPr>
          <p:cNvSpPr/>
          <p:nvPr/>
        </p:nvSpPr>
        <p:spPr>
          <a:xfrm>
            <a:off x="2155722" y="3876475"/>
            <a:ext cx="108156" cy="10243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56A45AA-7FCA-E192-3E66-DFC5A29D81B0}"/>
              </a:ext>
            </a:extLst>
          </p:cNvPr>
          <p:cNvSpPr/>
          <p:nvPr/>
        </p:nvSpPr>
        <p:spPr>
          <a:xfrm>
            <a:off x="7050810" y="3871851"/>
            <a:ext cx="108156" cy="10243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AD606C-9BB3-B2B4-A51F-0ACEDF21DF81}"/>
              </a:ext>
            </a:extLst>
          </p:cNvPr>
          <p:cNvSpPr txBox="1"/>
          <p:nvPr/>
        </p:nvSpPr>
        <p:spPr>
          <a:xfrm>
            <a:off x="2050518" y="3461405"/>
            <a:ext cx="318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37849D-3CF4-4B07-ACE5-6DCB4CBC0313}"/>
              </a:ext>
            </a:extLst>
          </p:cNvPr>
          <p:cNvSpPr txBox="1"/>
          <p:nvPr/>
        </p:nvSpPr>
        <p:spPr>
          <a:xfrm>
            <a:off x="6945606" y="3410186"/>
            <a:ext cx="318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9A0DF350-62FF-9423-1901-FB17AF73C2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4658355" y="1112173"/>
            <a:ext cx="36218" cy="4856849"/>
          </a:xfrm>
          <a:prstGeom prst="curvedConnector3">
            <a:avLst>
              <a:gd name="adj1" fmla="val -1205091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F3D67F9-0109-1C6B-506A-A5BDFBFB8528}"/>
              </a:ext>
            </a:extLst>
          </p:cNvPr>
          <p:cNvCxnSpPr>
            <a:cxnSpLocks/>
          </p:cNvCxnSpPr>
          <p:nvPr/>
        </p:nvCxnSpPr>
        <p:spPr>
          <a:xfrm>
            <a:off x="2369082" y="3923070"/>
            <a:ext cx="46291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6407424-61EB-63D1-FD4C-738ECF4F4C6E}"/>
              </a:ext>
            </a:extLst>
          </p:cNvPr>
          <p:cNvCxnSpPr>
            <a:cxnSpLocks/>
          </p:cNvCxnSpPr>
          <p:nvPr/>
        </p:nvCxnSpPr>
        <p:spPr>
          <a:xfrm>
            <a:off x="762000" y="3923070"/>
            <a:ext cx="119634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81AD31B-47AE-4478-8322-95F4517BD776}"/>
              </a:ext>
            </a:extLst>
          </p:cNvPr>
          <p:cNvCxnSpPr>
            <a:cxnSpLocks/>
          </p:cNvCxnSpPr>
          <p:nvPr/>
        </p:nvCxnSpPr>
        <p:spPr>
          <a:xfrm>
            <a:off x="2208137" y="4084780"/>
            <a:ext cx="0" cy="15748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FD8DB69-0499-53D4-8E13-03F7FEFC269A}"/>
              </a:ext>
            </a:extLst>
          </p:cNvPr>
          <p:cNvCxnSpPr>
            <a:cxnSpLocks/>
          </p:cNvCxnSpPr>
          <p:nvPr/>
        </p:nvCxnSpPr>
        <p:spPr>
          <a:xfrm>
            <a:off x="7104889" y="4084780"/>
            <a:ext cx="0" cy="15748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F48865E-C1CC-20AA-8441-9D57330C23EC}"/>
              </a:ext>
            </a:extLst>
          </p:cNvPr>
          <p:cNvCxnSpPr>
            <a:cxnSpLocks/>
          </p:cNvCxnSpPr>
          <p:nvPr/>
        </p:nvCxnSpPr>
        <p:spPr>
          <a:xfrm>
            <a:off x="7264170" y="3923070"/>
            <a:ext cx="26113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65E44C5-BEE6-8090-F9E4-C34A1C35DE43}"/>
              </a:ext>
            </a:extLst>
          </p:cNvPr>
          <p:cNvSpPr txBox="1"/>
          <p:nvPr/>
        </p:nvSpPr>
        <p:spPr>
          <a:xfrm>
            <a:off x="3289624" y="2717089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COMPETONO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73A11E-4D44-3C29-23FB-FE98B3A92569}"/>
              </a:ext>
            </a:extLst>
          </p:cNvPr>
          <p:cNvSpPr txBox="1"/>
          <p:nvPr/>
        </p:nvSpPr>
        <p:spPr>
          <a:xfrm>
            <a:off x="3217902" y="3568786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VIENE MANGIATO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F49FA4-5E43-BEE5-7F18-B86148328040}"/>
              </a:ext>
            </a:extLst>
          </p:cNvPr>
          <p:cNvSpPr txBox="1"/>
          <p:nvPr/>
        </p:nvSpPr>
        <p:spPr>
          <a:xfrm>
            <a:off x="2278631" y="5336825"/>
            <a:ext cx="1242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MUORE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A492DB-ABA4-7082-D8A2-6915F1823240}"/>
              </a:ext>
            </a:extLst>
          </p:cNvPr>
          <p:cNvSpPr txBox="1"/>
          <p:nvPr/>
        </p:nvSpPr>
        <p:spPr>
          <a:xfrm>
            <a:off x="7158966" y="5336825"/>
            <a:ext cx="1242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MUORE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8BD6DB-99D5-02D3-9458-2A52A3F811FF}"/>
              </a:ext>
            </a:extLst>
          </p:cNvPr>
          <p:cNvSpPr txBox="1"/>
          <p:nvPr/>
        </p:nvSpPr>
        <p:spPr>
          <a:xfrm>
            <a:off x="7264170" y="3604958"/>
            <a:ext cx="3114270" cy="369332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EMIGRA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22DA3A2-667B-EEA0-D202-0C1253B9BBDC}"/>
              </a:ext>
            </a:extLst>
          </p:cNvPr>
          <p:cNvSpPr txBox="1"/>
          <p:nvPr/>
        </p:nvSpPr>
        <p:spPr>
          <a:xfrm>
            <a:off x="838200" y="3558707"/>
            <a:ext cx="1242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NASCE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F2A98A8-CE62-8355-DC8B-EE3AB103270E}"/>
              </a:ext>
            </a:extLst>
          </p:cNvPr>
          <p:cNvSpPr txBox="1"/>
          <p:nvPr/>
        </p:nvSpPr>
        <p:spPr>
          <a:xfrm>
            <a:off x="5718048" y="2181111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i="1" dirty="0">
                <a:latin typeface="Arial" panose="020B0604020202020204" pitchFamily="34" charset="0"/>
                <a:cs typeface="Arial" panose="020B0604020202020204" pitchFamily="34" charset="0"/>
              </a:rPr>
              <a:t>ENV. 1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48B8996-8A4D-E385-6428-B8DC7FD494C6}"/>
              </a:ext>
            </a:extLst>
          </p:cNvPr>
          <p:cNvSpPr txBox="1"/>
          <p:nvPr/>
        </p:nvSpPr>
        <p:spPr>
          <a:xfrm>
            <a:off x="8730062" y="2206720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i="1" dirty="0">
                <a:latin typeface="Arial" panose="020B0604020202020204" pitchFamily="34" charset="0"/>
                <a:cs typeface="Arial" panose="020B0604020202020204" pitchFamily="34" charset="0"/>
              </a:rPr>
              <a:t>ENV. 2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2179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10406464" cy="4972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x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y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u="sng" dirty="0">
                    <a:latin typeface="Arial" panose="020B0604020202020204" pitchFamily="34" charset="0"/>
                    <a:cs typeface="Arial" panose="020B0604020202020204" pitchFamily="34" charset="0"/>
                  </a:rPr>
                  <a:t>Notazione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Li chiameremo W0, W1, W2 o, rispettivamente, «estinzione», «assenza di predatori» e «coesistenza»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10406464" cy="4972387"/>
              </a:xfrm>
              <a:prstGeom prst="rect">
                <a:avLst/>
              </a:prstGeom>
              <a:blipFill>
                <a:blip r:embed="rId2"/>
                <a:stretch>
                  <a:fillRect l="-820" t="-859" r="-1113" b="-1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21/01/2026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Interpretazione biologica dei risultati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Esperimenti aggiuntive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Modifiche al modello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524315"/>
              </a:xfrm>
              <a:prstGeom prst="rect">
                <a:avLst/>
              </a:prstGeom>
              <a:blipFill>
                <a:blip r:embed="rId2"/>
                <a:stretch>
                  <a:fillRect l="-886" t="-943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«base»: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 (una mia suddivisione in esperimenti)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03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blipFill>
                <a:blip r:embed="rId2"/>
                <a:stretch>
                  <a:fillRect l="-874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1" dirty="0">
                <a:latin typeface="Arial" panose="020B0604020202020204" pitchFamily="34" charset="0"/>
                <a:cs typeface="Arial" panose="020B0604020202020204" pitchFamily="34" charset="0"/>
              </a:rPr>
              <a:t>Obbiettivo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6562-8BDE-93CA-B8A3-6627BD45F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5914F5B-1802-26F2-D852-42E5D0E4616C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3D6C5F-0C3F-8092-57F6-A24F854AB90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D50DA-682F-70E0-40F1-4DAA7E8481A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0376F-0715-75DD-395E-50C12943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9E4C15-3B5F-8EBB-4429-C5943806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400-9ECE-1550-61A9-D1E21F6A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1E5226-C710-E2E7-6EB0-D4D69DFA00B1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357260-B120-EA12-FA66-1B98762DB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820" y="2095384"/>
            <a:ext cx="9352358" cy="379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4976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CBE3438-1D1E-B28C-7DDB-BDE4312D9320}"/>
              </a:ext>
            </a:extLst>
          </p:cNvPr>
          <p:cNvGrpSpPr/>
          <p:nvPr/>
        </p:nvGrpSpPr>
        <p:grpSpPr>
          <a:xfrm>
            <a:off x="838200" y="1946935"/>
            <a:ext cx="10718560" cy="2964130"/>
            <a:chOff x="688257" y="1593242"/>
            <a:chExt cx="12075413" cy="332768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8A29B57-E549-5DC0-4B9C-A91505FCE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257" y="1593242"/>
              <a:ext cx="8026719" cy="332768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56B8CB5-FC50-D1AC-1B21-8B0136FC2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4976" y="1603800"/>
              <a:ext cx="4048694" cy="3192240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056BEB5-99ED-3D7A-4B6B-0DE374129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8734" y="4920470"/>
            <a:ext cx="5654530" cy="23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9CD3-4EE7-6933-6A3A-59C26663A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2FBEE5-44C1-ECF7-3BA7-9A5F6E46E216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1DF848-6AF8-DC16-B208-60344BE665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7DBE0B-BACB-F64C-6A97-72A26CF11C2D}"/>
              </a:ext>
            </a:extLst>
          </p:cNvPr>
          <p:cNvSpPr txBox="1"/>
          <p:nvPr/>
        </p:nvSpPr>
        <p:spPr>
          <a:xfrm>
            <a:off x="688257" y="1147031"/>
            <a:ext cx="107141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risultati sono più o meno consistenti come quelli proposti nel paper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una carrellata di risultati + interpretazione biologica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358E90-8217-EFBA-DB66-3487AC7F402E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B718F2-8A54-5130-92C7-BBB091EEF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52282-2159-84DD-2221-BACE5EF2F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4F787-F6AA-4168-5912-0643BF33C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09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7FFBD-9EAD-F3DD-6BE5-A8CE817F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CC3CD2-59C3-1AF5-63FE-0ADB4E37851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8B654-44FB-BA0F-C22E-88F638613D0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068918-6D12-ECB7-FAB8-A7A2010C838D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0: Otteniamo che W2 è GAS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	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068918-6D12-ECB7-FAB8-A7A2010C8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blipFill>
                <a:blip r:embed="rId4"/>
                <a:stretch>
                  <a:fillRect l="-797" t="-3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B55D9-8FC5-3A6A-6FA8-498BBB8B4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58DB9-B3B8-F3A2-5406-B006DEF7E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B928-77B9-A9B6-15EA-F138F5F86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  <p:pic>
        <p:nvPicPr>
          <p:cNvPr id="12" name="0_0">
            <a:hlinkClick r:id="" action="ppaction://media"/>
            <a:extLst>
              <a:ext uri="{FF2B5EF4-FFF2-40B4-BE49-F238E27FC236}">
                <a16:creationId xmlns:a16="http://schemas.microsoft.com/office/drawing/2014/main" id="{2560D90F-E0BD-38D7-F3FC-52D61D5FBEA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1999" y="1593242"/>
            <a:ext cx="10668000" cy="4572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BF8743A-E25B-AE38-04DD-36F377DEAC0D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0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_0.MP4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F929CE-F124-71A1-776C-03A4D46483CF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3699012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EB0EB-C765-E11C-AB96-F5F10876D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0413DA-474D-4017-5AB0-16E513907F2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F87341-58ED-1C1C-7144-08ECEF26046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0BA51B-6D63-F1E0-55C8-46A05EE80027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1: W1 è GAS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F9A156-EFBA-E4B3-1280-4C4F6E0D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F8B0D-0643-D3D6-B95D-12D686DF3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44CEF-4262-0F0D-716B-D77DF8F33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  <p:pic>
        <p:nvPicPr>
          <p:cNvPr id="8" name="1_0">
            <a:hlinkClick r:id="" action="ppaction://media"/>
            <a:extLst>
              <a:ext uri="{FF2B5EF4-FFF2-40B4-BE49-F238E27FC236}">
                <a16:creationId xmlns:a16="http://schemas.microsoft.com/office/drawing/2014/main" id="{50ABF2D2-21B1-2FFA-9AC9-395F62F445B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11317" y="1593242"/>
            <a:ext cx="10668000" cy="457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D325F0-F235-284C-EB89-464BA5A1424F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1_0.MP4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F8336A-03FD-F02C-F1AE-23453B901EA2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97511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273C-37EB-16E3-C154-A953DDFAC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5F2400D-662C-F504-2C46-35D2A3EF487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225558-3052-AB72-A9C9-2A3365F72FD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EA1807-E2C4-9CCC-A4A0-1C82E5C6C3F3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2: W0 è GAS (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EA1807-E2C4-9CCC-A4A0-1C82E5C6C3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blipFill>
                <a:blip r:embed="rId4"/>
                <a:stretch>
                  <a:fillRect l="-797" t="-3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021DC0-70AD-9AB6-F421-2A3212059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8BCD8-E666-EA74-AB3F-8E40090EE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FAA61-DF28-0AD4-808A-ECB99DD5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  <p:pic>
        <p:nvPicPr>
          <p:cNvPr id="8" name="2_0">
            <a:hlinkClick r:id="" action="ppaction://media"/>
            <a:extLst>
              <a:ext uri="{FF2B5EF4-FFF2-40B4-BE49-F238E27FC236}">
                <a16:creationId xmlns:a16="http://schemas.microsoft.com/office/drawing/2014/main" id="{B4811720-C0CC-A3F6-4B3B-BFD2EFA561F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11317" y="1593242"/>
            <a:ext cx="10668000" cy="4572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A0895D2-389B-1C8E-21EB-D4D4F4CC6A8D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_0.MP4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56D63-2F03-637A-1ABC-DBE5E95CF8B1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101808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F058E-B7A6-44FA-7387-5A484046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75ED75-2F14-F3F6-BD49-2EF00FCB2A3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FA1366-FBD3-EB0A-4114-8AE87726CB3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66736C-6D59-0F63-0609-3D84C946114A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3: Cicli limite (traiettoria verde: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66736C-6D59-0F63-0609-3D84C9461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blipFill>
                <a:blip r:embed="rId2"/>
                <a:stretch>
                  <a:fillRect l="-797" t="-3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93743-0BB0-3D4B-CE13-61A73E15A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E70B0-3713-4ACA-D1C6-D19E62206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4CB71A-14ED-4BAB-DECF-293E951B0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1C0738-2692-8174-626A-8A95B72FB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419" y="1747195"/>
            <a:ext cx="8823160" cy="44844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D8251A-BE9C-41F0-DFED-ADD0D368CDAF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3815442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E86E9-580B-373C-B337-26674DCBE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985A73-FD36-D39F-BA51-A1934D55BCDA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823E86-1AAE-EF69-5343-8068F060D00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5B694C-D5D2-CF03-6405-0A47C58B851B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Osservazione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Traiettorie diverse per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5B694C-D5D2-CF03-6405-0A47C58B8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569660"/>
              </a:xfrm>
              <a:prstGeom prst="rect">
                <a:avLst/>
              </a:prstGeom>
              <a:blipFill>
                <a:blip r:embed="rId2"/>
                <a:stretch>
                  <a:fillRect l="-797" t="-2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DEF78F-3CB3-570D-AAC7-38E6D5600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86D33-EDF6-A976-0FB9-D66222439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F0CBD-858B-9736-7008-B258F9902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6BEB33-6F19-6677-AD12-1A8625B374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92" t="7100"/>
          <a:stretch>
            <a:fillRect/>
          </a:stretch>
        </p:blipFill>
        <p:spPr>
          <a:xfrm>
            <a:off x="7906404" y="2356295"/>
            <a:ext cx="3620808" cy="3509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73753A-6C6C-9CE9-0BA9-382EBAEEC0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434" t="6649"/>
          <a:stretch>
            <a:fillRect/>
          </a:stretch>
        </p:blipFill>
        <p:spPr>
          <a:xfrm>
            <a:off x="4309065" y="2316574"/>
            <a:ext cx="3546085" cy="33943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9AC70E-6747-E545-B0C9-6F96878071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22" t="6143"/>
          <a:stretch>
            <a:fillRect/>
          </a:stretch>
        </p:blipFill>
        <p:spPr>
          <a:xfrm>
            <a:off x="637003" y="2252156"/>
            <a:ext cx="3620808" cy="35629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34DFE3F-FDDC-921B-11A0-7CE96636BB01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1224043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8A4C-FC40-338E-36D3-9280E0C0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4D3DFE-D3B8-2D4D-3E64-8EBE29F57F9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7D5205-3D8C-DA58-2DE3-FB1E628FA70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DAC23AE-78C4-4D0B-C1F2-0AFBB89712E1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4: Scenario «originale»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DAC23AE-78C4-4D0B-C1F2-0AFBB8971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blipFill>
                <a:blip r:embed="rId2"/>
                <a:stretch>
                  <a:fillRect l="-797" t="-3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C4AE8-09FA-4086-D041-C589BEDD1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9E15A1-0A7C-DA45-E3F6-0FB0DC736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9E3826-A35D-1458-39AC-9D708BF7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C3FCC87-6928-322F-97A3-D7AB4B1A3F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831" y="1593242"/>
            <a:ext cx="9222972" cy="46876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AF3B9C-FAE2-4B38-3F63-9AB51465D6DA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1018029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DE3C1-A9F2-9B3D-DA48-58A8D9BB0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BF0F50-A67F-BD6E-28A6-2DB54222103F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473C52-A911-C534-5A49-769D0F2F3A46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6255AB-6350-89EE-F36E-97ED7E75F622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4: Diminuzione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6255AB-6350-89EE-F36E-97ED7E75F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830997"/>
              </a:xfrm>
              <a:prstGeom prst="rect">
                <a:avLst/>
              </a:prstGeom>
              <a:blipFill>
                <a:blip r:embed="rId2"/>
                <a:stretch>
                  <a:fillRect l="-797" t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FEE0B1-5A2C-0141-74E5-7EA60E4B7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76565-B53F-E37B-2712-0B583BCF6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96EB1-53E9-8867-767C-21DF5E6F2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44911E-79A9-450D-FC42-9A374CB0D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23" y="1747195"/>
            <a:ext cx="9003752" cy="45057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6BAA4B-1B93-7AE2-95DB-4D05C60BB38E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25677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61160-A991-5530-8A41-897097146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BDDC08-24B5-851A-68DD-49FCF4FAA61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5575F0-30B7-4B3A-7334-D6020A88A60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094004-9868-C285-3231-86AC1C6DC455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4: Diminuzione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 →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0.001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 mantenendo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(originale) 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094004-9868-C285-3231-86AC1C6DC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569660"/>
              </a:xfrm>
              <a:prstGeom prst="rect">
                <a:avLst/>
              </a:prstGeom>
              <a:blipFill>
                <a:blip r:embed="rId2"/>
                <a:stretch>
                  <a:fillRect l="-797" t="-2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949643-C88E-0E64-F010-C3A45990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332E-06AC-3B39-EDEA-91F48318D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2BF7F-2DE4-8CB2-EA3D-B2118719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2018D1-1CFC-B424-F8A7-29F2FC2CB2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981" y="1873536"/>
            <a:ext cx="8820036" cy="44828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4E6F3A-D8C8-DC1D-AF59-961D1800A9F4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25442999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4C007-F670-4731-DF7B-D889C866E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EBFBDC-004D-D5FC-3323-3C44A2FB273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A80C3-D84E-D7AB-0E4D-B5CDEF890D6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CB43730-3A8C-9DCC-8DB3-A1CEB243A7D6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Interpretazione della 4)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i parametri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sfavoriscono prede/predatori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Indica la «forza» esercitata sui predatori nel contesto della competizione delle risorse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Come (quasi) il modello di competizione di Volterra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Fino ad un certo punto! (per epsilon piccoli otteniamo cicli limite)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CB43730-3A8C-9DCC-8DB3-A1CEB243A7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3785652"/>
              </a:xfrm>
              <a:prstGeom prst="rect">
                <a:avLst/>
              </a:prstGeom>
              <a:blipFill>
                <a:blip r:embed="rId2"/>
                <a:stretch>
                  <a:fillRect l="-797" t="-1127" r="-13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0F9258-A994-A072-9A95-EFB474201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5465C-8401-64E7-928B-9FB8BFF88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EFF4-216E-DB04-5330-0B43E0A93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A453F-2EA1-875A-621D-5D565643AE59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3906399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91E21-AAA5-F7A1-E32B-577E28A69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EEE619-CD70-42E6-3AA4-A8F4A37FAB06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316D00-6D3F-0792-192A-67D2915B125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BC6EE2-B158-42DF-54BA-E58A05758F13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5: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otteniamo traiettorie completamente diverse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BC6EE2-B158-42DF-54BA-E58A05758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blipFill>
                <a:blip r:embed="rId2"/>
                <a:stretch>
                  <a:fillRect l="-797" t="-3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F25384-1BA1-F7D5-9F0D-D56DDE8F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5F702-8582-3B8E-9887-2CB132B1D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7B0F0-51CC-54B0-6AB8-CB2FB228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A34C78-B93F-6B28-66EB-EFF35CD92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836" y="1687735"/>
            <a:ext cx="9160326" cy="46557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D7F7AD2-9A1E-7EE5-1943-6E2E30648199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</p:spTree>
    <p:extLst>
      <p:ext uri="{BB962C8B-B14F-4D97-AF65-F5344CB8AC3E}">
        <p14:creationId xmlns:p14="http://schemas.microsoft.com/office/powerpoint/2010/main" val="1077698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DEDB1-5A54-BC66-14B9-99438663E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6B6110-18E2-DA06-F24F-D3F5F94557D8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C4C7E-AB26-5380-649A-62D75E8D402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F43838-CACA-E6E8-D982-850C52FC6146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5: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otteniamo traiettorie completamente diverse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W1, W2 o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Determina la «forma» della traiettoria, in forme non topologicamente equivalenti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F43838-CACA-E6E8-D982-850C52FC6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2677656"/>
              </a:xfrm>
              <a:prstGeom prst="rect">
                <a:avLst/>
              </a:prstGeom>
              <a:blipFill>
                <a:blip r:embed="rId2"/>
                <a:stretch>
                  <a:fillRect l="-797" t="-15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E06098-AC8E-39EA-50E0-1B5A291C5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8658F-F0C8-7D01-FCA4-12706EBA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82B62-E064-BA9E-376C-FF01EC27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8EB0E4-3E5C-C68D-E1A8-F8E352388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471861"/>
            <a:ext cx="7617542" cy="38716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285BF97-E44E-FC97-0CF1-E0BD93EB9E6D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8054D6-308B-3E58-7328-EE4CB55CE885}"/>
              </a:ext>
            </a:extLst>
          </p:cNvPr>
          <p:cNvSpPr txBox="1"/>
          <p:nvPr/>
        </p:nvSpPr>
        <p:spPr>
          <a:xfrm>
            <a:off x="688257" y="3715784"/>
            <a:ext cx="11405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sz="24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it-IT" sz="24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Green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it-IT" sz="2400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Blue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443DA1-6AC4-B5C5-1570-E845F539C51A}"/>
                  </a:ext>
                </a:extLst>
              </p:cNvPr>
              <p:cNvSpPr txBox="1"/>
              <p:nvPr/>
            </p:nvSpPr>
            <p:spPr>
              <a:xfrm>
                <a:off x="1828798" y="3715784"/>
                <a:ext cx="154916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𝑒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0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.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005</m:t>
                      </m:r>
                    </m:oMath>
                  </m:oMathPara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𝑒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0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.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4</m:t>
                      </m:r>
                    </m:oMath>
                  </m:oMathPara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e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0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.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7</m:t>
                      </m:r>
                    </m:oMath>
                  </m:oMathPara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443DA1-6AC4-B5C5-1570-E845F539C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798" y="3715784"/>
                <a:ext cx="1549165" cy="1200329"/>
              </a:xfrm>
              <a:prstGeom prst="rect">
                <a:avLst/>
              </a:prstGeom>
              <a:blipFill>
                <a:blip r:embed="rId4"/>
                <a:stretch>
                  <a:fillRect r="-11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6404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09A48-0D3D-429B-94EA-9455D0D7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7FDAB9-2FE6-CDBE-0BAD-67FD77FAAF8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OTTENUTI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54EFF6-4A83-D566-94F3-68292166327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49F0BF-B137-FD67-82A4-28FB311F5613}"/>
                  </a:ext>
                </a:extLst>
              </p:cNvPr>
              <p:cNvSpPr txBox="1"/>
              <p:nvPr/>
            </p:nvSpPr>
            <p:spPr>
              <a:xfrm>
                <a:off x="8004147" y="2188521"/>
                <a:ext cx="3956105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6: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m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sfavorisce 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effetti, indica «quanto si nascondono» le prede; meno prede «visibili»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⟹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meno predazione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49F0BF-B137-FD67-82A4-28FB311F56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147" y="2188521"/>
                <a:ext cx="3956105" cy="4154984"/>
              </a:xfrm>
              <a:prstGeom prst="rect">
                <a:avLst/>
              </a:prstGeom>
              <a:blipFill>
                <a:blip r:embed="rId2"/>
                <a:stretch>
                  <a:fillRect l="-2003" t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4AB6E78-4D04-F635-A89F-3325199DE87C}"/>
              </a:ext>
            </a:extLst>
          </p:cNvPr>
          <p:cNvSpPr txBox="1"/>
          <p:nvPr/>
        </p:nvSpPr>
        <p:spPr>
          <a:xfrm>
            <a:off x="4925961" y="514495"/>
            <a:ext cx="6577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e Interpretazione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48B900-37FE-D891-4C68-3E8577916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21/01/2026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9F79A-788A-D0EB-FBEB-E5EF7119B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60FC1-6805-1C3C-FE78-EA0540336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D9DCA1-6BFA-A057-A960-8134F8BCF7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697" y="1444265"/>
            <a:ext cx="6905499" cy="35097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84C3ED-9829-00E2-596F-F75EC9709922}"/>
              </a:ext>
            </a:extLst>
          </p:cNvPr>
          <p:cNvSpPr txBox="1"/>
          <p:nvPr/>
        </p:nvSpPr>
        <p:spPr>
          <a:xfrm>
            <a:off x="3047312" y="4866588"/>
            <a:ext cx="11405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it-IT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Green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it-IT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Blue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76F8B0-5476-C3D3-03BB-ADA9639D4799}"/>
                  </a:ext>
                </a:extLst>
              </p:cNvPr>
              <p:cNvSpPr txBox="1"/>
              <p:nvPr/>
            </p:nvSpPr>
            <p:spPr>
              <a:xfrm>
                <a:off x="4187853" y="4866588"/>
                <a:ext cx="154916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m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0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.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1</m:t>
                      </m:r>
                    </m:oMath>
                  </m:oMathPara>
                </a14:m>
                <a:endParaRPr lang="it-IT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m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0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.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25</m:t>
                      </m:r>
                    </m:oMath>
                  </m:oMathPara>
                </a14:m>
                <a:endParaRPr lang="it-I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m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0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.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9</m:t>
                      </m:r>
                    </m:oMath>
                  </m:oMathPara>
                </a14:m>
                <a:endParaRPr lang="it-IT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76F8B0-5476-C3D3-03BB-ADA9639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7853" y="4866588"/>
                <a:ext cx="1549165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3307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(W2 LAS)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Collegamenti con altri modelli prede-predatori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MacArthur-Rosenzweig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Modifiche al modello (Strada verso al caos)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Periodicizzazione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blipFill>
                <a:blip r:embed="rId2"/>
                <a:stretch>
                  <a:fillRect l="-851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 dirty="0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1696983"/>
                <a:ext cx="5447687" cy="4154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Meno incentivi per predazione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confermata; meno predazione implica meno predatori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696983"/>
                <a:ext cx="5447687" cy="4154984"/>
              </a:xfrm>
              <a:prstGeom prst="rect">
                <a:avLst/>
              </a:prstGeom>
              <a:blipFill>
                <a:blip r:embed="rId3"/>
                <a:stretch>
                  <a:fillRect l="-1454" t="-1026" r="-2573" b="-2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B176-FD21-9972-85AD-5E86C44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DD6E96-A531-748B-9AFC-F8F457F979E8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A767E-5F74-183F-BD8A-E142A8086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3071-B55D-76E6-1141-2406EC6B1E9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028AEB-CD72-69F8-4F77-009BFED571C8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Modello «assomiglia» a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Con una configurazione specifica di parametri il nostro modello diventa effettivamente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Implicazione: Il modello è una generalizzazione di MacArthur-Rosenzweig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 più fattori «realistici»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Paura psicologica, competizione di risorse, ...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4DA80-DC8C-1E09-C3EA-F8E7D491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DB564-13DE-9A02-5657-6CD85B03E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CDC1F-2FE3-3237-CE42-54C20154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30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9D56C9-23A1-FE09-2767-EE8B93A25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4764955"/>
            <a:ext cx="5506488" cy="138265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F7FD840C-0F7E-A2AC-6942-BFD5CA1B08AE}"/>
              </a:ext>
            </a:extLst>
          </p:cNvPr>
          <p:cNvSpPr/>
          <p:nvPr/>
        </p:nvSpPr>
        <p:spPr>
          <a:xfrm>
            <a:off x="6338412" y="5065121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6C146A7-E801-86E0-A8D6-3652B801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823830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848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1B749-1F4D-3C8D-B04B-64095978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B3DBD2-A48E-B0C8-E3EE-D6BD177A041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B935FA-FED0-BF8A-FDDB-188FD38BFB4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8E89-A1A5-A9A6-C629-AE652A842A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Sostituzioni fatte: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ψ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Annullo gli «effetti» non previsti da MacArthur e Rosenzweig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di paura, competizione, cibo esterno, emigrazione, 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Mantengo i tassi di mortalità e di natalità delle prede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Anche dei predatori, tenendo conto del 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𝜂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𝜌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β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=1/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Normalizzo gli effetti della predazione, in particolare dell’effetto «rifugio»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5222-C95B-7886-F96D-987C6F3A6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2C9D-3B0E-5A1C-A010-2F7175AA8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138F64-D8E6-D642-B507-3F2C72B9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31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B3B561-A5D4-BE9A-91BA-DED51B9AE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294334D-43E6-F262-6E0F-E66844F6E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40BF01AD-C16E-E2C3-49B0-4C6C3E1AC506}"/>
              </a:ext>
            </a:extLst>
          </p:cNvPr>
          <p:cNvSpPr/>
          <p:nvPr/>
        </p:nvSpPr>
        <p:spPr>
          <a:xfrm>
            <a:off x="6338412" y="1421944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0083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602B6-37FB-BC5D-F277-BCD537DCE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F6C65D-5EF0-A4C9-FFB3-230F06C844C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9952E-1EAC-3C35-A76D-B77F744168E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A43ED-02E2-0709-B026-5B46A23C923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Osservazione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è direttamente proporzionale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un certo senso, è il parametro «critico» della biforcazione di Hopf</a:t>
                </a:r>
              </a:p>
              <a:p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blipFill>
                <a:blip r:embed="rId2"/>
                <a:stretch>
                  <a:fillRect l="-851" t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56675-AC97-8054-AFAE-22BE19EAD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834C9-C10A-2D43-D4BA-91FAA7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6A2E0-0862-6862-886E-E78DB90D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32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896FE-456A-B0E0-FA9A-C97EFD0E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38540F-A84A-A67D-19A1-6526AD6EC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AE116618-FDEE-E0A1-F9F1-081061B15F2C}"/>
              </a:ext>
            </a:extLst>
          </p:cNvPr>
          <p:cNvSpPr/>
          <p:nvPr/>
        </p:nvSpPr>
        <p:spPr>
          <a:xfrm>
            <a:off x="6338412" y="1421944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54171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78E8-7228-B9DF-2B81-8282CD90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AE2B87-9447-308D-6B54-CA5D1C35FFC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A108AF-49E3-4FE1-C520-FA2DFF57EF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7D058-20F9-DCF2-3796-597833C7613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Alcuni esempi di simulazioni, con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75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blipFill>
                <a:blip r:embed="rId2"/>
                <a:stretch>
                  <a:fillRect l="-85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A6C41-10ED-D903-C8AC-A707055C5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FAEFA8-026E-CB1A-C27A-334804137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CF99-446E-61A9-B7B1-A07C2993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698638-306C-FC9C-21F1-E7B93D6E6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55" y="1932721"/>
            <a:ext cx="10695088" cy="377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87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BF7E6-343D-DABC-5484-2D48BF007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4040A3-5C4C-1D73-B92C-A950F7E2EE20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17D963-34FB-63CD-59A5-B0457CAFDA6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096CF-6995-9BE2-127D-FD1BEA41E29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14FBE6-8F2B-5DB2-21DE-41802B7A24A3}"/>
              </a:ext>
            </a:extLst>
          </p:cNvPr>
          <p:cNvSpPr txBox="1"/>
          <p:nvPr/>
        </p:nvSpPr>
        <p:spPr>
          <a:xfrm>
            <a:off x="688257" y="1257642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Altra implementazione di MR (Notebook del corso «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CS6 ROSEN.ipynb</a:t>
            </a: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»; simulazioni coincidenti </a:t>
            </a: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AD288-F606-2847-61EA-7FF6C73E6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DF56F-9104-E659-6738-62E06E1F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7B094-A599-5F4A-6CC6-7F1D7D7B5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4116CA-2D9C-1E57-B5DE-68DA83ABD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849" y="2276259"/>
            <a:ext cx="9328300" cy="396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887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8717D-328D-1E30-7D92-DF1D9A8D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0B23C-8420-4275-7CB6-2F7EA88B6344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FA630A-C88E-C897-D482-450113FCA62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E4A4EC-D33E-59B9-7581-5EB9E511C2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93925-065C-EBFC-76EF-7B0DCCC36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F80A6-C104-62A2-FB05-CC314D40F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A40545-A8E7-20EC-FC81-8B803897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35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D6A5C1-1D27-0709-F1EB-63674208A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068" y="2434777"/>
            <a:ext cx="10448596" cy="1988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038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D599-1F26-AB8B-E12F-54DC3F3C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111B0E-61C1-73E3-72A1-C985A61DD39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664AE7-F5F9-4DF1-76CE-DA9BFCAA370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F635B-778E-9D9C-CA6F-D55BBE20AAD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56485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Idea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Se rendessimo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una funzione periodica 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La migrazione è stagionale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faremo: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Definiamo la famiglia di funzioni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A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ω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):=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sin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)+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Effettuiamo un po’ di esperimenti al variare dei parametri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 partire dai parametri dell’esperimento 0</a:t>
                </a:r>
              </a:p>
              <a:p>
                <a:pPr lvl="2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aspettiamo: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Chaos, Butterfly Effect dovuti a Parametric Resonance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5648534"/>
              </a:xfrm>
              <a:prstGeom prst="rect">
                <a:avLst/>
              </a:prstGeom>
              <a:blipFill>
                <a:blip r:embed="rId2"/>
                <a:stretch>
                  <a:fillRect l="-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B1BFD0-1E5F-5C56-7B26-A37F4EB7B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53F99-B0AE-AAB2-C0DB-A59B72E9E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B90CEC-EE09-D975-1B7E-A9D412D8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BC8050-97D2-F796-46EE-4B5E244F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753" y="1059117"/>
            <a:ext cx="7708492" cy="1466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2381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6FC8E-0EB3-51A8-FC02-4BB780421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7DAA87-46CF-A6EA-E41E-1C3116D42124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907262-6745-6934-7DDE-C9989BD0C63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02C3EC-0405-9EB1-FBDF-6F0C0206994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6129A-57B6-BFAF-39BE-69CE8CB98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4EF8E2-2A4F-5E1A-27FF-A6F286C9B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BB253F-AFE9-6281-8A9B-5507334AE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9A0F13-0306-3502-5A72-87C9ED08CD3F}"/>
              </a:ext>
            </a:extLst>
          </p:cNvPr>
          <p:cNvSpPr txBox="1"/>
          <p:nvPr/>
        </p:nvSpPr>
        <p:spPr>
          <a:xfrm>
            <a:off x="688257" y="1182283"/>
            <a:ext cx="1002890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VARIAZIONE DELLE FREQUENZE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23EE78-6B09-B336-16DC-95648BAAB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20" y="1708458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89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2346-7A77-19D3-063D-DA80B3B84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58EF56-9B76-4037-5263-3B78A4DCDDDF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9298C-8670-D4D1-C260-727A7E0BF95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E73302-800E-25D0-335F-853D9721F78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88698-21CD-6FD5-F535-56DF4A731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52A91-6A23-0755-B5CE-1ED7563C5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4BC75-658D-4EB3-CC2B-2EBFF4A0E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/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 ha il «fenomeno caos»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«intermedi»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Troppo piccolo o grande: il modello ha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Intermedio: CHAOS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blipFill>
                <a:blip r:embed="rId2"/>
                <a:stretch>
                  <a:fillRect l="-851" t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5DE41AF-B057-165D-0460-F5FABA165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20" y="2382612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096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5B9A3-0005-4CEA-4FF3-223748B2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4582B9-76D5-D6C1-2F3C-1E3CDF3FE25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1339F-0751-FC43-FF43-6FBBA1B0AB6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D077C3-8945-E7BF-87C7-8DC9ED6FF8D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F6C81-4A64-06AB-ACCC-B10BD29C0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935A9-2255-E575-4411-5458E294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3981B-3271-56CF-ABC0-D613D9D0F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39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</m:oMath>
                </a14:m>
                <a:endParaRPr lang="it-IT" sz="2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Modello CAOTICO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75777E55-FB23-9E90-11BE-B6CB814BC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846" y="1986228"/>
            <a:ext cx="8598306" cy="437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9774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42D27-504C-A092-75BF-BF745718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CA3650-49EA-C6A5-5E74-AE6AA643310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7EE08D-3AC6-EAE6-DA52-34797B968E0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0DD122-3C8E-38D3-F2C5-613C3538426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4AAC2B-F6A9-852D-B552-0A7E4499D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D26181-02A7-60D3-B432-9DF8F6A4A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E7F87-3F9C-6914-F8B3-4F1910C3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40</a:t>
            </a:fld>
            <a:endParaRPr lang="en-US"/>
          </a:p>
        </p:txBody>
      </p:sp>
      <p:pic>
        <p:nvPicPr>
          <p:cNvPr id="10" name="CHAOS_0">
            <a:hlinkClick r:id="" action="ppaction://media"/>
            <a:extLst>
              <a:ext uri="{FF2B5EF4-FFF2-40B4-BE49-F238E27FC236}">
                <a16:creationId xmlns:a16="http://schemas.microsoft.com/office/drawing/2014/main" id="{EBCA956E-7999-43D9-D26C-6A0F2070CE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38200" y="1745848"/>
            <a:ext cx="10757842" cy="46105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A61483-008F-BE28-0F4C-BAD39BF2E609}"/>
              </a:ext>
            </a:extLst>
          </p:cNvPr>
          <p:cNvSpPr txBox="1"/>
          <p:nvPr/>
        </p:nvSpPr>
        <p:spPr>
          <a:xfrm>
            <a:off x="1170039" y="12313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38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50237-83F1-E7C6-A033-30B7446F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76EED3-35ED-C343-7F9C-67B00295CA5A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74BAD-D455-C7DB-5BFB-5457E4746E0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B83FC-0648-61B7-CBC6-60C5E6B415A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A6531-19B2-A501-D49D-2E20B44FC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21/01/2026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708A3F-F9DD-DD39-7745-3821C28B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8CE7-F685-451F-002E-07B8D654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41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A13012-EDC2-9F54-5AA1-9CC03131FC79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1" dirty="0">
                <a:latin typeface="Arial" panose="020B0604020202020204" pitchFamily="34" charset="0"/>
                <a:cs typeface="Arial" panose="020B0604020202020204" pitchFamily="34" charset="0"/>
              </a:rPr>
              <a:t>Traiettorie del modello per punti iniziali diversi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CHAOS_ALT_0">
            <a:hlinkClick r:id="" action="ppaction://media"/>
            <a:extLst>
              <a:ext uri="{FF2B5EF4-FFF2-40B4-BE49-F238E27FC236}">
                <a16:creationId xmlns:a16="http://schemas.microsoft.com/office/drawing/2014/main" id="{F8CA034B-F4E6-A6D7-F630-7031EA10EC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5800" y="1843965"/>
            <a:ext cx="10668000" cy="457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0E2241-0849-0F1F-3067-11FBAE8615B9}"/>
              </a:ext>
            </a:extLst>
          </p:cNvPr>
          <p:cNvSpPr txBox="1"/>
          <p:nvPr/>
        </p:nvSpPr>
        <p:spPr>
          <a:xfrm>
            <a:off x="8967019" y="18106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CHAOS_ALT_0.MP4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7148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5217-A8C6-9B9E-2F45-959790350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28EB63-E5B1-9F7D-3183-43FAEB1D0947}"/>
              </a:ext>
            </a:extLst>
          </p:cNvPr>
          <p:cNvSpPr txBox="1"/>
          <p:nvPr/>
        </p:nvSpPr>
        <p:spPr>
          <a:xfrm>
            <a:off x="0" y="1976491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Grazie per l’attenzione!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CE3495-C8C7-F7F0-E99E-C79B299A480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193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1215</TotalTime>
  <Words>1869</Words>
  <Application>Microsoft Office PowerPoint</Application>
  <PresentationFormat>Widescreen</PresentationFormat>
  <Paragraphs>396</Paragraphs>
  <Slides>42</Slides>
  <Notes>2</Notes>
  <HiddenSlides>0</HiddenSlides>
  <MMClips>5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Aptos Display</vt:lpstr>
      <vt:lpstr>Arial</vt:lpstr>
      <vt:lpstr>Cambria Math</vt:lpstr>
      <vt:lpstr>Cascadia Code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106</cp:revision>
  <dcterms:created xsi:type="dcterms:W3CDTF">2025-12-30T16:32:43Z</dcterms:created>
  <dcterms:modified xsi:type="dcterms:W3CDTF">2026-01-21T14:08:51Z</dcterms:modified>
</cp:coreProperties>
</file>