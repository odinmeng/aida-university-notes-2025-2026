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7" r:id="rId2"/>
    <p:sldId id="258" r:id="rId3"/>
    <p:sldId id="260" r:id="rId4"/>
    <p:sldId id="259" r:id="rId5"/>
    <p:sldId id="263" r:id="rId6"/>
    <p:sldId id="268" r:id="rId7"/>
    <p:sldId id="269" r:id="rId8"/>
    <p:sldId id="270" r:id="rId9"/>
    <p:sldId id="261" r:id="rId10"/>
    <p:sldId id="262" r:id="rId11"/>
    <p:sldId id="264" r:id="rId12"/>
    <p:sldId id="265" r:id="rId13"/>
    <p:sldId id="266" r:id="rId14"/>
    <p:sldId id="267" r:id="rId15"/>
    <p:sldId id="280" r:id="rId16"/>
    <p:sldId id="281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974" y="40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A086CB-A695-49D9-8C2E-9873859BCA4A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B80E1E-2258-41D2-8B32-8E87B60563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5088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A1B7-DB72-A681-2033-56C8C70BEE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44B660-CAF4-3219-EB44-792D929C42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815C1E-3914-AB6B-3CA2-EA5E6FCF4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9E74-BB92-43A1-93A9-56899A08A8EA}" type="datetime1">
              <a:rPr lang="it-IT" smtClean="0"/>
              <a:t>30/12/2025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4FD7B1-FB33-F83A-27B1-BDF1D7D22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F91F03-8979-70F2-ECEA-6E3384D178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0394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F1C7A-10E1-DD26-45F1-4B3C9B690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1CD10-3BB0-8EA8-6623-6B9FCC23F3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EDDC0A-3B65-F5D7-C477-4A4E3B5D7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E7E5C-3220-4614-A522-AFD916A4C527}" type="datetime1">
              <a:rPr lang="it-IT" smtClean="0"/>
              <a:t>30/12/2025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F96670-8629-CDBD-2385-848186326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A24927-65FB-51BA-8102-D4AEEBD12E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74450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06355-A4DA-DB3D-D25D-6CE74C95C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14B1C1-1CF7-C71A-0FBE-4EF3DAC4D4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ECB99-27F5-4A28-9842-289C6349FF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DB044-EFFF-4CBD-97F7-2F91E5899AD1}" type="datetime1">
              <a:rPr lang="it-IT" smtClean="0"/>
              <a:t>30/12/2025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EA4995-9159-6B08-17FD-DE7E17BA4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096CB5-B0F0-E3AA-073C-B5C64DF4E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5374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26A3E-5A1B-F5FD-FACF-8DA04D63F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79B25C-4928-214B-363E-487C1DBD43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F98C1E-39AA-0188-CC22-64D81BB82F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37D118-BF47-AF47-352E-5B09110FA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58A1C-7692-454B-B2B0-19CF8E1B29B2}" type="datetime1">
              <a:rPr lang="it-IT" smtClean="0"/>
              <a:t>30/12/2025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08DA9D-DE52-9BBD-E0FF-BFDBA75FC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98C15E-C400-FEFF-1290-A6DEB68AA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8165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3AC29-F777-E2F6-16AE-EAE703C75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04ABF2-2425-958C-9323-803F873CAC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A46DEF-E969-0793-D297-F9CF74163B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90DF9C-102E-D80A-7E68-CF7369D755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D20BAF-76DE-0BC8-D083-C8C1313B60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A01325-3495-2498-3DA1-878A08F0B0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34287-8B58-4D94-B233-149ADA4285AB}" type="datetime1">
              <a:rPr lang="it-IT" smtClean="0"/>
              <a:t>30/12/2025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2A206E-ACE8-AB81-0614-4989B20BB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22BF2F3-2087-D1AA-3AA9-CEAEFCDFC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174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10C88-BBC7-C2F0-B41C-FA324875D6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876B24-8A07-0D3B-CB49-BCAF2E5CE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469EFB-7A72-40B7-8B4E-23EC3F3D9178}" type="datetime1">
              <a:rPr lang="it-IT" smtClean="0"/>
              <a:t>30/12/2025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432E46-E76A-2D8B-743D-BBD66FB26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6486C1-36B7-5697-C9AD-1B40273AE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4053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2C0781-351F-4D4C-BBB9-40C29E859F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B6C92-C1CD-4F55-ADFF-59EB1DF3CE0B}" type="datetime1">
              <a:rPr lang="it-IT" smtClean="0"/>
              <a:t>30/12/2025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9553ED-EBCD-5BED-7D87-958BE89380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5DFE19-4251-A3FE-2B05-768E712BC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7095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70CCE-E24A-1368-158C-9CC2A1E7F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DCD1A9-79B9-04C4-183A-ABEB426736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77F018-9907-24DA-67B7-AB78A72C06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3C5A86-BBB9-9C51-C388-1BD0B6BE97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4A038-0D44-4453-9D70-4F5E44A505EF}" type="datetime1">
              <a:rPr lang="it-IT" smtClean="0"/>
              <a:t>30/12/2025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0BF32C-3944-3316-33E6-6520F9301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7B70AE-F95D-5837-B650-BC5DBA79B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8085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269E1-1BA9-4E0A-C9EC-830BF45DB3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6A815-0A97-9B72-B7E9-1F937307FB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F6C0D3-4315-8005-460D-1DA6294A7F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36B32C-81D8-D1AD-CD17-9401795867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DD4DD-220B-420A-80A9-E353ADB19088}" type="datetime1">
              <a:rPr lang="it-IT" smtClean="0"/>
              <a:t>30/12/2025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13E62C-C7E7-F97A-57F4-80205B29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3191FD-C317-CE02-809C-87ADAE13D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859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A97DD-A9F9-7404-38EB-6D12A4D4C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29CE41-6887-02C4-30C1-A65B22E7A3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A9D0E2-F731-2F81-F96B-81FBEB951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F8FB06-37EE-426F-B4C2-4056D956FFB6}" type="datetime1">
              <a:rPr lang="it-IT" smtClean="0"/>
              <a:t>30/12/2025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C3CAE9-F861-789E-BBEA-4F67F7536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585167-1BA4-811F-4D8A-8C4D653A8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3010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4D30D08-8BAB-44ED-5615-BB6125B95A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8773AC-82A3-EC34-0644-68E57B8270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510FFD-020E-B0BC-72DD-C7C8C51EF3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66374-9FAD-424A-A417-2FC77F42A162}" type="datetime1">
              <a:rPr lang="it-IT" smtClean="0"/>
              <a:t>30/12/2025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8FC030-3D6A-25C0-7668-21CEF0EDF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FDB095-E1C3-DD27-F709-E521831AC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2723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04014F-349A-6C80-8E2C-CB5615472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93B1D5-9190-A3C1-E196-50D9371852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15195C-BEFC-41CB-0ED4-891EA0B809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ACF47F-4A45-43A2-A4A7-840A2C11A772}" type="datetime1">
              <a:rPr lang="it-IT" smtClean="0"/>
              <a:t>30/12/2025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2904F7-082A-3B23-6CDC-E8FE417FFC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nn-NO"/>
              <a:t>DINO MENG [SM3201466], BsC AIDA@MIGE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20877-A428-08AA-89EF-8267193D69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F32AC9-143A-477E-841D-1F801B7F8FE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8537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doi.org/10.1007/s13538-024-01594-9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9052F-BD7A-1D1B-43D1-C9EDE9616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33497BF-796B-A4A2-27A7-D594593D9E44}"/>
              </a:ext>
            </a:extLst>
          </p:cNvPr>
          <p:cNvSpPr txBox="1"/>
          <p:nvPr/>
        </p:nvSpPr>
        <p:spPr>
          <a:xfrm>
            <a:off x="0" y="2028616"/>
            <a:ext cx="12192000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4400" b="1" dirty="0"/>
              <a:t>PROGETTO SISTEMI COMPLESSI</a:t>
            </a:r>
          </a:p>
          <a:p>
            <a:pPr algn="ctr"/>
            <a:endParaRPr lang="it-IT" sz="4400" b="1" dirty="0"/>
          </a:p>
          <a:p>
            <a:pPr algn="ctr"/>
            <a:endParaRPr lang="en-US" sz="44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E88BC2-BB4A-9967-895D-53C032476E89}"/>
              </a:ext>
            </a:extLst>
          </p:cNvPr>
          <p:cNvSpPr txBox="1"/>
          <p:nvPr/>
        </p:nvSpPr>
        <p:spPr>
          <a:xfrm>
            <a:off x="747252" y="272111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800" dirty="0"/>
              <a:t>DINO MENG [SM3201466]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FAAD7C6-C278-936E-9D63-9403940955C9}"/>
              </a:ext>
            </a:extLst>
          </p:cNvPr>
          <p:cNvSpPr/>
          <p:nvPr/>
        </p:nvSpPr>
        <p:spPr>
          <a:xfrm>
            <a:off x="1720645" y="1728330"/>
            <a:ext cx="8524568" cy="11561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7A430C8-B4FE-BEF8-15C2-7DBA6F32E3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8E00E-772D-4437-B382-3CBA9B54C360}" type="datetime1">
              <a:rPr lang="it-IT" smtClean="0"/>
              <a:t>30/12/2025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902D50-6EA2-9686-38DC-FAB7048B7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F8CF44-DB57-60DB-AB41-D2EFB4F8D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1133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83EDE-02B6-E8AC-2521-60C029C17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10A35CD-D2E2-120B-D1B4-F34531D5C50D}"/>
              </a:ext>
            </a:extLst>
          </p:cNvPr>
          <p:cNvSpPr txBox="1"/>
          <p:nvPr/>
        </p:nvSpPr>
        <p:spPr>
          <a:xfrm>
            <a:off x="688257" y="442035"/>
            <a:ext cx="540774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INTRODUZIONE E BIOGRAFIA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2F190A-AADC-AEC9-B613-D7B38E6B36B7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4CDCCF-1BC0-D866-B370-AD2C83637A8F}"/>
              </a:ext>
            </a:extLst>
          </p:cNvPr>
          <p:cNvSpPr txBox="1"/>
          <p:nvPr/>
        </p:nvSpPr>
        <p:spPr>
          <a:xfrm>
            <a:off x="688257" y="1242253"/>
            <a:ext cx="673509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Dinamica prede-predatori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Più fattori: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«Paura» delle prede e fattore di «rifugio»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«Risorse aggiuntive» esterne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Risposta funzionale asimmetrica (1 preda consumata != 1 predatore)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Emigrazione dei predatori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Articolo scientifico: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F3A0B6-5A5F-4103-CA68-7D3869F21563}"/>
              </a:ext>
            </a:extLst>
          </p:cNvPr>
          <p:cNvSpPr txBox="1"/>
          <p:nvPr/>
        </p:nvSpPr>
        <p:spPr>
          <a:xfrm>
            <a:off x="1696064" y="5027905"/>
            <a:ext cx="8799871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Effect of the Fear Factor and Prey Refuge in an Asymmetric Predator–Prey Model</a:t>
            </a:r>
          </a:p>
          <a:p>
            <a:pPr algn="ctr"/>
            <a:r>
              <a:rPr lang="en-US" sz="1600" i="1" dirty="0">
                <a:latin typeface="Arial" panose="020B0604020202020204" pitchFamily="34" charset="0"/>
                <a:cs typeface="Arial" panose="020B0604020202020204" pitchFamily="34" charset="0"/>
              </a:rPr>
              <a:t>Rasha M. Yaseen · May M. Helal · Kaushik </a:t>
            </a:r>
            <a:r>
              <a:rPr lang="en-US" sz="1600" i="1" dirty="0" err="1">
                <a:latin typeface="Arial" panose="020B0604020202020204" pitchFamily="34" charset="0"/>
                <a:cs typeface="Arial" panose="020B0604020202020204" pitchFamily="34" charset="0"/>
              </a:rPr>
              <a:t>Dehingia</a:t>
            </a:r>
            <a:r>
              <a:rPr lang="en-US" sz="1600" i="1" dirty="0">
                <a:latin typeface="Arial" panose="020B0604020202020204" pitchFamily="34" charset="0"/>
                <a:cs typeface="Arial" panose="020B0604020202020204" pitchFamily="34" charset="0"/>
              </a:rPr>
              <a:t> · Ahmed A. Mohsen</a:t>
            </a:r>
          </a:p>
          <a:p>
            <a:pPr algn="ct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Brazilian Journal of Physics (2024)</a:t>
            </a:r>
          </a:p>
          <a:p>
            <a:pPr algn="ctr"/>
            <a:r>
              <a:rPr lang="en-US" b="1" i="1" dirty="0">
                <a:latin typeface="Arial" panose="020B0604020202020204" pitchFamily="34" charset="0"/>
                <a:cs typeface="Arial" panose="020B0604020202020204" pitchFamily="34" charset="0"/>
              </a:rPr>
              <a:t>DOI: </a:t>
            </a:r>
            <a:r>
              <a:rPr lang="en-US" b="1" i="1" dirty="0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https://doi.org/10.1007/s13538-024-01594-9</a:t>
            </a:r>
            <a:br>
              <a:rPr lang="en-US" b="1" i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b="1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Picture 10" descr="A group of black and white books">
            <a:extLst>
              <a:ext uri="{FF2B5EF4-FFF2-40B4-BE49-F238E27FC236}">
                <a16:creationId xmlns:a16="http://schemas.microsoft.com/office/drawing/2014/main" id="{D34E898A-D22B-361E-3757-B9958ED766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3355" y="1984705"/>
            <a:ext cx="4601496" cy="2300748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79F9A49-6EAB-475E-F1A0-7281F77EE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609506-6624-4C93-99FC-2FCD7C3B5EE8}" type="datetime1">
              <a:rPr lang="it-IT" smtClean="0"/>
              <a:t>30/12/2025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E3F394-AA29-7D3E-79E3-8E53BC37D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599908-6A31-CACD-4ED7-FFD6629F9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5616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3727E-27C8-3BC2-0BE9-6E847212FD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CAC9E22-B53F-66C9-EC08-8C202BDA41B1}"/>
              </a:ext>
            </a:extLst>
          </p:cNvPr>
          <p:cNvSpPr txBox="1"/>
          <p:nvPr/>
        </p:nvSpPr>
        <p:spPr>
          <a:xfrm>
            <a:off x="688257" y="442035"/>
            <a:ext cx="49911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OBBIETTIVI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8E64B5-1412-B215-45FD-678D251A3117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6B2414-6B16-579D-3FCD-A65D35926A16}"/>
              </a:ext>
            </a:extLst>
          </p:cNvPr>
          <p:cNvSpPr txBox="1"/>
          <p:nvPr/>
        </p:nvSpPr>
        <p:spPr>
          <a:xfrm>
            <a:off x="688256" y="1242253"/>
            <a:ext cx="963430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Implementazione del modello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Con Python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Riproduzione dei risultati con i parametri proposti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Confronto dei risultati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Implementazioni accessorie e esperimenti aggiuntivi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Ciò che non è stato svolto nel paper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3D3DA8-4ED4-1FFD-5BF3-665CBDEC13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3E659-987F-4162-B81F-7A5AC08EB42B}" type="datetime1">
              <a:rPr lang="it-IT" smtClean="0"/>
              <a:t>30/12/2025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1BE40E-DBD2-F0C8-470A-B852777781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F78F72-A646-3A49-DE0A-CCD78E625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4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E0A686-DFD5-2D2F-235D-4DDBFBE48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BE1DB56-ABFB-86C3-626B-9709152BDC02}"/>
              </a:ext>
            </a:extLst>
          </p:cNvPr>
          <p:cNvSpPr txBox="1"/>
          <p:nvPr/>
        </p:nvSpPr>
        <p:spPr>
          <a:xfrm>
            <a:off x="688257" y="442035"/>
            <a:ext cx="45441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2800" b="1" dirty="0"/>
              <a:t>EQUAZIONE DEL MODELLO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F608E6D-59EF-BC53-6D97-AE8E06DBD9BD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8D8418-E939-06EA-511E-2EAAD6F76ED1}"/>
              </a:ext>
            </a:extLst>
          </p:cNvPr>
          <p:cNvSpPr txBox="1"/>
          <p:nvPr/>
        </p:nvSpPr>
        <p:spPr>
          <a:xfrm>
            <a:off x="688257" y="1242253"/>
            <a:ext cx="67350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ODE a due variabili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8D367E-65A4-B583-B623-87BA4BD821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6922" y="1790033"/>
            <a:ext cx="7058154" cy="177226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02FADDF-8C32-1BBD-3859-5B9DE50E6A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1927" y="3562300"/>
            <a:ext cx="4568144" cy="2666862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3BDC0EA-4505-AAFE-85B4-4BED38C2F5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845C1A-9AE7-4CFB-B4BB-FF54D6A71ADB}" type="datetime1">
              <a:rPr lang="it-IT" smtClean="0"/>
              <a:t>30/12/2025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D6902C-A1AD-0D17-FE0F-A6AC2A471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3C6B06-87CC-7D38-FA98-DA670DE27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6967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A4A0F-6F25-08C5-784E-E83B02315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391D8DD-B481-4C6B-4717-5A0CC11A8287}"/>
              </a:ext>
            </a:extLst>
          </p:cNvPr>
          <p:cNvSpPr txBox="1"/>
          <p:nvPr/>
        </p:nvSpPr>
        <p:spPr>
          <a:xfrm>
            <a:off x="688257" y="442035"/>
            <a:ext cx="45441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PUNTI D’EQUILIBRIO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5A1F8A8-B389-92E2-11ED-7FDA9114401C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067131C-4276-79B6-316A-0ECA1B1F2593}"/>
                  </a:ext>
                </a:extLst>
              </p:cNvPr>
              <p:cNvSpPr txBox="1"/>
              <p:nvPr/>
            </p:nvSpPr>
            <p:spPr>
              <a:xfrm>
                <a:off x="688256" y="1242253"/>
                <a:ext cx="7983795" cy="39182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Tre punti d’equilibrio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W0: Punto d’equilibrio di estinzione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X=Y=0</a:t>
                </a:r>
              </a:p>
              <a:p>
                <a:pPr lvl="1"/>
                <a:endParaRPr lang="it-IT" sz="105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W1: Punto d’equilibrio di assenza dei predatori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X=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40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fPr>
                      <m:num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𝑟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−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𝑎</m:t>
                        </m:r>
                      </m:num>
                      <m:den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𝑘</m:t>
                        </m:r>
                      </m:den>
                    </m:f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, Y=0</a:t>
                </a:r>
              </a:p>
              <a:p>
                <a:pPr lvl="1"/>
                <a:endParaRPr lang="it-IT" sz="105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W2: Punto d’equilibrio di coesistenza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Intersezione delle isocline g1, g2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Metodi numerici (fsolve)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067131C-4276-79B6-316A-0ECA1B1F25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6" y="1242253"/>
                <a:ext cx="7983795" cy="3918252"/>
              </a:xfrm>
              <a:prstGeom prst="rect">
                <a:avLst/>
              </a:prstGeom>
              <a:blipFill>
                <a:blip r:embed="rId2"/>
                <a:stretch>
                  <a:fillRect l="-1069" t="-1089" b="-12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38C9A882-9361-4902-3E01-45EEB4A52B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9805" y="5212813"/>
            <a:ext cx="8652388" cy="1359864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9402504-592C-00C0-F28F-9918461FC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CCD83-F29B-4178-A789-3E26EABE1C7A}" type="datetime1">
              <a:rPr lang="it-IT" smtClean="0"/>
              <a:t>30/12/2025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D2A2D0-C8C4-7061-346C-B0C7DD175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1F251D3-0D90-6B83-FD34-5B0132A567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6420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D4FCF-82AB-3C42-97F3-7034E745F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3E6157-C4AE-AA20-58D3-7BDF2E787E20}"/>
              </a:ext>
            </a:extLst>
          </p:cNvPr>
          <p:cNvSpPr txBox="1"/>
          <p:nvPr/>
        </p:nvSpPr>
        <p:spPr>
          <a:xfrm>
            <a:off x="688257" y="442035"/>
            <a:ext cx="577153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PUNTI D’EQUILIBRIO: CONDIZIONI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06D227-FB10-B8F5-CD73-38CAF8192684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6A6D52-8190-5984-7099-CB3DBC5ABC1B}"/>
              </a:ext>
            </a:extLst>
          </p:cNvPr>
          <p:cNvSpPr txBox="1"/>
          <p:nvPr/>
        </p:nvSpPr>
        <p:spPr>
          <a:xfrm>
            <a:off x="688256" y="1242253"/>
            <a:ext cx="7983795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Nel paper: proposti dei «test» per la stabilità </a:t>
            </a:r>
            <a:r>
              <a:rPr lang="it-IT" sz="2800" b="1" dirty="0">
                <a:latin typeface="Arial" panose="020B0604020202020204" pitchFamily="34" charset="0"/>
                <a:cs typeface="Arial" panose="020B0604020202020204" pitchFamily="34" charset="0"/>
              </a:rPr>
              <a:t>locale</a:t>
            </a: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 e globale di alcuni punti d’equilibrio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8BC9BDB6-3720-FBFF-1175-576FA3ADAB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9408" y="2324439"/>
            <a:ext cx="6577058" cy="13250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A619745-CF81-E75F-01A8-EEC41D3DDB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379" y="4141713"/>
            <a:ext cx="5037036" cy="1474034"/>
          </a:xfrm>
          <a:prstGeom prst="rect">
            <a:avLst/>
          </a:prstGeom>
        </p:spPr>
      </p:pic>
      <p:pic>
        <p:nvPicPr>
          <p:cNvPr id="11" name="Picture 10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E544F69D-41B2-CBC9-0B7A-5FC91BE155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908" y="3772977"/>
            <a:ext cx="5627886" cy="2564606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35C0265-C537-1D92-FB35-4AEDBA5F6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441016-63A1-42AC-B939-9B58CF64338C}" type="datetime1">
              <a:rPr lang="it-IT" smtClean="0"/>
              <a:t>30/12/2025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38EF9A-7C04-23AB-0D0F-D77EDED6E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4B6F45D-201E-BE3D-32CD-64B2D1837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1840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FB015-236F-096D-B404-8047166F6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98BBB70-4BF6-C48E-7D0C-F2F2582BA264}"/>
              </a:ext>
            </a:extLst>
          </p:cNvPr>
          <p:cNvSpPr txBox="1"/>
          <p:nvPr/>
        </p:nvSpPr>
        <p:spPr>
          <a:xfrm>
            <a:off x="688257" y="442035"/>
            <a:ext cx="577153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PUNTI D’EQUILIBRIO: CONDIZIONI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1BE814-046A-9F05-4897-03A89BA165F5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E90A87-3AD7-E597-2E37-E829F4647827}"/>
              </a:ext>
            </a:extLst>
          </p:cNvPr>
          <p:cNvSpPr txBox="1"/>
          <p:nvPr/>
        </p:nvSpPr>
        <p:spPr>
          <a:xfrm>
            <a:off x="688256" y="1242253"/>
            <a:ext cx="7983795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Nel paper: proposti dei «test» per la stabilità locale e </a:t>
            </a:r>
            <a:r>
              <a:rPr lang="it-IT" sz="2800" b="1" dirty="0">
                <a:latin typeface="Arial" panose="020B0604020202020204" pitchFamily="34" charset="0"/>
                <a:cs typeface="Arial" panose="020B0604020202020204" pitchFamily="34" charset="0"/>
              </a:rPr>
              <a:t>globale</a:t>
            </a: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 di alcuni punti d’equilibrio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3" name="Picture 12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739026EA-245F-66F3-DFC1-37E0A3FD5B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256" y="2602412"/>
            <a:ext cx="5578258" cy="1653176"/>
          </a:xfrm>
          <a:prstGeom prst="rect">
            <a:avLst/>
          </a:prstGeom>
        </p:spPr>
      </p:pic>
      <p:pic>
        <p:nvPicPr>
          <p:cNvPr id="15" name="Picture 14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959D9A99-E2F4-C395-2A44-604CC1EA42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9794" y="2166095"/>
            <a:ext cx="5470490" cy="1915146"/>
          </a:xfrm>
          <a:prstGeom prst="rect">
            <a:avLst/>
          </a:prstGeom>
        </p:spPr>
      </p:pic>
      <p:pic>
        <p:nvPicPr>
          <p:cNvPr id="17" name="Picture 16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7C6BB18C-1A93-4330-7FF1-6C7748E55A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1298" y="4727907"/>
            <a:ext cx="4290432" cy="1585097"/>
          </a:xfrm>
          <a:prstGeom prst="rect">
            <a:avLst/>
          </a:prstGeom>
        </p:spPr>
      </p:pic>
      <p:pic>
        <p:nvPicPr>
          <p:cNvPr id="2" name="Picture 1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1362303D-F2E9-34D7-AE02-33301F5288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9783" y="4342077"/>
            <a:ext cx="5613462" cy="2073888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A2CBF0-95DC-48D4-2572-EB2D407F4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B55B49-8341-42AA-9537-F1E5653FF438}" type="datetime1">
              <a:rPr lang="it-IT" smtClean="0"/>
              <a:t>30/12/2025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F4C968-B45B-7EB7-B3BD-684553CE32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A56642B-83B9-BBDD-F58C-940881714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23040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311C4-3795-2E81-9EAD-773F0607F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E436853-1A98-74C7-6AF3-2A638A554CEE}"/>
              </a:ext>
            </a:extLst>
          </p:cNvPr>
          <p:cNvSpPr txBox="1"/>
          <p:nvPr/>
        </p:nvSpPr>
        <p:spPr>
          <a:xfrm>
            <a:off x="688257" y="442035"/>
            <a:ext cx="577153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PUNTI D’EQUILIBRIO: CONDIZIONI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F5839F4-775F-7DAA-2804-5B8CD287F4D2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53E520-BB9B-997F-7B8D-7F73EBBE6E54}"/>
              </a:ext>
            </a:extLst>
          </p:cNvPr>
          <p:cNvSpPr txBox="1"/>
          <p:nvPr/>
        </p:nvSpPr>
        <p:spPr>
          <a:xfrm>
            <a:off x="688256" y="1242253"/>
            <a:ext cx="798379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Nel paper: proposti dei «test» per la stabilità locale e globale di alcuni punti d’equilibrio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Obbiettivo: Implementare i test e verificare che funzionino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9CDAC3-2215-8FE6-C245-09209ADB5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82B6C-FF82-4F52-8DBB-5FB157E26F63}" type="datetime1">
              <a:rPr lang="it-IT" smtClean="0"/>
              <a:t>30/12/2025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E54C18-38C3-8038-FCFF-FBBC9759C4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9A9E8-D01E-67C2-931C-BA005F2DB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9627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2A9BA-5805-9D04-E204-7C7F76A5D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B85787D-45A4-A2E5-5B2C-B76D23295D2E}"/>
              </a:ext>
            </a:extLst>
          </p:cNvPr>
          <p:cNvSpPr txBox="1"/>
          <p:nvPr/>
        </p:nvSpPr>
        <p:spPr>
          <a:xfrm>
            <a:off x="688257" y="442035"/>
            <a:ext cx="45441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PARAMETRI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EE3D087-4C3C-CD56-67B9-CA955C5B6B48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2AD28E0-95C7-B671-EA20-F641E6B270F5}"/>
                  </a:ext>
                </a:extLst>
              </p:cNvPr>
              <p:cNvSpPr txBox="1"/>
              <p:nvPr/>
            </p:nvSpPr>
            <p:spPr>
              <a:xfrm>
                <a:off x="688257" y="1242253"/>
                <a:ext cx="6735098" cy="48936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Parametri proposti: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Variazioni individuali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0: nada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1: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𝑑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=0.2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2: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𝑟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=0.002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3: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𝑟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=1.2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f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=0.5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𝑎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=0.4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4: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𝑘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=0.03, 0.0003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5: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𝑒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=0.005, 0.4, 0.7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6: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𝑚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=0.1, 0.25, 0.9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2AD28E0-95C7-B671-EA20-F641E6B270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242253"/>
                <a:ext cx="6735098" cy="4893647"/>
              </a:xfrm>
              <a:prstGeom prst="rect">
                <a:avLst/>
              </a:prstGeom>
              <a:blipFill>
                <a:blip r:embed="rId2"/>
                <a:stretch>
                  <a:fillRect l="-1267" t="-872" b="-19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2678160E-EA03-704B-3D41-7A9490F233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5233" y="1703918"/>
            <a:ext cx="6621532" cy="133419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2D61C79-F204-6CF4-13CA-732C09B8B500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Riproduzione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6889BB-5A95-B1E2-6295-EC7F00A50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D5E0C-B568-4CE8-9D10-8B739A803584}" type="datetime1">
              <a:rPr lang="it-IT" smtClean="0"/>
              <a:t>30/12/2025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58BAF1-AF64-079F-5229-460CF5B64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DABA7F1-7DC5-4666-91FC-19BCF9883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306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C1407-7F3D-0C56-D370-740285DC4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4B9DCAF-EBA1-6A30-4917-0DCF76E2332D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SECONDO IL PAPER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58EBDD-964C-07FA-E24B-477E6E4847D1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C67B88-1CAA-66E4-C897-C0F1FB28C201}"/>
              </a:ext>
            </a:extLst>
          </p:cNvPr>
          <p:cNvSpPr txBox="1"/>
          <p:nvPr/>
        </p:nvSpPr>
        <p:spPr>
          <a:xfrm>
            <a:off x="688257" y="1147031"/>
            <a:ext cx="8288595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0: W2 esiste ed è GAS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1: W1 è GAS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2: W0 è GAS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3: Cicli limite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4: W2 GAS per k «grandi», W1 gas per k «piccoli»; cicli limite per epsilon «piccoli»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5: W2 per e piccoli, W1 per e «intermedi» e clicli limite per e «grandi»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6: meno predatori per m più grande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6FC90B2-4911-9B9D-5A25-7D2058CE2756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Riproduzione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F446B3F-C9D6-4636-C312-27288D6CA8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7D956-8483-48F0-B072-75AF7025ADAB}" type="datetime1">
              <a:rPr lang="it-IT" smtClean="0"/>
              <a:t>30/12/2025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8CA5B5-971E-48A8-D742-D1D6E5E26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F24FF1-F6C1-419D-6F3D-940B6066C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77292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C0431-0AB3-F77F-566E-4B9CF6348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272F745-6616-B2F2-E21B-7DFF699640EF}"/>
              </a:ext>
            </a:extLst>
          </p:cNvPr>
          <p:cNvSpPr txBox="1"/>
          <p:nvPr/>
        </p:nvSpPr>
        <p:spPr>
          <a:xfrm>
            <a:off x="688257" y="442035"/>
            <a:ext cx="57420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ESEMPI (selezionati) DI RISULTATI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1CB0BB-4A2F-1D61-87D7-7F648C57868E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FF9FB1-0FBB-FFB5-95EB-58B7FEEBF26A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Riproduzione dei risultati</a:t>
            </a:r>
          </a:p>
        </p:txBody>
      </p:sp>
      <p:pic>
        <p:nvPicPr>
          <p:cNvPr id="5" name="Picture 4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CC1AF1D3-A3B9-9EE7-EB0F-CCA3A8ECFE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308" y="1638145"/>
            <a:ext cx="8329382" cy="358171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6C4089-FE40-029D-72F0-3F33CF96F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D458A-1DE7-4BA5-AF5A-3746645FA5DB}" type="datetime1">
              <a:rPr lang="it-IT" smtClean="0"/>
              <a:t>30/12/2025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1D5796-009F-4FB3-876F-1E72E39099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75410E-20B5-BE1F-45CE-AB8242380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2905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450F0-C6D6-1855-DD34-8E0E8A07B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B75270-BB3E-88B6-BEC2-3DCB5103554B}"/>
              </a:ext>
            </a:extLst>
          </p:cNvPr>
          <p:cNvSpPr txBox="1"/>
          <p:nvPr/>
        </p:nvSpPr>
        <p:spPr>
          <a:xfrm>
            <a:off x="688257" y="442035"/>
            <a:ext cx="57420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ESEMPI (selezionati) DI RISULTATI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3C8D455-B3BB-40D3-EC36-98FDC4B5EDCB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E5892E-8EC7-138E-DCC7-326DB810A840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Riproduzione dei risultati</a:t>
            </a:r>
          </a:p>
        </p:txBody>
      </p:sp>
      <p:pic>
        <p:nvPicPr>
          <p:cNvPr id="6" name="Picture 5" descr="A group of graphs with different colors&#10;&#10;AI-generated content may be incorrect.">
            <a:extLst>
              <a:ext uri="{FF2B5EF4-FFF2-40B4-BE49-F238E27FC236}">
                <a16:creationId xmlns:a16="http://schemas.microsoft.com/office/drawing/2014/main" id="{DC687D9B-315C-C65E-0085-FDE215804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2011" y="1426920"/>
            <a:ext cx="6187976" cy="4816257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6F18AC1-5DE0-48C0-449D-9E6754898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73BDE-955B-4E08-A876-9008EBC2E5D9}" type="datetime1">
              <a:rPr lang="it-IT" smtClean="0"/>
              <a:t>30/12/2025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B8CA9-BABA-9778-DB1A-E8EE6F4D0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2A81A3-B678-294E-AA6D-4E0C49642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43172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6954A-AA7D-8F4D-5329-13B7E38AD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4A663B9-820B-B0E5-FB9A-7C8D6DA24DD6}"/>
              </a:ext>
            </a:extLst>
          </p:cNvPr>
          <p:cNvSpPr txBox="1"/>
          <p:nvPr/>
        </p:nvSpPr>
        <p:spPr>
          <a:xfrm>
            <a:off x="688257" y="442035"/>
            <a:ext cx="57420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ESEMPI (selezionati) DI RISULTATI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FF7F1AE-A981-0DE1-3B8F-3562054A01F3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510718-E9DA-374A-5B2F-A3754C324383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Riproduzione dei risultati</a:t>
            </a:r>
          </a:p>
        </p:txBody>
      </p:sp>
      <p:pic>
        <p:nvPicPr>
          <p:cNvPr id="5" name="Picture 4" descr="A group of graphs with different colors&#10;&#10;AI-generated content may be incorrect.">
            <a:extLst>
              <a:ext uri="{FF2B5EF4-FFF2-40B4-BE49-F238E27FC236}">
                <a16:creationId xmlns:a16="http://schemas.microsoft.com/office/drawing/2014/main" id="{2D78DDCB-6BB7-DC52-2C96-45A30F3781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9665" y="1520782"/>
            <a:ext cx="5852667" cy="4740051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9EB2DAB-3681-44D7-3171-493A72B47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77CAD-8672-4530-9999-911CF4F320CA}" type="datetime1">
              <a:rPr lang="it-IT" smtClean="0"/>
              <a:t>30/12/2025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66014F-5003-48C8-1105-7E71707E7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D963C8-5380-3EFE-D4AE-C25881A2A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2874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F276B-D53A-D4EB-435C-5F5923613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AB18FA9-FC5D-B538-7232-2788B44B7877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CONFRONTO DEI RISULTATI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32A116B-1487-BCD9-A22F-4DE5B79713E3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F244F8-11C6-5014-50B5-4D33F89A39A6}"/>
              </a:ext>
            </a:extLst>
          </p:cNvPr>
          <p:cNvSpPr txBox="1"/>
          <p:nvPr/>
        </p:nvSpPr>
        <p:spPr>
          <a:xfrm>
            <a:off x="688257" y="1257642"/>
            <a:ext cx="8288595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Maggior parte: risultati confermati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Tuttavia...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Alcuni risultati inconsistenti 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Alcuni risultati non replicabili</a:t>
            </a:r>
          </a:p>
          <a:p>
            <a:pPr lvl="1"/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Vediamo subito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F84AA6-E879-C6BC-54DE-FDC21DACB348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0DB329-3CCE-4F30-21E6-56D490C155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AF2A43-5120-4B7D-95A3-344374AC366D}" type="datetime1">
              <a:rPr lang="it-IT" smtClean="0"/>
              <a:t>30/12/2025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D6BCE6-7521-E6FC-9121-FC8F15B94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303E4-3167-FC58-B2DA-4F1D8E588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81186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C17E0E-AE97-F13E-620E-0CBC1E3B9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58BAD74-1C4B-F1EE-8FB8-9A08373A7B2E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CONSISTENTI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EFD6AF4-F8C5-F991-8E66-4486571B84D8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C4D47C-A653-DC7D-546F-EE8C6CCE931C}"/>
              </a:ext>
            </a:extLst>
          </p:cNvPr>
          <p:cNvSpPr txBox="1"/>
          <p:nvPr/>
        </p:nvSpPr>
        <p:spPr>
          <a:xfrm>
            <a:off x="688257" y="1257642"/>
            <a:ext cx="82885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Gli esperimenti 0, 1, 2, 5, 6 erano consistenti col paper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Esempio: Esperimento 0 (paper)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10CDA77-DFD5-7449-721C-0C1EEC85DB78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pic>
        <p:nvPicPr>
          <p:cNvPr id="6" name="Picture 5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58917909-DD92-5D4D-1109-96ED5E4FF4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379" y="2238325"/>
            <a:ext cx="10009240" cy="432341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6DBB2FE-76E9-D83A-5B65-74F2C2BF88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6AD3B8-A5F2-4012-A800-E9DABE61F30B}" type="datetime1">
              <a:rPr lang="it-IT" smtClean="0"/>
              <a:t>30/12/2025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1D42E8-18BC-269E-32BF-37E498C6BF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C978F7B-49B7-F6FD-5D94-589EC56034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6242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B9EBC-E960-80F8-4F38-DE4B7C8E5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3A99946-3FA8-411E-1F48-FD34A6944862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CONSISTENTI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6EEA687-C59E-7030-1D94-51E5843E548B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42E841-85E9-5FF2-60D6-1574D81FA1B3}"/>
              </a:ext>
            </a:extLst>
          </p:cNvPr>
          <p:cNvSpPr txBox="1"/>
          <p:nvPr/>
        </p:nvSpPr>
        <p:spPr>
          <a:xfrm>
            <a:off x="688257" y="1257642"/>
            <a:ext cx="82885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Gli esperimenti 0, 1, 2, 5, 6 erano consistenti col paper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Esempio: Esperimento 0 (mio)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BACEA1-240E-D3D7-F3F2-AF893C247B28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pic>
        <p:nvPicPr>
          <p:cNvPr id="2" name="0_0">
            <a:hlinkClick r:id="" action="ppaction://media"/>
            <a:extLst>
              <a:ext uri="{FF2B5EF4-FFF2-40B4-BE49-F238E27FC236}">
                <a16:creationId xmlns:a16="http://schemas.microsoft.com/office/drawing/2014/main" id="{AAEA3DFA-6895-ED91-D3AE-2696E3665B2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528914" y="2325340"/>
            <a:ext cx="9134170" cy="3914644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FFB836-DAC2-9267-C2C5-F936165DC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BD75C-8A8B-4E75-8D28-95927EC03BF3}" type="datetime1">
              <a:rPr lang="it-IT" smtClean="0"/>
              <a:t>30/12/2025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1F957D-84CF-9D72-2976-E12DF3928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5BF30A-8419-AA8E-8F24-C09FCE784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691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1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78673-4825-EC4B-F4F7-BF51030C5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2CA64F-8E26-E4B7-CAB5-F5EDB878072C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RISULTATO INCONSISTENTE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11FC2B3-3748-019D-1903-91D4ADDF4F0F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4609ED0-6A3E-6E1B-3C35-51BC913134D4}"/>
                  </a:ext>
                </a:extLst>
              </p:cNvPr>
              <p:cNvSpPr txBox="1"/>
              <p:nvPr/>
            </p:nvSpPr>
            <p:spPr>
              <a:xfrm>
                <a:off x="688257" y="1257642"/>
                <a:ext cx="10028904" cy="37856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0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W2 determinato con le isocline del paper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≠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W2 determinato nell’esperimento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Nel paper: solo l’approssimazione (33,18)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Simulazione: 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Secondo l’algoritmo (33.705..., 18.230...)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Secondo la simulazione (32.929..., 18.185...)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Implementato altre isocline, risultati più consistenti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4609ED0-6A3E-6E1B-3C35-51BC913134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257642"/>
                <a:ext cx="10028904" cy="3785652"/>
              </a:xfrm>
              <a:prstGeom prst="rect">
                <a:avLst/>
              </a:prstGeom>
              <a:blipFill>
                <a:blip r:embed="rId2"/>
                <a:stretch>
                  <a:fillRect l="-851" t="-1127" b="-28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A6C94292-CE88-EE37-B1D4-09B5FA704EDF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396841-2BC8-A799-FB68-877EE9A5A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2901C-25D2-4418-A5A0-267BB4E58730}" type="datetime1">
              <a:rPr lang="it-IT" smtClean="0"/>
              <a:t>30/12/2025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E8182E-3E51-D74B-1591-7FC530F345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DAB016-2E55-8FF2-1B10-330CFE264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5109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C9857-1A52-1072-F295-5D0148F30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7A2403C-D09D-3F27-55BF-7DC6795B12D0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RISULTATO INCONSISTENTE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290CE3-5ED5-8A21-4C29-85A33BA673DF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CFA2C9-7EE8-1CF1-F197-18AD1CAD4799}"/>
                  </a:ext>
                </a:extLst>
              </p:cNvPr>
              <p:cNvSpPr txBox="1"/>
              <p:nvPr/>
            </p:nvSpPr>
            <p:spPr>
              <a:xfrm>
                <a:off x="688257" y="1257642"/>
                <a:ext cx="10028904" cy="26776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4 (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𝑘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=0.0003</m:t>
                    </m:r>
                    <m:r>
                      <a:rPr lang="it-IT" sz="2400" b="0" i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)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Algoritmo implementato: W1 determinato è (6600, 0)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Ha senso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Paper: W1 dichiarato è (2.6, 0)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Impossibile con i parametri proposti...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CFA2C9-7EE8-1CF1-F197-18AD1CAD47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257642"/>
                <a:ext cx="10028904" cy="2677656"/>
              </a:xfrm>
              <a:prstGeom prst="rect">
                <a:avLst/>
              </a:prstGeom>
              <a:blipFill>
                <a:blip r:embed="rId2"/>
                <a:stretch>
                  <a:fillRect l="-851" t="-1591" b="-43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7577F87D-77B1-C1CB-21C2-9B1FF11224E1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AAFD971-C78C-6A6E-EFC5-E78A9480D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62A29-0D40-4C95-BBC3-4CE9585C45D0}" type="datetime1">
              <a:rPr lang="it-IT" smtClean="0"/>
              <a:t>30/12/2025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AD37AF-82E5-70BF-06D3-C8D708DB9E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9B7FBD-B10B-3C8A-DB5B-8ADFBA750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6695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B5F63-A6FA-B93E-7CB0-0794D0ECF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52E7892-5688-0F45-971F-A76C6C5950C5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RISULTATO IRRIPRODUCIBILE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EF79662-FF70-67AA-B77A-E15BA9B9E321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4CE18C-7C78-0931-96B4-3F0A6C387C6A}"/>
              </a:ext>
            </a:extLst>
          </p:cNvPr>
          <p:cNvSpPr txBox="1"/>
          <p:nvPr/>
        </p:nvSpPr>
        <p:spPr>
          <a:xfrm>
            <a:off x="688257" y="1257642"/>
            <a:ext cx="1002890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3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Ci sono cicli limite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... Tuttavia le forme (e le scale) sono diverse!!!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AF3B11-A705-CC0C-A494-727CDDCEB863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pic>
        <p:nvPicPr>
          <p:cNvPr id="5" name="Picture 4" descr="A graph of a function&#10;&#10;AI-generated content may be incorrect.">
            <a:extLst>
              <a:ext uri="{FF2B5EF4-FFF2-40B4-BE49-F238E27FC236}">
                <a16:creationId xmlns:a16="http://schemas.microsoft.com/office/drawing/2014/main" id="{13BAC56E-B8B8-BF96-3FCC-DEA5B5C847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8510" y="2934443"/>
            <a:ext cx="7854978" cy="3409062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B35BDF-3E2C-FF4F-E5DF-183A1D2EB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91BEE-CBDC-4E52-BEE4-6FA4559C220C}" type="datetime1">
              <a:rPr lang="it-IT" smtClean="0"/>
              <a:t>30/12/2025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EFB2F6-531F-BBA0-FBCB-39DB87F8C8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FE45285-0787-3EA9-02EC-2491CF838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7581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D25D6-DF3E-3A97-3D95-1AF6E2697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3B57647-AFEA-49E4-DC17-3F73C7EFD82D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RISULTATO IRRIPRODUCIBILE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116D3D-FD7A-FFED-460F-9F3A48DFE0CF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7B5244-9BC4-7A7B-CD78-3D99A832B7AA}"/>
              </a:ext>
            </a:extLst>
          </p:cNvPr>
          <p:cNvSpPr txBox="1"/>
          <p:nvPr/>
        </p:nvSpPr>
        <p:spPr>
          <a:xfrm>
            <a:off x="688257" y="1257642"/>
            <a:ext cx="10028904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Test di stabilità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Tutti i test di stabilità non sono affidabili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Esempio: 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Problema: Se x1 &gt; 1, allora chiaramente 1-x1 &lt; 0 e quindi la seconda equazione è sicuramente soddisfatta in quanto psi è positiva</a:t>
            </a:r>
          </a:p>
          <a:p>
            <a:pPr marL="1200150" lvl="2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Ridondanza, è «sempre vera»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F03D98-FD92-19A8-6C74-C69617A2B6A7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pic>
        <p:nvPicPr>
          <p:cNvPr id="2" name="Picture 1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3A0F69CA-E6C0-F97A-9B5F-4308350720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239" y="2410783"/>
            <a:ext cx="5816940" cy="2036434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A809DB-3D3D-8914-0886-852390D12D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A915D-2BA8-4F27-943A-17EA02CCA069}" type="datetime1">
              <a:rPr lang="it-IT" smtClean="0"/>
              <a:t>30/12/2025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7EC52C-B23D-BCB5-E5AF-A85DD77BE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F26B32F-7F49-17DD-9E16-FF42F586D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7712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0ECB2B-DC3A-AED2-DE99-71ADF792F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5428316-75AB-D183-4E4E-D0605625A833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RISULTATO IRRIPRODUCIBILE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67F6A2-35D7-0C65-9C42-0C4D29A2636D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28E273-BF7E-5A38-FF53-C27C8435D32D}"/>
              </a:ext>
            </a:extLst>
          </p:cNvPr>
          <p:cNvSpPr txBox="1"/>
          <p:nvPr/>
        </p:nvSpPr>
        <p:spPr>
          <a:xfrm>
            <a:off x="688257" y="1257642"/>
            <a:ext cx="1002890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Test di stabilità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Alternativa (solo per la stabilità locale):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Calcoliamo direttamente gli autovalori della Jacobiana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8ED580-8CEF-579E-F95E-8256EB094D11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EDB870E-656D-F110-C16F-A80E269133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6AB137-0A56-4868-923D-646D7C7CC445}" type="datetime1">
              <a:rPr lang="it-IT" smtClean="0"/>
              <a:t>30/12/2025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008A38-BBDC-13DF-A25D-5DE1CB1D03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79D57B-FEE5-1526-32C4-1589F6092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5668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77452-60A4-53B8-652D-008E4EA9F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99C2578-8874-C74D-3E16-6FF3FE3DA224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APPROFONDIMENTO SU W2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377C2D9-F7F5-E652-0366-A39F3F7302A3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DC62C6-31C1-2703-CF00-528C89686729}"/>
              </a:ext>
            </a:extLst>
          </p:cNvPr>
          <p:cNvSpPr txBox="1"/>
          <p:nvPr/>
        </p:nvSpPr>
        <p:spPr>
          <a:xfrm>
            <a:off x="688257" y="1257642"/>
            <a:ext cx="1002890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Test della stabilità con la Jacobiana: W2 rimane «NOT LAS» con i parametri del primo esperimento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Il paper dichiarava che è LAS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Secondo la simulazione lo è «apparentemente»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Risultato inconsistente: rifatto l’esperimento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Prolungato la simulazione (T=600), 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Zoom su W2 nel grafico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9FD846-B850-2EE9-2713-55B4018AB9AE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390EF2-A2B8-BBB5-966B-44A83DF616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21B3C-0FEB-4362-9619-5D2FABF53E43}" type="datetime1">
              <a:rPr lang="it-IT" smtClean="0"/>
              <a:t>30/12/2025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21B956-4499-3184-8C33-996D0739C5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2BBE54-F7B0-EA44-F857-F163C5680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87654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2A180-B4A3-A9EB-9C6B-97B7E648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5B1847E-2437-275D-BC8A-1158C45A42FE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APPROFONDIMENTO SU W2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639D59-BF8C-D069-2A3D-938ED69BB493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D9922D-1633-0551-E062-C52E3F0E267A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pic>
        <p:nvPicPr>
          <p:cNvPr id="5" name="Picture 4" descr="zoom&#10;">
            <a:extLst>
              <a:ext uri="{FF2B5EF4-FFF2-40B4-BE49-F238E27FC236}">
                <a16:creationId xmlns:a16="http://schemas.microsoft.com/office/drawing/2014/main" id="{0F4CA354-112B-69A1-F4D0-D8CCD55A8A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655" y="1593242"/>
            <a:ext cx="8986688" cy="4421542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4BA93B-ECEE-4F15-D94B-C334B01275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984578-FC4A-4BC5-A56E-8C608487780F}" type="datetime1">
              <a:rPr lang="it-IT" smtClean="0"/>
              <a:t>30/12/2025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233D3A-3D73-C032-F75B-02CE82B299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AEDF5E-071A-9EF2-4F0B-F1A2F9CEFA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30385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FE9A4-6EA0-3AB3-6F89-BE1990D2F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7B0DD3E-4157-B76F-9987-D1CD9DC5873B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APPROFONDIMENTO SU W2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F43595-52D0-D7A0-717D-FDCAAB81CCE5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A882A3-E78C-B2BA-6C34-867AB5F7AA15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229A26A-3C47-D1AB-FDA1-B2AF227D8AB0}"/>
              </a:ext>
            </a:extLst>
          </p:cNvPr>
          <p:cNvSpPr txBox="1"/>
          <p:nvPr/>
        </p:nvSpPr>
        <p:spPr>
          <a:xfrm>
            <a:off x="688257" y="1257642"/>
            <a:ext cx="1002890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Implicazioni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In realtà W2 non era mai LAS</a:t>
            </a:r>
          </a:p>
          <a:p>
            <a:pPr marL="1200150" lvl="2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A discapito delle apparenze e quanto proposto nel paper</a:t>
            </a:r>
          </a:p>
          <a:p>
            <a:pPr marL="1200150" lvl="2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Per confermare che non sia noise dovuto al risolutore: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Rieffettuato l’esperimento con metodi numerici diversi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Stessi risultati, confermato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D846B0-B38C-A692-E9A3-FFA97B6038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77C2B-364A-4D71-8BAD-691E9BD64FFE}" type="datetime1">
              <a:rPr lang="it-IT" smtClean="0"/>
              <a:t>30/12/2025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469EB7-D049-4D97-ECD0-F3AE4915C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F40AED-F76D-795E-5333-A4B8146683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3930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630C4-A2E7-4675-A543-9FEFEB48C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A900290-CEF3-1C84-ED74-6C905D2E8C39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ULTERIORI SPERIMENTAZIONI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296E94F-3EDF-85B5-9FE9-C83560FAD80A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8E974E-5D79-EAAD-8215-1CA8EB2ACDE4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0B97E06-7102-F81F-5051-50DE12775BFD}"/>
                  </a:ext>
                </a:extLst>
              </p:cNvPr>
              <p:cNvSpPr txBox="1"/>
              <p:nvPr/>
            </p:nvSpPr>
            <p:spPr>
              <a:xfrm>
                <a:off x="688257" y="1257642"/>
                <a:ext cx="10028904" cy="45243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Altre cose che ho fatto in più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Disegno del campo vettoriale del modello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Utile per «intuire» l’analisi della stabilità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Altre sperimentazioni con altri parametri: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Non visti/modificati nel paper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Fattore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αθ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Fattore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𝜎</m:t>
                    </m:r>
                  </m:oMath>
                </a14:m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Cosa succede al modello? Come viene influenzata la stabilità?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Strumento: diagramma di biforcazione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Calcoliamo 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W2 «passo passo»</a:t>
                </a:r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0B97E06-7102-F81F-5051-50DE12775B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257642"/>
                <a:ext cx="10028904" cy="4524315"/>
              </a:xfrm>
              <a:prstGeom prst="rect">
                <a:avLst/>
              </a:prstGeom>
              <a:blipFill>
                <a:blip r:embed="rId2"/>
                <a:stretch>
                  <a:fillRect l="-851" t="-943" b="-2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7E0F7C-1668-FDA7-9EF0-021890FEC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30/12/2025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A5CFCE-A70D-F477-FB32-EC44EEBCE3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C4F433-73F9-6ECE-A411-3A85C2F9B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3971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1180</Words>
  <Application>Microsoft Office PowerPoint</Application>
  <PresentationFormat>Widescreen</PresentationFormat>
  <Paragraphs>254</Paragraphs>
  <Slides>25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Aptos</vt:lpstr>
      <vt:lpstr>Aptos Display</vt:lpstr>
      <vt:lpstr>Arial</vt:lpstr>
      <vt:lpstr>Cambria Math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MENG DINO [SM3201466]</dc:creator>
  <cp:lastModifiedBy>MENG DINO [SM3201466]</cp:lastModifiedBy>
  <cp:revision>8</cp:revision>
  <dcterms:created xsi:type="dcterms:W3CDTF">2025-12-30T16:32:43Z</dcterms:created>
  <dcterms:modified xsi:type="dcterms:W3CDTF">2025-12-30T18:09:14Z</dcterms:modified>
</cp:coreProperties>
</file>