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7" r:id="rId2"/>
    <p:sldId id="258" r:id="rId3"/>
    <p:sldId id="260" r:id="rId4"/>
    <p:sldId id="259" r:id="rId5"/>
    <p:sldId id="292" r:id="rId6"/>
    <p:sldId id="263" r:id="rId7"/>
    <p:sldId id="268" r:id="rId8"/>
    <p:sldId id="269" r:id="rId9"/>
    <p:sldId id="270" r:id="rId10"/>
    <p:sldId id="261" r:id="rId11"/>
    <p:sldId id="262" r:id="rId12"/>
    <p:sldId id="264" r:id="rId13"/>
    <p:sldId id="265" r:id="rId14"/>
    <p:sldId id="266" r:id="rId15"/>
    <p:sldId id="267" r:id="rId16"/>
    <p:sldId id="287" r:id="rId17"/>
    <p:sldId id="281" r:id="rId18"/>
    <p:sldId id="291" r:id="rId19"/>
    <p:sldId id="290" r:id="rId20"/>
    <p:sldId id="271" r:id="rId21"/>
    <p:sldId id="272" r:id="rId22"/>
    <p:sldId id="273" r:id="rId23"/>
    <p:sldId id="274" r:id="rId24"/>
    <p:sldId id="275" r:id="rId25"/>
    <p:sldId id="295" r:id="rId26"/>
    <p:sldId id="298" r:id="rId27"/>
    <p:sldId id="297" r:id="rId28"/>
    <p:sldId id="299" r:id="rId29"/>
    <p:sldId id="286" r:id="rId30"/>
    <p:sldId id="282" r:id="rId31"/>
    <p:sldId id="284" r:id="rId32"/>
    <p:sldId id="285" r:id="rId33"/>
    <p:sldId id="293" r:id="rId34"/>
    <p:sldId id="300" r:id="rId35"/>
    <p:sldId id="302" r:id="rId36"/>
    <p:sldId id="294" r:id="rId37"/>
    <p:sldId id="301" r:id="rId38"/>
    <p:sldId id="303" r:id="rId39"/>
    <p:sldId id="310" r:id="rId40"/>
    <p:sldId id="311" r:id="rId41"/>
    <p:sldId id="304" r:id="rId42"/>
    <p:sldId id="307" r:id="rId43"/>
    <p:sldId id="312" r:id="rId44"/>
    <p:sldId id="305" r:id="rId45"/>
    <p:sldId id="306" r:id="rId46"/>
    <p:sldId id="308" r:id="rId47"/>
    <p:sldId id="309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086CB-A695-49D9-8C2E-9873859BCA4A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80E1E-2258-41D2-8B32-8E87B6056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08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A1B7-DB72-A681-2033-56C8C70BE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4B660-CAF4-3219-EB44-792D929C4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15C1E-3914-AB6B-3CA2-EA5E6FCF4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9E74-BB92-43A1-93A9-56899A08A8EA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FD7B1-FB33-F83A-27B1-BDF1D7D2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91F03-8979-70F2-ECEA-6E3384D1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39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F1C7A-10E1-DD26-45F1-4B3C9B690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1CD10-3BB0-8EA8-6623-6B9FCC23F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DDC0A-3B65-F5D7-C477-4A4E3B5D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E7E5C-3220-4614-A522-AFD916A4C527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96670-8629-CDBD-2385-84818632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24927-65FB-51BA-8102-D4AEEBD1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4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6355-A4DA-DB3D-D25D-6CE74C95C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4B1C1-1CF7-C71A-0FBE-4EF3DAC4D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ECB99-27F5-4A28-9842-289C6349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B044-EFFF-4CBD-97F7-2F91E5899AD1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A4995-9159-6B08-17FD-DE7E17BA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96CB5-B0F0-E3AA-073C-B5C64DF4E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37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6A3E-5A1B-F5FD-FACF-8DA04D63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9B25C-4928-214B-363E-487C1DBD4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98C1E-39AA-0188-CC22-64D81BB82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7D118-BF47-AF47-352E-5B09110F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58A1C-7692-454B-B2B0-19CF8E1B29B2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8DA9D-DE52-9BBD-E0FF-BFDBA75F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8C15E-C400-FEFF-1290-A6DEB68A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65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3AC29-F777-E2F6-16AE-EAE703C75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4ABF2-2425-958C-9323-803F873CA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46DEF-E969-0793-D297-F9CF74163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90DF9C-102E-D80A-7E68-CF7369D755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D20BAF-76DE-0BC8-D083-C8C1313B6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A01325-3495-2498-3DA1-878A08F0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4287-8B58-4D94-B233-149ADA4285AB}" type="datetime1">
              <a:rPr lang="it-IT" smtClean="0"/>
              <a:t>10/01/2026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A206E-ACE8-AB81-0614-4989B20BB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BF2F3-2087-D1AA-3AA9-CEAEFCDF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7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0C88-BBC7-C2F0-B41C-FA324875D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876B24-8A07-0D3B-CB49-BCAF2E5C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9EFB-7A72-40B7-8B4E-23EC3F3D9178}" type="datetime1">
              <a:rPr lang="it-IT" smtClean="0"/>
              <a:t>10/01/2026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32E46-E76A-2D8B-743D-BBD66FB26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486C1-36B7-5697-C9AD-1B40273A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05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C0781-351F-4D4C-BBB9-40C29E859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B6C92-C1CD-4F55-ADFF-59EB1DF3CE0B}" type="datetime1">
              <a:rPr lang="it-IT" smtClean="0"/>
              <a:t>10/01/2026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553ED-EBCD-5BED-7D87-958BE8938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DFE19-4251-A3FE-2B05-768E712BC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0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70CCE-E24A-1368-158C-9CC2A1E7F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CD1A9-79B9-04C4-183A-ABEB42673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7F018-9907-24DA-67B7-AB78A72C0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C5A86-BBB9-9C51-C388-1BD0B6BE9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A038-0D44-4453-9D70-4F5E44A505EF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BF32C-3944-3316-33E6-6520F9301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B70AE-F95D-5837-B650-BC5DBA79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0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69E1-1BA9-4E0A-C9EC-830BF45DB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6A815-0A97-9B72-B7E9-1F937307FB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6C0D3-4315-8005-460D-1DA6294A7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6B32C-81D8-D1AD-CD17-94017958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DD4DD-220B-420A-80A9-E353ADB19088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3E62C-C7E7-F97A-57F4-80205B29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191FD-C317-CE02-809C-87ADAE13D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5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97DD-A9F9-7404-38EB-6D12A4D4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9CE41-6887-02C4-30C1-A65B22E7A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9D0E2-F731-2F81-F96B-81FBEB95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FB06-37EE-426F-B4C2-4056D956FFB6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3CAE9-F861-789E-BBEA-4F67F753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5167-1BA4-811F-4D8A-8C4D653A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01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D30D08-8BAB-44ED-5615-BB6125B95A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773AC-82A3-EC34-0644-68E57B827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10FFD-020E-B0BC-72DD-C7C8C51EF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66374-9FAD-424A-A417-2FC77F42A162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FC030-3D6A-25C0-7668-21CEF0ED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DB095-E1C3-DD27-F709-E521831AC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72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04014F-349A-6C80-8E2C-CB5615472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3B1D5-9190-A3C1-E196-50D937185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5195C-BEFC-41CB-0ED4-891EA0B80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CF47F-4A45-43A2-A4A7-840A2C11A772}" type="datetime1">
              <a:rPr lang="it-IT" smtClean="0"/>
              <a:t>10/01/2026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904F7-082A-3B23-6CDC-E8FE417FF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nn-NO"/>
              <a:t>DINO MENG [SM3201466], BsC AIDA@MIGE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20877-A428-08AA-89EF-8267193D6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32AC9-143A-477E-841D-1F801B7F8F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85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i.org/10.1007/s13538-024-01594-9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9052F-BD7A-1D1B-43D1-C9EDE9616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33497BF-796B-A4A2-27A7-D594593D9E44}"/>
              </a:ext>
            </a:extLst>
          </p:cNvPr>
          <p:cNvSpPr txBox="1"/>
          <p:nvPr/>
        </p:nvSpPr>
        <p:spPr>
          <a:xfrm>
            <a:off x="0" y="2028616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/>
              <a:t>PROGETTO SISTEMI COMPLESSI</a:t>
            </a:r>
          </a:p>
          <a:p>
            <a:pPr algn="ctr"/>
            <a:endParaRPr lang="it-IT" sz="4400" b="1" dirty="0"/>
          </a:p>
          <a:p>
            <a:pPr algn="ctr"/>
            <a:endParaRPr lang="en-US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E88BC2-BB4A-9967-895D-53C032476E89}"/>
              </a:ext>
            </a:extLst>
          </p:cNvPr>
          <p:cNvSpPr txBox="1"/>
          <p:nvPr/>
        </p:nvSpPr>
        <p:spPr>
          <a:xfrm>
            <a:off x="747252" y="27211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dirty="0"/>
              <a:t>DINO MENG [SM3201466]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AAD7C6-C278-936E-9D63-9403940955C9}"/>
              </a:ext>
            </a:extLst>
          </p:cNvPr>
          <p:cNvSpPr/>
          <p:nvPr/>
        </p:nvSpPr>
        <p:spPr>
          <a:xfrm>
            <a:off x="1720645" y="1728330"/>
            <a:ext cx="8524568" cy="1156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430C8-B4FE-BEF8-15C2-7DBA6F32E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E00E-772D-4437-B382-3CBA9B54C360}" type="datetime1">
              <a:rPr lang="it-IT" smtClean="0"/>
              <a:t>10/01/2026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902D50-6EA2-9686-38DC-FAB7048B7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8CF44-DB57-60DB-AB41-D2EFB4F8D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1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83EDE-02B6-E8AC-2521-60C029C17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0A35CD-D2E2-120B-D1B4-F34531D5C50D}"/>
              </a:ext>
            </a:extLst>
          </p:cNvPr>
          <p:cNvSpPr txBox="1"/>
          <p:nvPr/>
        </p:nvSpPr>
        <p:spPr>
          <a:xfrm>
            <a:off x="688257" y="442035"/>
            <a:ext cx="5407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INTRODUZIONE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2F190A-AADC-AEC9-B613-D7B38E6B36B7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CDCCF-1BC0-D866-B370-AD2C83637A8F}"/>
              </a:ext>
            </a:extLst>
          </p:cNvPr>
          <p:cNvSpPr txBox="1"/>
          <p:nvPr/>
        </p:nvSpPr>
        <p:spPr>
          <a:xfrm>
            <a:off x="688257" y="1242253"/>
            <a:ext cx="67350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Dinamica prede-predatori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Più fattori: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«Paura» delle prede e fattore di «rifugio»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«Risorse aggiuntive» esterne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Risposta funzionale asimmetrica (1 preda consumata != 1 predatore)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Emigrazione dei predatori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Articolo scientifico: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F3A0B6-5A5F-4103-CA68-7D3869F21563}"/>
              </a:ext>
            </a:extLst>
          </p:cNvPr>
          <p:cNvSpPr txBox="1"/>
          <p:nvPr/>
        </p:nvSpPr>
        <p:spPr>
          <a:xfrm>
            <a:off x="1696064" y="5027905"/>
            <a:ext cx="879987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Effect of the Fear Factor and Prey Refuge in an Asymmetric Predator–Prey Model</a:t>
            </a:r>
          </a:p>
          <a:p>
            <a:pPr algn="ctr"/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Rasha M. Yaseen · May M. Helal · Kaushik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Dehingia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· Ahmed A. Mohsen</a:t>
            </a:r>
          </a:p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Brazilian Journal of Physics (2024)</a:t>
            </a:r>
          </a:p>
          <a:p>
            <a:pPr algn="ctr"/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DOI: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https://doi.org/10.1007/s13538-024-01594-9</a:t>
            </a:r>
            <a:b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group of black and white books">
            <a:extLst>
              <a:ext uri="{FF2B5EF4-FFF2-40B4-BE49-F238E27FC236}">
                <a16:creationId xmlns:a16="http://schemas.microsoft.com/office/drawing/2014/main" id="{D34E898A-D22B-361E-3757-B9958ED76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355" y="1984705"/>
            <a:ext cx="4601496" cy="230074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9F9A49-6EAB-475E-F1A0-7281F77EE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9506-6624-4C93-99FC-2FCD7C3B5EE8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3F394-AA29-7D3E-79E3-8E53BC37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99908-6A31-CACD-4ED7-FFD6629F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6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3727E-27C8-3BC2-0BE9-6E847212F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AC9E22-B53F-66C9-EC08-8C202BDA41B1}"/>
              </a:ext>
            </a:extLst>
          </p:cNvPr>
          <p:cNvSpPr txBox="1"/>
          <p:nvPr/>
        </p:nvSpPr>
        <p:spPr>
          <a:xfrm>
            <a:off x="688257" y="442035"/>
            <a:ext cx="49911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OBBIETTIVI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8E64B5-1412-B215-45FD-678D251A3117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6B2414-6B16-579D-3FCD-A65D35926A16}"/>
                  </a:ext>
                </a:extLst>
              </p:cNvPr>
              <p:cNvSpPr txBox="1"/>
              <p:nvPr/>
            </p:nvSpPr>
            <p:spPr>
              <a:xfrm>
                <a:off x="688256" y="1242253"/>
                <a:ext cx="9634303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Implementazione del modello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 Python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Riproduzione dei risultati con i parametri proposti nell’articolo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 7 esperimenti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it-IT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1 simulazione/i per ogni esperimento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Confronto dei risultati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Risultati sperimentali VS Risultati proposti nel paper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Implementazioni accessorie ed esperimenti aggiuntivi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Ciò che non è stato svolto nel paper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>
                    <a:latin typeface="Arial" panose="020B0604020202020204" pitchFamily="34" charset="0"/>
                    <a:cs typeface="Arial" panose="020B0604020202020204" pitchFamily="34" charset="0"/>
                  </a:rPr>
                  <a:t>Approfondimenti sul 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modello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6B2414-6B16-579D-3FCD-A65D35926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6" y="1242253"/>
                <a:ext cx="9634303" cy="4893647"/>
              </a:xfrm>
              <a:prstGeom prst="rect">
                <a:avLst/>
              </a:prstGeom>
              <a:blipFill>
                <a:blip r:embed="rId2"/>
                <a:stretch>
                  <a:fillRect l="-886" t="-872" b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3D3DA8-4ED4-1FFD-5BF3-665CBDEC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E659-987F-4162-B81F-7A5AC08EB42B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BE40E-DBD2-F0C8-470A-B85277778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78F72-A646-3A49-DE0A-CCD78E62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0A686-DFD5-2D2F-235D-4DDBFBE48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E1DB56-ABFB-86C3-626B-9709152BDC02}"/>
              </a:ext>
            </a:extLst>
          </p:cNvPr>
          <p:cNvSpPr txBox="1"/>
          <p:nvPr/>
        </p:nvSpPr>
        <p:spPr>
          <a:xfrm>
            <a:off x="688257" y="442035"/>
            <a:ext cx="45441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b="1" dirty="0"/>
              <a:t>EQUAZIONE DEL MODELLO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608E6D-59EF-BC53-6D97-AE8E06DBD9BD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D8418-E939-06EA-511E-2EAAD6F76ED1}"/>
              </a:ext>
            </a:extLst>
          </p:cNvPr>
          <p:cNvSpPr txBox="1"/>
          <p:nvPr/>
        </p:nvSpPr>
        <p:spPr>
          <a:xfrm>
            <a:off x="688257" y="1242253"/>
            <a:ext cx="6735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ODE a due variabili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8D367E-65A4-B583-B623-87BA4BD82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922" y="1790033"/>
            <a:ext cx="7058154" cy="1772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2FADDF-8C32-1BBD-3859-5B9DE50E6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927" y="3562300"/>
            <a:ext cx="4568144" cy="266686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DC0EA-4505-AAFE-85B4-4BED38C2F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5C1A-9AE7-4CFB-B4BB-FF54D6A71ADB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6902C-A1AD-0D17-FE0F-A6AC2A47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3C6B06-87CC-7D38-FA98-DA670DE2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9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2A15E-3746-CD8F-3947-6BF57CD4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9D002B-4D76-B070-206B-9D18DC0D25F4}"/>
              </a:ext>
            </a:extLst>
          </p:cNvPr>
          <p:cNvSpPr txBox="1"/>
          <p:nvPr/>
        </p:nvSpPr>
        <p:spPr>
          <a:xfrm>
            <a:off x="688257" y="442035"/>
            <a:ext cx="5925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ANALISI DEL MODELLO: UN’IDEA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5414DF-8D3A-8EB1-392F-00F6B37A7C75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CA399-369E-6402-B496-FBCC365B7C63}"/>
              </a:ext>
            </a:extLst>
          </p:cNvPr>
          <p:cNvSpPr txBox="1"/>
          <p:nvPr/>
        </p:nvSpPr>
        <p:spPr>
          <a:xfrm>
            <a:off x="688257" y="1242253"/>
            <a:ext cx="6735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ODE a due variabili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FF5B7-8874-0F28-594B-7CA044AC7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557" y="2718191"/>
            <a:ext cx="9420884" cy="236553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539F47-1891-6A1F-8FF1-9DE33A64B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5C1A-9AE7-4CFB-B4BB-FF54D6A71ADB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F4854-2402-AD96-2E4E-78D062C68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3C0F7E-1C25-F0B8-437E-BED56DA5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5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A96DE-2492-D896-75BA-C6A0F6BD514A}"/>
              </a:ext>
            </a:extLst>
          </p:cNvPr>
          <p:cNvSpPr/>
          <p:nvPr/>
        </p:nvSpPr>
        <p:spPr>
          <a:xfrm>
            <a:off x="2859024" y="3006094"/>
            <a:ext cx="1179576" cy="870962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67EB51-EB35-9F51-4DFA-4ABCA3E5A209}"/>
              </a:ext>
            </a:extLst>
          </p:cNvPr>
          <p:cNvCxnSpPr>
            <a:cxnSpLocks/>
          </p:cNvCxnSpPr>
          <p:nvPr/>
        </p:nvCxnSpPr>
        <p:spPr>
          <a:xfrm flipH="1" flipV="1">
            <a:off x="2468880" y="2421055"/>
            <a:ext cx="530352" cy="585039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F5AA7A5-E76F-6ED8-449D-07BCE193FD21}"/>
              </a:ext>
            </a:extLst>
          </p:cNvPr>
          <p:cNvSpPr txBox="1"/>
          <p:nvPr/>
        </p:nvSpPr>
        <p:spPr>
          <a:xfrm>
            <a:off x="4443984" y="1947036"/>
            <a:ext cx="1127760" cy="786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54C168-29A1-A77C-B478-CFB4B46A0765}"/>
              </a:ext>
            </a:extLst>
          </p:cNvPr>
          <p:cNvSpPr txBox="1"/>
          <p:nvPr/>
        </p:nvSpPr>
        <p:spPr>
          <a:xfrm>
            <a:off x="1716957" y="1774724"/>
            <a:ext cx="3152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Reproduction rate dipendente da 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FF1A88-F6F6-E071-6198-222AEC29167C}"/>
              </a:ext>
            </a:extLst>
          </p:cNvPr>
          <p:cNvSpPr/>
          <p:nvPr/>
        </p:nvSpPr>
        <p:spPr>
          <a:xfrm>
            <a:off x="8610600" y="3128147"/>
            <a:ext cx="792480" cy="491354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93B809A-3A49-D107-DF01-58C7869B08A6}"/>
              </a:ext>
            </a:extLst>
          </p:cNvPr>
          <p:cNvCxnSpPr>
            <a:cxnSpLocks/>
          </p:cNvCxnSpPr>
          <p:nvPr/>
        </p:nvCxnSpPr>
        <p:spPr>
          <a:xfrm flipH="1" flipV="1">
            <a:off x="7786411" y="2543108"/>
            <a:ext cx="1100033" cy="585039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3CB2303-409B-F1DF-1068-1AD8E47AA92B}"/>
              </a:ext>
            </a:extLst>
          </p:cNvPr>
          <p:cNvSpPr txBox="1"/>
          <p:nvPr/>
        </p:nvSpPr>
        <p:spPr>
          <a:xfrm>
            <a:off x="7034488" y="1896777"/>
            <a:ext cx="3152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Mortalità dovuta alla paura psicologica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409B31-B0D4-4266-EF0A-45F142BF0093}"/>
              </a:ext>
            </a:extLst>
          </p:cNvPr>
          <p:cNvSpPr/>
          <p:nvPr/>
        </p:nvSpPr>
        <p:spPr>
          <a:xfrm>
            <a:off x="4310167" y="2904883"/>
            <a:ext cx="3379223" cy="1048233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4F13D53-05A6-26E2-A86C-1EDD9FCAEFA8}"/>
              </a:ext>
            </a:extLst>
          </p:cNvPr>
          <p:cNvCxnSpPr>
            <a:cxnSpLocks/>
          </p:cNvCxnSpPr>
          <p:nvPr/>
        </p:nvCxnSpPr>
        <p:spPr>
          <a:xfrm flipH="1" flipV="1">
            <a:off x="5668765" y="1848856"/>
            <a:ext cx="747446" cy="1056028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80EED8E-5C58-7DBC-8046-A1F377BBE2BC}"/>
              </a:ext>
            </a:extLst>
          </p:cNvPr>
          <p:cNvSpPr txBox="1"/>
          <p:nvPr/>
        </p:nvSpPr>
        <p:spPr>
          <a:xfrm>
            <a:off x="4737820" y="1373063"/>
            <a:ext cx="3152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Predazione, limitata da più fattori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ACEDB6-80E5-5079-2503-4E33F8A9B059}"/>
              </a:ext>
            </a:extLst>
          </p:cNvPr>
          <p:cNvSpPr/>
          <p:nvPr/>
        </p:nvSpPr>
        <p:spPr>
          <a:xfrm>
            <a:off x="2840736" y="4156857"/>
            <a:ext cx="260604" cy="343745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28C6900-212A-5427-0043-F3AC95BC90F3}"/>
              </a:ext>
            </a:extLst>
          </p:cNvPr>
          <p:cNvCxnSpPr>
            <a:cxnSpLocks/>
          </p:cNvCxnSpPr>
          <p:nvPr/>
        </p:nvCxnSpPr>
        <p:spPr>
          <a:xfrm flipH="1">
            <a:off x="2209800" y="4500602"/>
            <a:ext cx="750528" cy="78704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12D83CE-E4BD-6BC1-E24B-C02A9DD3530C}"/>
              </a:ext>
            </a:extLst>
          </p:cNvPr>
          <p:cNvSpPr txBox="1"/>
          <p:nvPr/>
        </p:nvSpPr>
        <p:spPr>
          <a:xfrm>
            <a:off x="1157944" y="5246414"/>
            <a:ext cx="3152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Risposta asimmetrica</a:t>
            </a:r>
            <a:b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alla predazione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315B9E-6E65-8BBD-EAC8-BF32556D9A42}"/>
              </a:ext>
            </a:extLst>
          </p:cNvPr>
          <p:cNvSpPr/>
          <p:nvPr/>
        </p:nvSpPr>
        <p:spPr>
          <a:xfrm>
            <a:off x="7293052" y="4019404"/>
            <a:ext cx="2254807" cy="872718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0AD12A-FA9F-EBF3-689B-528D5B3F6CEF}"/>
              </a:ext>
            </a:extLst>
          </p:cNvPr>
          <p:cNvSpPr txBox="1"/>
          <p:nvPr/>
        </p:nvSpPr>
        <p:spPr>
          <a:xfrm>
            <a:off x="4968240" y="5380865"/>
            <a:ext cx="533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Emigrazione, incentivata o dalla risorsa alternativa di cibo o dalla quantità di prede «scoperte»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115AA91-FD02-C605-7AD1-F642D97E99CE}"/>
              </a:ext>
            </a:extLst>
          </p:cNvPr>
          <p:cNvCxnSpPr>
            <a:cxnSpLocks/>
          </p:cNvCxnSpPr>
          <p:nvPr/>
        </p:nvCxnSpPr>
        <p:spPr>
          <a:xfrm flipH="1">
            <a:off x="8153400" y="4906870"/>
            <a:ext cx="163363" cy="473995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58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A4A0F-6F25-08C5-784E-E83B0231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91D8DD-B481-4C6B-4717-5A0CC11A8287}"/>
              </a:ext>
            </a:extLst>
          </p:cNvPr>
          <p:cNvSpPr txBox="1"/>
          <p:nvPr/>
        </p:nvSpPr>
        <p:spPr>
          <a:xfrm>
            <a:off x="688257" y="442035"/>
            <a:ext cx="45441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PUNTI D’EQUILIBRIO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A1F8A8-B389-92E2-11ED-7FDA9114401C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67131C-4276-79B6-316A-0ECA1B1F2593}"/>
                  </a:ext>
                </a:extLst>
              </p:cNvPr>
              <p:cNvSpPr txBox="1"/>
              <p:nvPr/>
            </p:nvSpPr>
            <p:spPr>
              <a:xfrm>
                <a:off x="688256" y="1242253"/>
                <a:ext cx="7983795" cy="3918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Tre punti d’equilibrio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W0: Punto d’equilibrio di estinzione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X=Y=0</a:t>
                </a:r>
              </a:p>
              <a:p>
                <a:pPr lvl="1"/>
                <a:endParaRPr lang="it-IT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W1: Punto d’equilibrio di assenza dei predatori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X=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num>
                      <m:den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Y=0</a:t>
                </a:r>
              </a:p>
              <a:p>
                <a:pPr lvl="1"/>
                <a:endParaRPr lang="it-IT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W2: Punto d’equilibrio di coesistenza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Intersezione delle isocline di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x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̇, 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y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̇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Metodi numerici (fsolve)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67131C-4276-79B6-316A-0ECA1B1F2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6" y="1242253"/>
                <a:ext cx="7983795" cy="3918252"/>
              </a:xfrm>
              <a:prstGeom prst="rect">
                <a:avLst/>
              </a:prstGeom>
              <a:blipFill>
                <a:blip r:embed="rId2"/>
                <a:stretch>
                  <a:fillRect l="-1069" t="-1089" b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8C9A882-9361-4902-3E01-45EEB4A52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05" y="5056101"/>
            <a:ext cx="8652388" cy="135986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02504-592C-00C0-F28F-9918461F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CD83-F29B-4178-A789-3E26EABE1C7A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2A2D0-C8C4-7061-346C-B0C7DD17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F251D3-0D90-6B83-FD34-5B0132A56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42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D4FCF-82AB-3C42-97F3-7034E745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3E6157-C4AE-AA20-58D3-7BDF2E787E20}"/>
              </a:ext>
            </a:extLst>
          </p:cNvPr>
          <p:cNvSpPr txBox="1"/>
          <p:nvPr/>
        </p:nvSpPr>
        <p:spPr>
          <a:xfrm>
            <a:off x="688257" y="442035"/>
            <a:ext cx="57715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PUNTI D’EQUILIBRIO: CONDIZIONI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6D227-FB10-B8F5-CD73-38CAF8192684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A6D52-8190-5984-7099-CB3DBC5ABC1B}"/>
              </a:ext>
            </a:extLst>
          </p:cNvPr>
          <p:cNvSpPr txBox="1"/>
          <p:nvPr/>
        </p:nvSpPr>
        <p:spPr>
          <a:xfrm>
            <a:off x="688256" y="1242253"/>
            <a:ext cx="79837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Nel paper: proposti dei «test» per la stabilità </a:t>
            </a:r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locale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e globale di alcuni punti d’equilibrio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BC9BDB6-3720-FBFF-1175-576FA3ADA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08" y="2324439"/>
            <a:ext cx="6577058" cy="1325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619745-CF81-E75F-01A8-EEC41D3DD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379" y="4141713"/>
            <a:ext cx="5037036" cy="1474034"/>
          </a:xfrm>
          <a:prstGeom prst="rect">
            <a:avLst/>
          </a:prstGeom>
        </p:spPr>
      </p:pic>
      <p:pic>
        <p:nvPicPr>
          <p:cNvPr id="11" name="Picture 10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E544F69D-41B2-CBC9-0B7A-5FC91BE15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08" y="3772977"/>
            <a:ext cx="5627886" cy="256460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5C0265-C537-1D92-FB35-4AEDBA5F6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41016-63A1-42AC-B939-9B58CF64338C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8EF9A-7C04-23AB-0D0F-D77EDED6E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4B6F45D-201E-BE3D-32CD-64B2D1837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84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FB015-236F-096D-B404-8047166F6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8BBB70-4BF6-C48E-7D0C-F2F2582BA264}"/>
              </a:ext>
            </a:extLst>
          </p:cNvPr>
          <p:cNvSpPr txBox="1"/>
          <p:nvPr/>
        </p:nvSpPr>
        <p:spPr>
          <a:xfrm>
            <a:off x="688257" y="442035"/>
            <a:ext cx="57715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PUNTI D’EQUILIBRIO: CONDIZIONI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1BE814-046A-9F05-4897-03A89BA165F5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E90A87-3AD7-E597-2E37-E829F4647827}"/>
              </a:ext>
            </a:extLst>
          </p:cNvPr>
          <p:cNvSpPr txBox="1"/>
          <p:nvPr/>
        </p:nvSpPr>
        <p:spPr>
          <a:xfrm>
            <a:off x="688256" y="1242253"/>
            <a:ext cx="79837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Nel paper: proposti dei «test» per la stabilità locale e </a:t>
            </a:r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globale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di alcuni punti d’equilibrio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39026EA-245F-66F3-DFC1-37E0A3FD5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6" y="2602412"/>
            <a:ext cx="5578258" cy="1653176"/>
          </a:xfrm>
          <a:prstGeom prst="rect">
            <a:avLst/>
          </a:prstGeom>
        </p:spPr>
      </p:pic>
      <p:pic>
        <p:nvPicPr>
          <p:cNvPr id="15" name="Picture 1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959D9A99-E2F4-C395-2A44-604CC1EA4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794" y="2166095"/>
            <a:ext cx="5470490" cy="1915146"/>
          </a:xfrm>
          <a:prstGeom prst="rect">
            <a:avLst/>
          </a:prstGeom>
        </p:spPr>
      </p:pic>
      <p:pic>
        <p:nvPicPr>
          <p:cNvPr id="17" name="Picture 1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C6BB18C-1A93-4330-7FF1-6C7748E55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298" y="4727907"/>
            <a:ext cx="4290432" cy="1585097"/>
          </a:xfrm>
          <a:prstGeom prst="rect">
            <a:avLst/>
          </a:prstGeom>
        </p:spPr>
      </p:pic>
      <p:pic>
        <p:nvPicPr>
          <p:cNvPr id="2" name="Picture 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362303D-F2E9-34D7-AE02-33301F528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783" y="4342077"/>
            <a:ext cx="5613462" cy="207388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2CBF0-95DC-48D4-2572-EB2D407F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55B49-8341-42AA-9537-F1E5653FF438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4C968-B45B-7EB7-B3BD-684553CE3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A56642B-83B9-BBDD-F58C-94088171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04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311C4-3795-2E81-9EAD-773F0607F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436853-1A98-74C7-6AF3-2A638A554CEE}"/>
              </a:ext>
            </a:extLst>
          </p:cNvPr>
          <p:cNvSpPr txBox="1"/>
          <p:nvPr/>
        </p:nvSpPr>
        <p:spPr>
          <a:xfrm>
            <a:off x="688257" y="442035"/>
            <a:ext cx="57715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PUNTI D’EQUILIBRIO: CONDIZIONI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5839F4-775F-7DAA-2804-5B8CD287F4D2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3E520-BB9B-997F-7B8D-7F73EBBE6E54}"/>
              </a:ext>
            </a:extLst>
          </p:cNvPr>
          <p:cNvSpPr txBox="1"/>
          <p:nvPr/>
        </p:nvSpPr>
        <p:spPr>
          <a:xfrm>
            <a:off x="688256" y="1242253"/>
            <a:ext cx="79837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Nel paper: proposti dei «test» per la stabilità locale e globale di alcuni punti d’equilibrio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Obbiettivo: Implementare i test e verificare che funzionino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9CDAC3-2215-8FE6-C245-09209ADB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82B6C-FF82-4F52-8DBB-5FB157E26F63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4C18-38C3-8038-FCFF-FBBC9759C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9A9E8-D01E-67C2-931C-BA005F2D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62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2A9BA-5805-9D04-E204-7C7F76A5D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85787D-45A4-A2E5-5B2C-B76D23295D2E}"/>
              </a:ext>
            </a:extLst>
          </p:cNvPr>
          <p:cNvSpPr txBox="1"/>
          <p:nvPr/>
        </p:nvSpPr>
        <p:spPr>
          <a:xfrm>
            <a:off x="688257" y="442035"/>
            <a:ext cx="45441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PARAMETRI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E3D087-4C3C-CD56-67B9-CA955C5B6B48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AD28E0-95C7-B671-EA20-F641E6B270F5}"/>
                  </a:ext>
                </a:extLst>
              </p:cNvPr>
              <p:cNvSpPr txBox="1"/>
              <p:nvPr/>
            </p:nvSpPr>
            <p:spPr>
              <a:xfrm>
                <a:off x="688256" y="1242253"/>
                <a:ext cx="9763433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Parametri proposti: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Variazioni individuali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0: invariato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1: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=0.2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2: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=0.002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3: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=1.2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f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=0.5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=0.4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4: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=0.03, 0.0003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ε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0.001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5: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=0.005, 0.4, 0.7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6: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=0.1, 0.25, 0.9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AD28E0-95C7-B671-EA20-F641E6B27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6" y="1242253"/>
                <a:ext cx="9763433" cy="4893647"/>
              </a:xfrm>
              <a:prstGeom prst="rect">
                <a:avLst/>
              </a:prstGeom>
              <a:blipFill>
                <a:blip r:embed="rId2"/>
                <a:stretch>
                  <a:fillRect l="-874" t="-872" b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678160E-EA03-704B-3D41-7A9490F23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33" y="1703918"/>
            <a:ext cx="6621532" cy="13341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D61C79-F204-6CF4-13CA-732C09B8B500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Riproduzione dei risultati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889BB-5A95-B1E2-6295-EC7F00A50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D5E0C-B568-4CE8-9D10-8B739A803584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8BAF1-AF64-079F-5229-460CF5B64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ABA7F1-7DC5-4666-91FC-19BCF9883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306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C1407-7F3D-0C56-D370-740285DC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B9DCAF-EBA1-6A30-4917-0DCF76E2332D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SECONDO IL PAPER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58EBDD-964C-07FA-E24B-477E6E4847D1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C67B88-1CAA-66E4-C897-C0F1FB28C201}"/>
              </a:ext>
            </a:extLst>
          </p:cNvPr>
          <p:cNvSpPr txBox="1"/>
          <p:nvPr/>
        </p:nvSpPr>
        <p:spPr>
          <a:xfrm>
            <a:off x="688257" y="1147031"/>
            <a:ext cx="8288595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Obbiettivo: Replicare i seguenti risultati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0: W2 esiste ed è GAS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1: W1 è GAS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2: W0 è GAS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3: Cicli limite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4: W2 GAS per k «grandi», W1 gas per k «piccoli»; cicli limite per epsilon «piccoli»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5: W2 per e piccoli, W1 per e «intermedi» e clicli limite per e «grandi»</a:t>
            </a:r>
          </a:p>
          <a:p>
            <a:pPr lvl="1"/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6: meno predatori per m più grande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FC90B2-4911-9B9D-5A25-7D2058CE2756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Riproduzione dei risultati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46B3F-C9D6-4636-C312-27288D6CA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A5B5-971E-48A8-D742-D1D6E5E26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24FF1-F6C1-419D-6F3D-940B6066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29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C0431-0AB3-F77F-566E-4B9CF6348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72F745-6616-B2F2-E21B-7DFF699640EF}"/>
              </a:ext>
            </a:extLst>
          </p:cNvPr>
          <p:cNvSpPr txBox="1"/>
          <p:nvPr/>
        </p:nvSpPr>
        <p:spPr>
          <a:xfrm>
            <a:off x="688257" y="442035"/>
            <a:ext cx="5742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ESEMPI DI RISULTATI PROPOSTI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1CB0BB-4A2F-1D61-87D7-7F648C57868E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F9FB1-0FBB-FFB5-95EB-58B7FEEBF26A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Riproduzione dei risultati</a:t>
            </a:r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C1AF1D3-A3B9-9EE7-EB0F-CCA3A8ECF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308" y="2028068"/>
            <a:ext cx="8329382" cy="358171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6C4089-FE40-029D-72F0-3F33CF96F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D458A-1DE7-4BA5-AF5A-3746645FA5DB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D5796-009F-4FB3-876F-1E72E390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5410E-20B5-BE1F-45CE-AB824238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3D181-7A07-426F-76A1-12764B85F819}"/>
              </a:ext>
            </a:extLst>
          </p:cNvPr>
          <p:cNvSpPr txBox="1"/>
          <p:nvPr/>
        </p:nvSpPr>
        <p:spPr>
          <a:xfrm>
            <a:off x="688257" y="1354929"/>
            <a:ext cx="8288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0</a:t>
            </a:r>
          </a:p>
        </p:txBody>
      </p:sp>
    </p:spTree>
    <p:extLst>
      <p:ext uri="{BB962C8B-B14F-4D97-AF65-F5344CB8AC3E}">
        <p14:creationId xmlns:p14="http://schemas.microsoft.com/office/powerpoint/2010/main" val="871290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450F0-C6D6-1855-DD34-8E0E8A07B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B75270-BB3E-88B6-BEC2-3DCB5103554B}"/>
              </a:ext>
            </a:extLst>
          </p:cNvPr>
          <p:cNvSpPr txBox="1"/>
          <p:nvPr/>
        </p:nvSpPr>
        <p:spPr>
          <a:xfrm>
            <a:off x="688257" y="442035"/>
            <a:ext cx="5742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ESEMPI DI RISULTATI PROPOSTI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C8D455-B3BB-40D3-EC36-98FDC4B5EDCB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E5892E-8EC7-138E-DCC7-326DB810A840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Riproduzione dei risultati</a:t>
            </a:r>
          </a:p>
        </p:txBody>
      </p:sp>
      <p:pic>
        <p:nvPicPr>
          <p:cNvPr id="6" name="Picture 5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DC687D9B-315C-C65E-0085-FDE215804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011" y="1652784"/>
            <a:ext cx="6187976" cy="481625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18AC1-5DE0-48C0-449D-9E675489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73BDE-955B-4E08-A876-9008EBC2E5D9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B8CA9-BABA-9778-DB1A-E8EE6F4D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A81A3-B678-294E-AA6D-4E0C4964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9D807-8DDD-9EAA-751E-700FEAE81398}"/>
              </a:ext>
            </a:extLst>
          </p:cNvPr>
          <p:cNvSpPr txBox="1"/>
          <p:nvPr/>
        </p:nvSpPr>
        <p:spPr>
          <a:xfrm>
            <a:off x="688257" y="1191119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Una parte di esperimento 3</a:t>
            </a:r>
          </a:p>
        </p:txBody>
      </p:sp>
    </p:spTree>
    <p:extLst>
      <p:ext uri="{BB962C8B-B14F-4D97-AF65-F5344CB8AC3E}">
        <p14:creationId xmlns:p14="http://schemas.microsoft.com/office/powerpoint/2010/main" val="1624317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6954A-AA7D-8F4D-5329-13B7E38A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A663B9-820B-B0E5-FB9A-7C8D6DA24DD6}"/>
              </a:ext>
            </a:extLst>
          </p:cNvPr>
          <p:cNvSpPr txBox="1"/>
          <p:nvPr/>
        </p:nvSpPr>
        <p:spPr>
          <a:xfrm>
            <a:off x="688257" y="442035"/>
            <a:ext cx="5742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ESEMPI DI RISULTATI PROPOSTI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F7F1AE-A981-0DE1-3B8F-3562054A01F3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10718-E9DA-374A-5B2F-A3754C324383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Riproduzione dei risultati</a:t>
            </a:r>
          </a:p>
        </p:txBody>
      </p:sp>
      <p:pic>
        <p:nvPicPr>
          <p:cNvPr id="5" name="Picture 4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2D78DDCB-6BB7-DC52-2C96-45A30F378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665" y="1593242"/>
            <a:ext cx="5852667" cy="474005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EB2DAB-3681-44D7-3171-493A72B47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7CAD-8672-4530-9999-911CF4F320CA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6014F-5003-48C8-1105-7E71707E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963C8-5380-3EFE-D4AE-C25881A2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8F7B66-6F76-A0EB-BE9D-0CFD56CBD1F0}"/>
              </a:ext>
            </a:extLst>
          </p:cNvPr>
          <p:cNvSpPr txBox="1"/>
          <p:nvPr/>
        </p:nvSpPr>
        <p:spPr>
          <a:xfrm>
            <a:off x="688257" y="1142135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Una parte di esperimento 4</a:t>
            </a:r>
          </a:p>
        </p:txBody>
      </p:sp>
    </p:spTree>
    <p:extLst>
      <p:ext uri="{BB962C8B-B14F-4D97-AF65-F5344CB8AC3E}">
        <p14:creationId xmlns:p14="http://schemas.microsoft.com/office/powerpoint/2010/main" val="3153287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276B-D53A-D4EB-435C-5F5923613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18FA9-FC5D-B538-7232-2788B44B7877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CONFRONTO DEI RISULTATI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2A116B-1487-BCD9-A22F-4DE5B79713E3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244F8-11C6-5014-50B5-4D33F89A39A6}"/>
              </a:ext>
            </a:extLst>
          </p:cNvPr>
          <p:cNvSpPr txBox="1"/>
          <p:nvPr/>
        </p:nvSpPr>
        <p:spPr>
          <a:xfrm>
            <a:off x="688257" y="1257642"/>
            <a:ext cx="82885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Maggior parte: risultati confermati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Tuttavia...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Alcuni risultati inconsistenti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Alcuni risultati non replicabili</a:t>
            </a:r>
          </a:p>
          <a:p>
            <a:pPr lvl="1"/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Vediamo subito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84AA6-E879-C6BC-54DE-FDC21DACB348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dei risultati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0DB329-3CCE-4F30-21E6-56D490C15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2A43-5120-4B7D-95A3-344374AC366D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6BCE6-7521-E6FC-9121-FC8F15B9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303E4-3167-FC58-B2DA-4F1D8E58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18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017D8-AFD3-9ECF-888F-78B1E69A7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EAB306-B5C9-C2C2-9518-F42386EB11A9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CONSISTENTI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5AECD-545C-F2BB-503F-DC60D369564E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77567-78A8-4540-A0B0-5DDF183203B7}"/>
              </a:ext>
            </a:extLst>
          </p:cNvPr>
          <p:cNvSpPr txBox="1"/>
          <p:nvPr/>
        </p:nvSpPr>
        <p:spPr>
          <a:xfrm>
            <a:off x="688257" y="1257642"/>
            <a:ext cx="82885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Gli esperimenti 0, 1, 2, 5, 6 erano consistenti col paper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4 parzialmente consistente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Esempio: Esperimento 0 (paper)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161C93-E697-979E-5CEF-EE525B6D4512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dei risultati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32A08-EC71-B794-47C2-154D92E49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BD75C-8A8B-4E75-8D28-95927EC03BF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573E2-3348-0555-2CC6-82281896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3E3F76-D042-3D3C-C405-A1E194CA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16</a:t>
            </a:fld>
            <a:endParaRPr lang="en-US"/>
          </a:p>
        </p:txBody>
      </p:sp>
      <p:pic>
        <p:nvPicPr>
          <p:cNvPr id="10" name="Picture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098C0D8-EC70-870E-F65A-F825650BC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424" y="2449377"/>
            <a:ext cx="9183150" cy="396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28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9EBC-E960-80F8-4F38-DE4B7C8E5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A99946-3FA8-411E-1F48-FD34A6944862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CONSISTENTI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EEA687-C59E-7030-1D94-51E5843E548B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2E841-85E9-5FF2-60D6-1574D81FA1B3}"/>
              </a:ext>
            </a:extLst>
          </p:cNvPr>
          <p:cNvSpPr txBox="1"/>
          <p:nvPr/>
        </p:nvSpPr>
        <p:spPr>
          <a:xfrm>
            <a:off x="688257" y="1257642"/>
            <a:ext cx="82885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Gli esperimenti 0, 1, 2, 5, 6 erano consistenti col paper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4 parzialmente consistente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Esempio: Esperimento 0 (mio)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ACEA1-240E-D3D7-F3F2-AF893C247B28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dei risultati</a:t>
            </a:r>
          </a:p>
        </p:txBody>
      </p:sp>
      <p:pic>
        <p:nvPicPr>
          <p:cNvPr id="2" name="0_0">
            <a:hlinkClick r:id="" action="ppaction://media"/>
            <a:extLst>
              <a:ext uri="{FF2B5EF4-FFF2-40B4-BE49-F238E27FC236}">
                <a16:creationId xmlns:a16="http://schemas.microsoft.com/office/drawing/2014/main" id="{AAEA3DFA-6895-ED91-D3AE-2696E3665B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8914" y="2501321"/>
            <a:ext cx="9134170" cy="391464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FB836-DAC2-9267-C2C5-F936165DC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BD75C-8A8B-4E75-8D28-95927EC03BF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F957D-84CF-9D72-2976-E12DF3928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5BF30A-8419-AA8E-8F24-C09FCE784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29544-E257-E52E-F74C-C6D4BBB1B1BE}"/>
              </a:ext>
            </a:extLst>
          </p:cNvPr>
          <p:cNvSpPr txBox="1"/>
          <p:nvPr/>
        </p:nvSpPr>
        <p:spPr>
          <a:xfrm>
            <a:off x="7799790" y="214204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0_0.MP4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7369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1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AEBC-42B1-6175-B5AA-846E8D1D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6C62D8-4D7A-703C-CBBB-364F4E15906E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CONSISTENTI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4DA277-9B4B-44E0-7836-CEDA86425928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72DD00-1859-E8C8-6ABE-FD948B09E642}"/>
                  </a:ext>
                </a:extLst>
              </p:cNvPr>
              <p:cNvSpPr txBox="1"/>
              <p:nvPr/>
            </p:nvSpPr>
            <p:spPr>
              <a:xfrm>
                <a:off x="688258" y="1257642"/>
                <a:ext cx="5007868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Esempio: Esperimento 5 (paper)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(a): e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0.01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(b):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01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&lt; 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≤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</m:oMath>
                </a14:m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(c):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72DD00-1859-E8C8-6ABE-FD948B09E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8" y="1257642"/>
                <a:ext cx="5007868" cy="2677656"/>
              </a:xfrm>
              <a:prstGeom prst="rect">
                <a:avLst/>
              </a:prstGeom>
              <a:blipFill>
                <a:blip r:embed="rId2"/>
                <a:stretch>
                  <a:fillRect l="-1705" t="-1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8F60D2B-40BB-7E2A-976F-C051554D1EFF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dei risultati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F4F5F-071A-A029-DC45-FE35BEB55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BD75C-8A8B-4E75-8D28-95927EC03BF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FECD1-FEA2-35C1-C58E-6F59D92F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13C14F-D97B-AD5A-AFF9-355CF467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18</a:t>
            </a:fld>
            <a:endParaRPr lang="en-US"/>
          </a:p>
        </p:txBody>
      </p:sp>
      <p:pic>
        <p:nvPicPr>
          <p:cNvPr id="10" name="Picture 9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A49F2C5B-FD7A-0466-C4CE-EE22A8A57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924" y="1244240"/>
            <a:ext cx="6295352" cy="501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15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52923-C3F6-36C6-E92B-965CA3B75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701AAC-E917-91A8-A07E-665E33A7748E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CONSISTENTI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5123C6-739B-4783-904E-CBA17D5F01CA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B33972-B305-3D52-C6CC-1D6765BB7EEB}"/>
              </a:ext>
            </a:extLst>
          </p:cNvPr>
          <p:cNvSpPr txBox="1"/>
          <p:nvPr/>
        </p:nvSpPr>
        <p:spPr>
          <a:xfrm>
            <a:off x="688257" y="1257642"/>
            <a:ext cx="82885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Esempio: Esperimento 5 (mio)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R: 0.005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G: 0.4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B: 0.7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6AF2EB-4740-D17D-C653-75D632B26AAC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dei risultati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3E362-D7C6-712E-DD9E-A57AB37F1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BD75C-8A8B-4E75-8D28-95927EC03BF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6BFBE-294D-CE22-E1F4-13A8F515D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C58775-F23C-1494-D35B-E901F3864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19</a:t>
            </a:fld>
            <a:endParaRPr lang="en-US"/>
          </a:p>
        </p:txBody>
      </p:sp>
      <p:pic>
        <p:nvPicPr>
          <p:cNvPr id="11" name="Picture 10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2DACABAC-2446-5411-5181-D5CFB873E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747" y="1743147"/>
            <a:ext cx="8870446" cy="450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20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78673-4825-EC4B-F4F7-BF51030C5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2CA64F-8E26-E4B7-CAB5-F5EDB878072C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RISULTATO INCONSISTENTE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1FC2B3-3748-019D-1903-91D4ADDF4F0F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609ED0-6A3E-6E1B-3C35-51BC913134D4}"/>
                  </a:ext>
                </a:extLst>
              </p:cNvPr>
              <p:cNvSpPr txBox="1"/>
              <p:nvPr/>
            </p:nvSpPr>
            <p:spPr>
              <a:xfrm>
                <a:off x="688257" y="1257642"/>
                <a:ext cx="1002890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0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W2 determinato con le isocline del paper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W2 determinato nell’esperimento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Nel paper: solo l’approssimazione (33,18)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Simulazione: 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Secondo l’algoritmo (33.705..., 18.230...)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Secondo la simulazione (32.929..., 18.185...)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Implementato altre isocline, risultati più consistenti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609ED0-6A3E-6E1B-3C35-51BC91313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257642"/>
                <a:ext cx="10028904" cy="3785652"/>
              </a:xfrm>
              <a:prstGeom prst="rect">
                <a:avLst/>
              </a:prstGeom>
              <a:blipFill>
                <a:blip r:embed="rId2"/>
                <a:stretch>
                  <a:fillRect l="-851" t="-1127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6C94292-CE88-EE37-B1D4-09B5FA704EDF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dei risultati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396841-2BC8-A799-FB68-877EE9A5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901C-25D2-4418-A5A0-267BB4E58730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8182E-3E51-D74B-1591-7FC530F34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AB016-2E55-8FF2-1B10-330CFE26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10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C9857-1A52-1072-F295-5D0148F30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2403C-D09D-3F27-55BF-7DC6795B12D0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RISULTATO INCONSISTENTE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290CE3-5ED5-8A21-4C29-85A33BA673DF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CFA2C9-7EE8-1CF1-F197-18AD1CAD4799}"/>
                  </a:ext>
                </a:extLst>
              </p:cNvPr>
              <p:cNvSpPr txBox="1"/>
              <p:nvPr/>
            </p:nvSpPr>
            <p:spPr>
              <a:xfrm>
                <a:off x="688257" y="1257642"/>
                <a:ext cx="10028904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4 (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0003</m:t>
                    </m:r>
                    <m:r>
                      <a:rPr lang="it-IT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Algoritmo implementato: W1 determinato è (6600, 0)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Ha senso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Paper: W1 dichiarato è (2.6, 0)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Impossibile con i parametri proposti...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CFA2C9-7EE8-1CF1-F197-18AD1CAD4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257642"/>
                <a:ext cx="10028904" cy="2677656"/>
              </a:xfrm>
              <a:prstGeom prst="rect">
                <a:avLst/>
              </a:prstGeom>
              <a:blipFill>
                <a:blip r:embed="rId2"/>
                <a:stretch>
                  <a:fillRect l="-851" t="-1591" b="-4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577F87D-77B1-C1CB-21C2-9B1FF11224E1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dei risultati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AFD971-C78C-6A6E-EFC5-E78A9480D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2A29-0D40-4C95-BBC3-4CE9585C45D0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D37AF-82E5-70BF-06D3-C8D708DB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B7FBD-B10B-3C8A-DB5B-8ADFBA75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69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B5F63-A6FA-B93E-7CB0-0794D0EC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2E7892-5688-0F45-971F-A76C6C5950C5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RISULTATO IRRIPRODUCIBILE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F79662-FF70-67AA-B77A-E15BA9B9E321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4CE18C-7C78-0931-96B4-3F0A6C387C6A}"/>
              </a:ext>
            </a:extLst>
          </p:cNvPr>
          <p:cNvSpPr txBox="1"/>
          <p:nvPr/>
        </p:nvSpPr>
        <p:spPr>
          <a:xfrm>
            <a:off x="688257" y="1257642"/>
            <a:ext cx="100289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3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Cicli limite: OK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... Tuttavia le forme (e le scale) sono diverse!!!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AF3B11-A705-CC0C-A494-727CDDCEB863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dei risultati</a:t>
            </a:r>
          </a:p>
        </p:txBody>
      </p:sp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13BAC56E-B8B8-BF96-3FCC-DEA5B5C84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510" y="2934443"/>
            <a:ext cx="7854978" cy="340906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B35BDF-3E2C-FF4F-E5DF-183A1D2EB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91BEE-CBDC-4E52-BEE4-6FA4559C220C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FB2F6-531F-BBA0-FBCB-39DB87F8C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E45285-0787-3EA9-02EC-2491CF838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58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D25D6-DF3E-3A97-3D95-1AF6E2697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B57647-AFEA-49E4-DC17-3F73C7EFD82D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RISULTATO IRRIPRODUCIBILE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116D3D-FD7A-FFED-460F-9F3A48DFE0CF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7B5244-9BC4-7A7B-CD78-3D99A832B7AA}"/>
              </a:ext>
            </a:extLst>
          </p:cNvPr>
          <p:cNvSpPr txBox="1"/>
          <p:nvPr/>
        </p:nvSpPr>
        <p:spPr>
          <a:xfrm>
            <a:off x="688257" y="1257642"/>
            <a:ext cx="1002890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Test di stabilità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I test di stabilità non sono affidabili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Esempio: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Problema: Se x1 &gt; 1, allora chiaramente 1-x1 &lt; 0 e quindi la seconda equazione è sicuramente soddisfatta in quanto psi è positiva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Ridondanza, è «sempre vera»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F03D98-FD92-19A8-6C74-C69617A2B6A7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dei risultati</a:t>
            </a:r>
          </a:p>
        </p:txBody>
      </p:sp>
      <p:pic>
        <p:nvPicPr>
          <p:cNvPr id="2" name="Picture 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A0F69CA-E6C0-F97A-9B5F-430835072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239" y="2410783"/>
            <a:ext cx="5816940" cy="203643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809DB-3D3D-8914-0886-852390D1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A915D-2BA8-4F27-943A-17EA02CCA069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EC52C-B23D-BCB5-E5AF-A85DD77B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F26B32F-7F49-17DD-9E16-FF42F586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71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ECB2B-DC3A-AED2-DE99-71ADF792F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428316-75AB-D183-4E4E-D0605625A833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RISULTATO IRRIPRODUCIBILE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67F6A2-35D7-0C65-9C42-0C4D29A2636D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28E273-BF7E-5A38-FF53-C27C8435D32D}"/>
              </a:ext>
            </a:extLst>
          </p:cNvPr>
          <p:cNvSpPr txBox="1"/>
          <p:nvPr/>
        </p:nvSpPr>
        <p:spPr>
          <a:xfrm>
            <a:off x="688257" y="1257642"/>
            <a:ext cx="100289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Test di stabilità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Alternativa (solo per la stabilità locale):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Calcoliamo direttamente gli autovalori della Jacobiana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8ED580-8CEF-579E-F95E-8256EB094D11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Confronto dei risultati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DB870E-656D-F110-C16F-A80E2691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B137-0A56-4868-923D-646D7C7CC445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08A38-BBDC-13DF-A25D-5DE1CB1D0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9D57B-FEE5-1526-32C4-1589F6092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66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01642-093B-388A-5A22-BFC30F6E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BC2C9C-3779-0E32-1D90-3AFDFD63827C}"/>
              </a:ext>
            </a:extLst>
          </p:cNvPr>
          <p:cNvSpPr txBox="1"/>
          <p:nvPr/>
        </p:nvSpPr>
        <p:spPr>
          <a:xfrm>
            <a:off x="688257" y="442035"/>
            <a:ext cx="7216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RISULTATI: INTERPRETAZIONE BIOLOGICA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405F3-DCCD-3288-F959-514348B692DD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C6D948-F692-2EEF-4D41-EE977517E41B}"/>
              </a:ext>
            </a:extLst>
          </p:cNvPr>
          <p:cNvSpPr txBox="1"/>
          <p:nvPr/>
        </p:nvSpPr>
        <p:spPr>
          <a:xfrm>
            <a:off x="688257" y="1257642"/>
            <a:ext cx="82885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Nonostante i problemi di «dettaglio...»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I risultati principali coincidono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FFBBC8-0F1A-DC79-C3E1-3FE638DB3794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Analisi dei risultati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09407-0929-732B-2B76-C0B376C52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BD75C-8A8B-4E75-8D28-95927EC03BF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41BEA-3A30-1842-96A4-8853FE6C2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AD3E2C-C8F1-B31F-35C9-05139E92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34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D8BD3-0F0F-FC6D-DD22-3AFE4FAF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6E82C1-D98A-85F9-AD81-CA7B0C28F32E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 SECONDO IL PAPER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25EC24-CDE2-5DE9-CBD4-FB0CEAB24FDE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680DC-59C8-0BD9-14A4-181022C9BA40}"/>
              </a:ext>
            </a:extLst>
          </p:cNvPr>
          <p:cNvSpPr txBox="1"/>
          <p:nvPr/>
        </p:nvSpPr>
        <p:spPr>
          <a:xfrm>
            <a:off x="688257" y="1147031"/>
            <a:ext cx="8288595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Richiamo: Risultati degli esperimenti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0: W2 esiste ed è GAS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1: W1 è GAS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2: W0 è GAS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3: Cicli limite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4: W2 GAS per k «grandi», W1 gas per k «piccoli»; cicli limite per epsilon «piccoli»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5: W2 per e piccoli, W1 per e «intermedi» e clicli limite per e «grandi»</a:t>
            </a:r>
          </a:p>
          <a:p>
            <a:pPr lvl="1"/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Esperimento 6: meno predatori per m più grande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32A60-2605-8B1A-8B42-C6B1130DCBB9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Analisi dei risultati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BE4180-8AA3-FA0D-ECD1-D6A74D8F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D956-8483-48F0-B072-75AF7025ADAB}" type="datetime1">
              <a:rPr lang="it-IT" smtClean="0"/>
              <a:t>10/01/2026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BAE7B-10A4-8717-B325-E6E908ABA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21018-FC15-4A46-54C7-C4B302D1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5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2B0FF-872F-3734-75A3-DD3BCBE5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9AF197-FB2B-4BC3-831E-95CB872D4C92}"/>
              </a:ext>
            </a:extLst>
          </p:cNvPr>
          <p:cNvSpPr txBox="1"/>
          <p:nvPr/>
        </p:nvSpPr>
        <p:spPr>
          <a:xfrm>
            <a:off x="688257" y="442035"/>
            <a:ext cx="7216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RISULTATI: INTERPRETAZIONE BIOLOGICA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8CB8C2-8393-933F-432E-0A900A849717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883B7A-C556-68C5-3345-4DBFA5D00B1C}"/>
                  </a:ext>
                </a:extLst>
              </p:cNvPr>
              <p:cNvSpPr txBox="1"/>
              <p:nvPr/>
            </p:nvSpPr>
            <p:spPr>
              <a:xfrm>
                <a:off x="688257" y="1257642"/>
                <a:ext cx="1002890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Significato biologico dei risultati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0,2, 3: Per valori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r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diversi si ottengono traiettorie diverse</a:t>
                </a:r>
              </a:p>
              <a:p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4: il parametro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k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favorisce le prede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Indica la «forza» esercitata sui predatori nel contesto della competizione delle risorse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Come (quasi) il modello di competizione di Volterra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883B7A-C556-68C5-3345-4DBFA5D00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257642"/>
                <a:ext cx="10028904" cy="3785652"/>
              </a:xfrm>
              <a:prstGeom prst="rect">
                <a:avLst/>
              </a:prstGeom>
              <a:blipFill>
                <a:blip r:embed="rId2"/>
                <a:stretch>
                  <a:fillRect l="-851" t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95C9172-5FCF-2AA0-23CE-53A1E00FB391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Analisi dei risultati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B86C6-A824-E2CF-4BA5-1B76775DB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BD75C-8A8B-4E75-8D28-95927EC03BF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AAC32-A71D-B4AE-2B8B-EF3EE745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6027C69-1F31-52D1-2538-F0D601F20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76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C29B5-99B9-104E-03A0-B7377BC96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8B40F3-741A-9369-89E9-46CC7122F287}"/>
              </a:ext>
            </a:extLst>
          </p:cNvPr>
          <p:cNvSpPr txBox="1"/>
          <p:nvPr/>
        </p:nvSpPr>
        <p:spPr>
          <a:xfrm>
            <a:off x="688257" y="442035"/>
            <a:ext cx="7216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RISULTATI: INTERPRETAZIONE BIOLOGICA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81598F-EFBA-6DCA-F41E-B6372AEC52FD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4C9DF-ECF9-416E-9386-7AEC55C01057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Analisi dei risultati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1794D-6F3F-6987-760A-6A1BF2B7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BD75C-8A8B-4E75-8D28-95927EC03BF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2EFDA-F3F5-C348-0B12-CA3A3700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DD9ABE-5B56-D6B0-FC23-2AA2B2FF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4713DF-97C3-1E99-28A7-340FDCE8F7E3}"/>
                  </a:ext>
                </a:extLst>
              </p:cNvPr>
              <p:cNvSpPr txBox="1"/>
              <p:nvPr/>
            </p:nvSpPr>
            <p:spPr>
              <a:xfrm>
                <a:off x="688257" y="1416015"/>
                <a:ext cx="8455743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5: Ci sono più traiettorie per valori di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e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diversi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W1, W2 o ciclo limite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Determina la «forma» della traiettoria</a:t>
                </a:r>
              </a:p>
              <a:p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Esperimento 6: Il parametro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sfavorisce i predatori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 effetti, indica «quanto si nascondono» le prede; senza vederli, i predatori hanno meno possibilità di predazione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4713DF-97C3-1E99-28A7-340FDCE8F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416015"/>
                <a:ext cx="8455743" cy="3046988"/>
              </a:xfrm>
              <a:prstGeom prst="rect">
                <a:avLst/>
              </a:prstGeom>
              <a:blipFill>
                <a:blip r:embed="rId2"/>
                <a:stretch>
                  <a:fillRect l="-1009" t="-1400" b="-3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6812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BDE77-1D47-6679-BF7F-01B39EDA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685A1F-5E89-447C-43A5-111C74075040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ULTERIORI SPERIMENTAZIONI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20AC3E-7693-5EF2-ADD1-5171E6B4A390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A9BD0E-6101-BB72-CD0C-F6B3B412E1E3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CC3012-19D7-C76B-25B0-866D342315B4}"/>
                  </a:ext>
                </a:extLst>
              </p:cNvPr>
              <p:cNvSpPr txBox="1"/>
              <p:nvPr/>
            </p:nvSpPr>
            <p:spPr>
              <a:xfrm>
                <a:off x="688257" y="1152986"/>
                <a:ext cx="10028904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Sperimentazioni con altri parametri: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Non visti/modificati nel paper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Fattore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αθ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Fattore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</m:oMath>
                </a14:m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Cosa succede al modello? Come viene influenzata la stabilità?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Parametri: stessi dell’esperimento 0 (W2 LAS)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Collegamenti con altri modelli prede-predatori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MacArthur-Rosenzweig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Modifiche al modello (Strada verso al caos)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Periodicizzazione di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σ</m:t>
                    </m:r>
                  </m:oMath>
                </a14:m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CC3012-19D7-C76B-25B0-866D34231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152986"/>
                <a:ext cx="10028904" cy="4893647"/>
              </a:xfrm>
              <a:prstGeom prst="rect">
                <a:avLst/>
              </a:prstGeom>
              <a:blipFill>
                <a:blip r:embed="rId2"/>
                <a:stretch>
                  <a:fillRect l="-851" t="-872" b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588AD-4A53-AC39-5FDC-962763761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6487E-47B2-E8F5-D950-30C70724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4304-72F4-2CCB-5650-9280065B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43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425A3-A17A-E86E-40CE-C2602872B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B109E4-023D-9AAE-29E9-40A6930BD57E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FATTORE </a:t>
            </a:r>
            <a:r>
              <a:rPr lang="el-GR" sz="2800" b="1" dirty="0"/>
              <a:t>αθ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D6AE5C-BEBB-50EA-C3A3-F09815BDF230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DBF9D8-6A4A-9DF4-013C-0739E7CEA80A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F1F18-9B90-7C78-D732-B23D9F61B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79F01-0EFF-7581-3164-84C4F218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6FC86-7911-4BBF-01D3-9D5A570E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30</a:t>
            </a:fld>
            <a:endParaRPr lang="en-US" dirty="0"/>
          </a:p>
        </p:txBody>
      </p:sp>
      <p:pic>
        <p:nvPicPr>
          <p:cNvPr id="10" name="Picture 9" descr="A diagram of a diagram&#10;&#10;AI-generated content may be incorrect.">
            <a:extLst>
              <a:ext uri="{FF2B5EF4-FFF2-40B4-BE49-F238E27FC236}">
                <a16:creationId xmlns:a16="http://schemas.microsoft.com/office/drawing/2014/main" id="{913F4DF8-8440-13C2-D076-CAD7EA95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42" y="1488475"/>
            <a:ext cx="5353050" cy="45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C350B4-7901-887D-1E2B-9563234F695E}"/>
                  </a:ext>
                </a:extLst>
              </p:cNvPr>
              <p:cNvSpPr txBox="1"/>
              <p:nvPr/>
            </p:nvSpPr>
            <p:spPr>
              <a:xfrm>
                <a:off x="6213010" y="2005026"/>
                <a:ext cx="5447687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Intuizione modellistica: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Più e migliori risore all’esterno </a:t>
                </a:r>
                <a14:m>
                  <m:oMath xmlns:m="http://schemas.openxmlformats.org/officeDocument/2006/math">
                    <m:r>
                      <a:rPr lang="it-IT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⇒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Predatori emigrano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Risultato: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Più e migliori risorse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⇒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W2 tende a W1 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Quindi meno predatori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Intuizione confermata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C350B4-7901-887D-1E2B-9563234F6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010" y="2005026"/>
                <a:ext cx="5447687" cy="3416320"/>
              </a:xfrm>
              <a:prstGeom prst="rect">
                <a:avLst/>
              </a:prstGeom>
              <a:blipFill>
                <a:blip r:embed="rId3"/>
                <a:stretch>
                  <a:fillRect l="-1454" t="-1250" r="-2573" b="-3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6081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5363B-C443-2C30-76AC-1A20ED6B1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D8A499-2D61-3350-373E-8EBD281DB141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FATTORE </a:t>
            </a:r>
            <a:r>
              <a:rPr lang="el-GR" sz="2800" b="1" dirty="0"/>
              <a:t>𝜎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BBA5D8-A77B-7A34-15A4-D5765E556311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2678C-7842-9FB1-14CE-5E5831F4C67F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24BAF3-B0FA-49A4-4F07-372D1C29C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AAAC8-FFC7-7B63-19BE-AF2B8C105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A1E7B-5B7F-2BF9-E56B-74329CFA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3955B6-A31B-BE5E-7BDD-21C6641EF41B}"/>
                  </a:ext>
                </a:extLst>
              </p:cNvPr>
              <p:cNvSpPr txBox="1"/>
              <p:nvPr/>
            </p:nvSpPr>
            <p:spPr>
              <a:xfrm>
                <a:off x="6213010" y="1983429"/>
                <a:ext cx="544768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Risultato analogo per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Questa volta fatto variare «solo» in [0,10]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3955B6-A31B-BE5E-7BDD-21C6641EF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010" y="1983429"/>
                <a:ext cx="5447687" cy="1200329"/>
              </a:xfrm>
              <a:prstGeom prst="rect">
                <a:avLst/>
              </a:prstGeom>
              <a:blipFill>
                <a:blip r:embed="rId2"/>
                <a:stretch>
                  <a:fillRect l="-1454" t="-3553" r="-895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diagram of a graph&#10;&#10;AI-generated content may be incorrect.">
            <a:extLst>
              <a:ext uri="{FF2B5EF4-FFF2-40B4-BE49-F238E27FC236}">
                <a16:creationId xmlns:a16="http://schemas.microsoft.com/office/drawing/2014/main" id="{B2263EAB-BD24-3C41-ED62-87EE15141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57" y="1416015"/>
            <a:ext cx="53530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281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B6A40-D661-9A26-0E43-D4D937EBC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F2C9DA-85F0-4279-745E-F5A7627C2113}"/>
              </a:ext>
            </a:extLst>
          </p:cNvPr>
          <p:cNvSpPr txBox="1"/>
          <p:nvPr/>
        </p:nvSpPr>
        <p:spPr>
          <a:xfrm>
            <a:off x="688257" y="442035"/>
            <a:ext cx="540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FATTORE </a:t>
            </a:r>
            <a:r>
              <a:rPr lang="el-GR" sz="2800" b="1" dirty="0"/>
              <a:t>𝜎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C17A29-B201-8A6E-5DFB-AF2E0F3F1329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ADCA7A-CA30-93E7-807D-37D345A7EF64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64E64-4683-F6B2-A4E8-3147F1ED8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6F43F-BCD3-A849-551B-FD5B6109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95E78-CE82-F067-7EBD-C1EB7772B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32</a:t>
            </a:fld>
            <a:endParaRPr lang="en-US"/>
          </a:p>
        </p:txBody>
      </p:sp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5C000E7-208C-EC4A-1744-A812B88A2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40" y="1416015"/>
            <a:ext cx="9891320" cy="462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2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EB176-FD21-9972-85AD-5E86C441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DD6E96-A531-748B-9AFC-F8F457F979E8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COLLEGAMENTI CON ALTRI MODELLI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A767E-5F74-183F-BD8A-E142A8086684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E33071-B55D-76E6-1141-2406EC6B1E9B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028AEB-CD72-69F8-4F77-009BFED571C8}"/>
              </a:ext>
            </a:extLst>
          </p:cNvPr>
          <p:cNvSpPr txBox="1"/>
          <p:nvPr/>
        </p:nvSpPr>
        <p:spPr>
          <a:xfrm>
            <a:off x="688257" y="1257642"/>
            <a:ext cx="100289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b="0" dirty="0">
                <a:latin typeface="Arial" panose="020B0604020202020204" pitchFamily="34" charset="0"/>
                <a:cs typeface="Arial" panose="020B0604020202020204" pitchFamily="34" charset="0"/>
              </a:rPr>
              <a:t>Modello «assomiglia» a MacArthur-Rosenzweig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b="0" dirty="0">
                <a:latin typeface="Arial" panose="020B0604020202020204" pitchFamily="34" charset="0"/>
                <a:cs typeface="Arial" panose="020B0604020202020204" pitchFamily="34" charset="0"/>
              </a:rPr>
              <a:t>Con una configurazione specifica di parametri il nostro modello diventa effettivamente MacArthur-Rosenzweig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Implicazioni: Il modello è una generalizzazione di MacArthur-Rosenzweig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Con più fattori «realistici»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Paura psicologica, competizione di risorse, ...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4DA80-DC8C-1E09-C3EA-F8E7D4919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DB564-13DE-9A02-5657-6CD85B03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CDC1F-2FE3-3237-CE42-54C20154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33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9D56C9-23A1-FE09-2767-EE8B93A25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7" y="4764955"/>
            <a:ext cx="5506488" cy="1382652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F7FD840C-0F7E-A2AC-6942-BFD5CA1B08AE}"/>
              </a:ext>
            </a:extLst>
          </p:cNvPr>
          <p:cNvSpPr/>
          <p:nvPr/>
        </p:nvSpPr>
        <p:spPr>
          <a:xfrm>
            <a:off x="6482080" y="5030185"/>
            <a:ext cx="2128520" cy="78232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C146A7-E801-86E0-A8D6-3652B801B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4823830"/>
            <a:ext cx="2530059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848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B749-1F4D-3C8D-B04B-64095978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B3DBD2-A48E-B0C8-E3EE-D6BD177A0413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COLLEGAMENTI CON ALTRI MODELLI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B935FA-FED0-BF8A-FDDB-188FD38BFB40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E88E89-A1A5-A9A6-C629-AE652A842AA9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9220AD-08EB-5DFA-1AAD-84CC98F360DE}"/>
                  </a:ext>
                </a:extLst>
              </p:cNvPr>
              <p:cNvSpPr txBox="1"/>
              <p:nvPr/>
            </p:nvSpPr>
            <p:spPr>
              <a:xfrm>
                <a:off x="688257" y="2657439"/>
                <a:ext cx="10028904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Sostituzioni fatte: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f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ψ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σ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ε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a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αθ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Annullo gli «effetti» non previsti da MacArthur e Rosenzweig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Fattore di paura, competizione, cibo esterno, emigrazione, ...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r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k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it-IT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</m:t>
                    </m:r>
                    <m:r>
                      <a:rPr lang="it-IT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Mantengo i tassi di mortalità e di natalità delle prede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Anche dei predatori, tenendo conto del fattore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</m:oMath>
                </a14:m>
                <a:endParaRPr lang="it-IT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𝜂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𝜌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β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η</m:t>
                    </m:r>
                  </m:oMath>
                </a14:m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Normalizzo gli effetti della predazione, in particolare dell’effetto «rifugio»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9220AD-08EB-5DFA-1AAD-84CC98F36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2657439"/>
                <a:ext cx="10028904" cy="4154984"/>
              </a:xfrm>
              <a:prstGeom prst="rect">
                <a:avLst/>
              </a:prstGeom>
              <a:blipFill>
                <a:blip r:embed="rId2"/>
                <a:stretch>
                  <a:fillRect l="-851" t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05222-C95B-7886-F96D-987C6F3A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B2C9D-3B0E-5A1C-A010-2F7175AA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38F64-D8E6-D642-B507-3F2C72B9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B3B561-A5D4-BE9A-91BA-DED51B9AE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57" y="1163780"/>
            <a:ext cx="5506488" cy="1382652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40BF01AD-C16E-E2C3-49B0-4C6C3E1AC506}"/>
              </a:ext>
            </a:extLst>
          </p:cNvPr>
          <p:cNvSpPr/>
          <p:nvPr/>
        </p:nvSpPr>
        <p:spPr>
          <a:xfrm>
            <a:off x="6482080" y="1429010"/>
            <a:ext cx="2128520" cy="78232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B4DA26-1BAA-D622-5D64-7ED29DF96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222655"/>
            <a:ext cx="2530059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08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602B6-37FB-BC5D-F277-BCD537DCE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6C65D-5EF0-A4C9-FFB3-230F06C844C3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COLLEGAMENTI CON ALTRI MODELLI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39952E-1EAC-3C35-A76D-B77F744168E8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1A43ED-02E2-0709-B026-5B46A23C9233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740828-9B7F-E3FF-41DF-B0BEBF6C6AD4}"/>
                  </a:ext>
                </a:extLst>
              </p:cNvPr>
              <p:cNvSpPr txBox="1"/>
              <p:nvPr/>
            </p:nvSpPr>
            <p:spPr>
              <a:xfrm>
                <a:off x="688257" y="2657439"/>
                <a:ext cx="1002890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Osservazione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Parametro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e</m:t>
                    </m:r>
                  </m:oMath>
                </a14:m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è direttamente proporzionale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ρ</m:t>
                    </m:r>
                  </m:oMath>
                </a14:m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 un certo senso, è il fattore «critico» della biforcazione di Hopf</a:t>
                </a:r>
              </a:p>
              <a:p>
                <a:endParaRPr lang="it-IT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740828-9B7F-E3FF-41DF-B0BEBF6C6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2657439"/>
                <a:ext cx="10028904" cy="1938992"/>
              </a:xfrm>
              <a:prstGeom prst="rect">
                <a:avLst/>
              </a:prstGeom>
              <a:blipFill>
                <a:blip r:embed="rId2"/>
                <a:stretch>
                  <a:fillRect l="-851" t="-2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56675-AC97-8054-AFAE-22BE19EA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834C9-C10A-2D43-D4BA-91FAA7327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6A2E0-0862-6862-886E-E78DB90D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896FE-456A-B0E0-FA9A-C97EFD0E5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57" y="1163780"/>
            <a:ext cx="5506488" cy="1382652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C8953EC2-C9B6-DD6B-2CAE-9DD5C3B6B17C}"/>
              </a:ext>
            </a:extLst>
          </p:cNvPr>
          <p:cNvSpPr/>
          <p:nvPr/>
        </p:nvSpPr>
        <p:spPr>
          <a:xfrm>
            <a:off x="6482080" y="1429010"/>
            <a:ext cx="2128520" cy="78232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38540F-A84A-A67D-19A1-6526AD6EC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222655"/>
            <a:ext cx="2530059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171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878E8-7228-B9DF-2B81-8282CD904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AE2B87-9447-308D-6B54-CA5D1C35FFC9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COLLEGAMENTI CON ALTRI MODELLI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A108AF-49E3-4FE1-C520-FA2DFF57EF1C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7D058-20F9-DCF2-3796-597833C76136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BFAA65-C227-660C-8375-B2514318FC7D}"/>
                  </a:ext>
                </a:extLst>
              </p:cNvPr>
              <p:cNvSpPr txBox="1"/>
              <p:nvPr/>
            </p:nvSpPr>
            <p:spPr>
              <a:xfrm>
                <a:off x="688257" y="1257642"/>
                <a:ext cx="100289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Alcuni esempi di simulazioni, con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η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75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BFAA65-C227-660C-8375-B2514318F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257642"/>
                <a:ext cx="10028904" cy="461665"/>
              </a:xfrm>
              <a:prstGeom prst="rect">
                <a:avLst/>
              </a:prstGeom>
              <a:blipFill>
                <a:blip r:embed="rId2"/>
                <a:stretch>
                  <a:fillRect l="-851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A6C41-10ED-D903-C8AC-A707055C5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AEFA8-026E-CB1A-C27A-334804137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5CF99-446E-61A9-B7B1-A07C2993D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698638-306C-FC9C-21F1-E7B93D6E6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55" y="1932721"/>
            <a:ext cx="10695088" cy="37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87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BF7E6-343D-DABC-5484-2D48BF007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4040A3-5C4C-1D73-B92C-A950F7E2EE20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COLLEGAMENTI CON ALTRI MODELLI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17D963-34FB-63CD-59A5-B0457CAFDA62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0096CF-6995-9BE2-127D-FD1BEA41E29D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14FBE6-8F2B-5DB2-21DE-41802B7A24A3}"/>
              </a:ext>
            </a:extLst>
          </p:cNvPr>
          <p:cNvSpPr txBox="1"/>
          <p:nvPr/>
        </p:nvSpPr>
        <p:spPr>
          <a:xfrm>
            <a:off x="688257" y="1257642"/>
            <a:ext cx="10028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b="0" dirty="0">
                <a:latin typeface="Arial" panose="020B0604020202020204" pitchFamily="34" charset="0"/>
                <a:cs typeface="Arial" panose="020B0604020202020204" pitchFamily="34" charset="0"/>
              </a:rPr>
              <a:t>Altra implementazione di MR (Notebook del corso «</a:t>
            </a:r>
            <a:r>
              <a:rPr lang="it-IT" sz="2400" b="0" dirty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CS6 ROSEN.ipynb</a:t>
            </a:r>
            <a:r>
              <a:rPr lang="it-IT" sz="2400" b="0" dirty="0">
                <a:latin typeface="Arial" panose="020B0604020202020204" pitchFamily="34" charset="0"/>
                <a:cs typeface="Arial" panose="020B0604020202020204" pitchFamily="34" charset="0"/>
              </a:rPr>
              <a:t>»; simulazioni coincidenti </a:t>
            </a: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AD288-F606-2847-61EA-7FF6C73E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DF56F-9104-E659-6738-62E06E1FD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7B094-A599-5F4A-6CC6-7F1D7D7B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4116CA-2D9C-1E57-B5DE-68DA83ABD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849" y="2276259"/>
            <a:ext cx="9328300" cy="396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873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2D599-1F26-AB8B-E12F-54DC3F3C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111B0E-61C1-73E3-72A1-C985A61DD392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664AE7-F5F9-4DF1-76CE-DA9BFCAA3702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9F635B-778E-9D9C-CA6F-D55BBE20AAD9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6A891B-9C9A-7D73-A595-39A4D97F4A45}"/>
                  </a:ext>
                </a:extLst>
              </p:cNvPr>
              <p:cNvSpPr txBox="1"/>
              <p:nvPr/>
            </p:nvSpPr>
            <p:spPr>
              <a:xfrm>
                <a:off x="688257" y="1070022"/>
                <a:ext cx="10028904" cy="5279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Estratto dal paper: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Idea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Se rendessimo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σ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una funzione periodica ?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Intuizione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La migrazione è stagionale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Cosa faremo: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Definiamo la famiglia di funzioni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A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ω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t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):=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A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sin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ωt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)+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Effettuiamo un po’ di esperimenti al variare dei parametri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partire dai parametri dell’esperimento 0</a:t>
                </a:r>
              </a:p>
              <a:p>
                <a:pPr lvl="2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Cosa aspettiamo: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Chaos, Butterfly Effect dovuti a Parametric Resonance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6A891B-9C9A-7D73-A595-39A4D97F4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070022"/>
                <a:ext cx="10028904" cy="5279202"/>
              </a:xfrm>
              <a:prstGeom prst="rect">
                <a:avLst/>
              </a:prstGeom>
              <a:blipFill>
                <a:blip r:embed="rId2"/>
                <a:stretch>
                  <a:fillRect l="-851" t="-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1BFD0-1E5F-5C56-7B26-A37F4EB7B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3F99-B0AE-AAB2-C0DB-A59B72E9E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90CEC-EE09-D975-1B7E-A9D412D8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38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878125-481E-18D5-C2A7-CD47D0F87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067103"/>
            <a:ext cx="5779334" cy="109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381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6FC8E-0EB3-51A8-FC02-4BB78042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7DAA87-46CF-A6EA-E41E-1C3116D42124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907262-6745-6934-7DDE-C9989BD0C63A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02C3EC-0405-9EB1-FBDF-6F0C02069943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6129A-57B6-BFAF-39BE-69CE8CB9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EF8E2-2A4F-5E1A-27FF-A6F286C9B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B253F-AFE9-6281-8A9B-5507334AE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39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A0F13-0306-3502-5A72-87C9ED08CD3F}"/>
              </a:ext>
            </a:extLst>
          </p:cNvPr>
          <p:cNvSpPr txBox="1"/>
          <p:nvPr/>
        </p:nvSpPr>
        <p:spPr>
          <a:xfrm>
            <a:off x="688257" y="1182283"/>
            <a:ext cx="1002890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VARIAZIONE DELLE FREQUENZE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23EE78-6B09-B336-16DC-95648BAAB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20" y="1708458"/>
            <a:ext cx="11529158" cy="382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58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D2346-7A77-19D3-063D-DA80B3B84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8EF56-9B76-4037-5263-3B78A4DCDDDF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E9298C-8670-D4D1-C260-727A7E0BF959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73302-800E-25D0-335F-853D9721F781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8698-21CD-6FD5-F535-56DF4A731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52A91-6A23-0755-B5CE-1ED7563C5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4BC75-658D-4EB3-CC2B-2EBFF4A0E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EB83C2-93F5-668C-7EEF-1DAA55C4A31B}"/>
                  </a:ext>
                </a:extLst>
              </p:cNvPr>
              <p:cNvSpPr txBox="1"/>
              <p:nvPr/>
            </p:nvSpPr>
            <p:spPr>
              <a:xfrm>
                <a:off x="688257" y="1182283"/>
                <a:ext cx="1002890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Si ha il «fenomeno caos» per valori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ω</m:t>
                    </m:r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«intermedi»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Troppo piccolo o grande: il modello ha ciclo limite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Intermedio: CHAOS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EB83C2-93F5-668C-7EEF-1DAA55C4A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182283"/>
                <a:ext cx="10028904" cy="1938992"/>
              </a:xfrm>
              <a:prstGeom prst="rect">
                <a:avLst/>
              </a:prstGeom>
              <a:blipFill>
                <a:blip r:embed="rId2"/>
                <a:stretch>
                  <a:fillRect l="-851" t="-2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5DE41AF-B057-165D-0460-F5FABA165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20" y="2382612"/>
            <a:ext cx="11529158" cy="382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0966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5B9A3-0005-4CEA-4FF3-223748B2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4582B9-76D5-D6C1-2F3C-1E3CDF3FE252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41339F-0751-FC43-FF43-6FBBA1B0AB65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077C3-8945-E7BF-87C7-8DC9ED6FF8DD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F6C81-4A64-06AB-ACCC-B10BD29C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935A9-2255-E575-4411-5458E294B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3981B-3271-56CF-ABC0-D613D9D0F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B547F2-2C4A-A839-F956-C4B95F5AC9AD}"/>
                  </a:ext>
                </a:extLst>
              </p:cNvPr>
              <p:cNvSpPr txBox="1"/>
              <p:nvPr/>
            </p:nvSpPr>
            <p:spPr>
              <a:xfrm>
                <a:off x="688257" y="1070022"/>
                <a:ext cx="10028904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CASO 1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ω</m:t>
                    </m:r>
                    <m:r>
                      <a:rPr lang="it-IT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r>
                  <a:rPr lang="it-I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Modello CAOTICO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B547F2-2C4A-A839-F956-C4B95F5AC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070022"/>
                <a:ext cx="10028904" cy="1631216"/>
              </a:xfrm>
              <a:prstGeom prst="rect">
                <a:avLst/>
              </a:prstGeom>
              <a:blipFill>
                <a:blip r:embed="rId2"/>
                <a:stretch>
                  <a:fillRect l="-1094" t="-4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5777E55-FB23-9E90-11BE-B6CB814BC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846" y="1986228"/>
            <a:ext cx="8598306" cy="437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774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42D27-504C-A092-75BF-BF745718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CA3650-49EA-C6A5-5E74-AE6AA6433103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7EE08D-3AC6-EAE6-DA52-34797B968E03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DD122-3C8E-38D3-F2C5-613C35384268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AAC2B-F6A9-852D-B552-0A7E4499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26181-02A7-60D3-B432-9DF8F6A4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E7F87-3F9C-6914-F8B3-4F1910C3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42</a:t>
            </a:fld>
            <a:endParaRPr lang="en-US"/>
          </a:p>
        </p:txBody>
      </p:sp>
      <p:pic>
        <p:nvPicPr>
          <p:cNvPr id="10" name="CHAOS_0">
            <a:hlinkClick r:id="" action="ppaction://media"/>
            <a:extLst>
              <a:ext uri="{FF2B5EF4-FFF2-40B4-BE49-F238E27FC236}">
                <a16:creationId xmlns:a16="http://schemas.microsoft.com/office/drawing/2014/main" id="{EBCA956E-7999-43D9-D26C-6A0F2070CEB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1745848"/>
            <a:ext cx="10757842" cy="46105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A61483-008F-BE28-0F4C-BAD39BF2E609}"/>
              </a:ext>
            </a:extLst>
          </p:cNvPr>
          <p:cNvSpPr txBox="1"/>
          <p:nvPr/>
        </p:nvSpPr>
        <p:spPr>
          <a:xfrm>
            <a:off x="1170039" y="123134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0" dirty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CHAOS_0.MP4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438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34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BED8-2828-8BD5-7699-025F33366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1679EB-803F-5539-F8D6-5B0E20769CE6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952616-530E-94A9-17C7-E96E78CE5993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9D42CC-D26B-2470-E2BA-958E439B0AA4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E9E74-5837-231B-A0F1-D154F6FE5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5253A-8E88-AFD6-C714-58AE2486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8BCAE-784A-80BF-3A4C-47645527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43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11C11-8FD5-590C-8BD0-43333A60D069}"/>
              </a:ext>
            </a:extLst>
          </p:cNvPr>
          <p:cNvSpPr txBox="1"/>
          <p:nvPr/>
        </p:nvSpPr>
        <p:spPr>
          <a:xfrm>
            <a:off x="688257" y="1070022"/>
            <a:ext cx="100289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Analisi delle proprietà statistiche (un tentativo)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Densità congiunta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: somma di superfici gaussiane</a:t>
            </a: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3A263D-6CA3-BBE5-862E-AFDE771B3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69" y="1853628"/>
            <a:ext cx="9832260" cy="460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775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77789-7C86-3DB3-39C3-2055E3527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4848D5-58DE-02EE-E04C-C81537314229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0254C7-B43C-AADC-12C6-291E00340D6D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1241AB-CCF5-21AE-9772-5E166DFD3653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560D1-0151-FFDF-D3FC-C3A0B8A2A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0ED8A-E602-50EC-BD4A-03519941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32AC8-8F5E-4B62-A6BA-49549575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44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D6CDBC-4C7A-82B7-DD97-0AAB5B8FE51B}"/>
                  </a:ext>
                </a:extLst>
              </p:cNvPr>
              <p:cNvSpPr txBox="1"/>
              <p:nvPr/>
            </p:nvSpPr>
            <p:spPr>
              <a:xfrm>
                <a:off x="688257" y="1286331"/>
                <a:ext cx="10028904" cy="495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it-I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CASO 2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8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ω</m:t>
                    </m:r>
                    <m:r>
                      <a:rPr lang="it-IT" sz="28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it-IT" sz="28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</m:oMath>
                </a14:m>
                <a:r>
                  <a:rPr lang="it-I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BUTTERFLY EFFECT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3 punti iniziali «vicini»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(7,0.5) ; (7,1) ; (7,0.025)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Traiettorie diverse</a:t>
                </a:r>
              </a:p>
              <a:p>
                <a:pPr marL="1200150" lvl="2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Diveramente da cicli limite «regolari»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Nonostante non-chaos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D6CDBC-4C7A-82B7-DD97-0AAB5B8FE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1286331"/>
                <a:ext cx="10028904" cy="4955203"/>
              </a:xfrm>
              <a:prstGeom prst="rect">
                <a:avLst/>
              </a:prstGeom>
              <a:blipFill>
                <a:blip r:embed="rId2"/>
                <a:stretch>
                  <a:fillRect l="-1094" t="-1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46115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7AB7A-C2D3-ADB6-8621-CE92963B2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52C896-931B-781B-C359-4B1BAF245E0C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85B857-EA33-8D15-6AF9-2590FEBEC542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67BBE7-1245-5728-7D9F-DFC1BDEEB6B5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71C57-EC85-6103-99AE-FCC03ED4E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AFBDE-E5E9-3CD1-25DD-7552A3A2B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DD4DD-B767-0EFE-966D-D2C71B96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45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B787E7-1E80-5247-5BBE-C3491E482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47" y="1911601"/>
            <a:ext cx="11469304" cy="40577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EFF254B-3C97-C2E6-C9A3-0517568B1F5C}"/>
              </a:ext>
            </a:extLst>
          </p:cNvPr>
          <p:cNvSpPr txBox="1"/>
          <p:nvPr/>
        </p:nvSpPr>
        <p:spPr>
          <a:xfrm>
            <a:off x="688257" y="1286331"/>
            <a:ext cx="100289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CASO 2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6180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1915E-9380-EBE7-B3E1-53864766C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5BC66E-0670-C674-4D70-3D63F76BACF5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D9220-5094-7EC5-9090-38A7D10362C3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6627B2-3B56-78A8-BBC8-91E77FDFEFA9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E03AF-0E0F-DAF2-472D-3A29536E3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B16DD-1E8B-3483-C4E2-1C9D04508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DAAD4-338B-29B1-B5B7-FE17F9983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46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0F624F-E1BF-861B-1F70-BBB94F3349EC}"/>
              </a:ext>
            </a:extLst>
          </p:cNvPr>
          <p:cNvSpPr txBox="1"/>
          <p:nvPr/>
        </p:nvSpPr>
        <p:spPr>
          <a:xfrm>
            <a:off x="688257" y="1286331"/>
            <a:ext cx="100289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CASO 2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BUTTERFLY_0">
            <a:hlinkClick r:id="" action="ppaction://media"/>
            <a:extLst>
              <a:ext uri="{FF2B5EF4-FFF2-40B4-BE49-F238E27FC236}">
                <a16:creationId xmlns:a16="http://schemas.microsoft.com/office/drawing/2014/main" id="{02B740F2-8767-27B6-5097-59E56BF4019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8257" y="1690488"/>
            <a:ext cx="10668000" cy="457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EC7A61-A8B3-AAC2-0FDC-9FE2C63BC454}"/>
              </a:ext>
            </a:extLst>
          </p:cNvPr>
          <p:cNvSpPr txBox="1"/>
          <p:nvPr/>
        </p:nvSpPr>
        <p:spPr>
          <a:xfrm>
            <a:off x="7669161" y="128994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0" dirty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BUTTERFLY_0.MP4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5874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50237-83F1-E7C6-A033-30B7446FF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6EED3-35ED-C343-7F9C-67B00295CA5A}"/>
              </a:ext>
            </a:extLst>
          </p:cNvPr>
          <p:cNvSpPr txBox="1"/>
          <p:nvPr/>
        </p:nvSpPr>
        <p:spPr>
          <a:xfrm>
            <a:off x="688257" y="442035"/>
            <a:ext cx="690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LA STRADA VERSO IL CHAOS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74BAD-D455-C7DB-5BFB-5457E4746E0C}"/>
              </a:ext>
            </a:extLst>
          </p:cNvPr>
          <p:cNvSpPr/>
          <p:nvPr/>
        </p:nvSpPr>
        <p:spPr>
          <a:xfrm>
            <a:off x="688257" y="965255"/>
            <a:ext cx="10815485" cy="104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B83FC-0648-61B7-CBC6-60C5E6B415AA}"/>
              </a:ext>
            </a:extLst>
          </p:cNvPr>
          <p:cNvSpPr txBox="1"/>
          <p:nvPr/>
        </p:nvSpPr>
        <p:spPr>
          <a:xfrm>
            <a:off x="6959599" y="514495"/>
            <a:ext cx="4544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400" b="1" i="1" dirty="0"/>
              <a:t>Step: More stuff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A6531-19B2-A501-D49D-2E20B44F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02CD-913D-490D-9F2F-9D6BDCD607B3}" type="datetime1">
              <a:rPr lang="it-IT" smtClean="0"/>
              <a:t>10/01/2026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08A3F-F9DD-DD39-7745-3821C28B9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DINO MENG [SM3201466], BsC AIDA@MIGE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8CE7-F685-451F-002E-07B8D654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32AC9-143A-477E-841D-1F801B7F8FE8}" type="slidenum">
              <a:rPr lang="en-US" smtClean="0"/>
              <a:t>47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A13012-EDC2-9F54-5AA1-9CC03131FC79}"/>
              </a:ext>
            </a:extLst>
          </p:cNvPr>
          <p:cNvSpPr txBox="1"/>
          <p:nvPr/>
        </p:nvSpPr>
        <p:spPr>
          <a:xfrm>
            <a:off x="688257" y="1286331"/>
            <a:ext cx="100289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Per concludere...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0E2241-0849-0F1F-3067-11FBAE8615B9}"/>
              </a:ext>
            </a:extLst>
          </p:cNvPr>
          <p:cNvSpPr txBox="1"/>
          <p:nvPr/>
        </p:nvSpPr>
        <p:spPr>
          <a:xfrm>
            <a:off x="7669161" y="128994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0" dirty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CHAOS_ALT_0.MP4</a:t>
            </a:r>
            <a:endParaRPr lang="en-US" sz="2400" dirty="0"/>
          </a:p>
        </p:txBody>
      </p:sp>
      <p:pic>
        <p:nvPicPr>
          <p:cNvPr id="2" name="CHAOS_ALT_0">
            <a:hlinkClick r:id="" action="ppaction://media"/>
            <a:extLst>
              <a:ext uri="{FF2B5EF4-FFF2-40B4-BE49-F238E27FC236}">
                <a16:creationId xmlns:a16="http://schemas.microsoft.com/office/drawing/2014/main" id="{F8CA034B-F4E6-A6D7-F630-7031EA10EC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5800" y="1843965"/>
            <a:ext cx="1066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8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2255</Words>
  <Application>Microsoft Office PowerPoint</Application>
  <PresentationFormat>Widescreen</PresentationFormat>
  <Paragraphs>478</Paragraphs>
  <Slides>47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Aptos</vt:lpstr>
      <vt:lpstr>Aptos Display</vt:lpstr>
      <vt:lpstr>Arial</vt:lpstr>
      <vt:lpstr>Cambria Math</vt:lpstr>
      <vt:lpstr>Cascadia Code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DINO [SM3201466]</dc:creator>
  <cp:lastModifiedBy>MENG DINO [SM3201466]</cp:lastModifiedBy>
  <cp:revision>56</cp:revision>
  <dcterms:created xsi:type="dcterms:W3CDTF">2025-12-30T16:32:43Z</dcterms:created>
  <dcterms:modified xsi:type="dcterms:W3CDTF">2026-01-10T14:13:41Z</dcterms:modified>
</cp:coreProperties>
</file>