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7" r:id="rId2"/>
    <p:sldId id="258" r:id="rId3"/>
    <p:sldId id="260" r:id="rId4"/>
    <p:sldId id="259" r:id="rId5"/>
    <p:sldId id="263" r:id="rId6"/>
    <p:sldId id="268" r:id="rId7"/>
    <p:sldId id="269" r:id="rId8"/>
    <p:sldId id="270" r:id="rId9"/>
    <p:sldId id="261" r:id="rId10"/>
    <p:sldId id="262" r:id="rId11"/>
    <p:sldId id="264" r:id="rId12"/>
    <p:sldId id="265" r:id="rId13"/>
    <p:sldId id="266" r:id="rId14"/>
    <p:sldId id="267" r:id="rId15"/>
    <p:sldId id="287" r:id="rId16"/>
    <p:sldId id="281" r:id="rId17"/>
    <p:sldId id="291" r:id="rId18"/>
    <p:sldId id="29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6" r:id="rId29"/>
    <p:sldId id="282" r:id="rId30"/>
    <p:sldId id="284" r:id="rId31"/>
    <p:sldId id="285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03/01/2026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03/01/2026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03/01/2026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03/01/2026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430C8-B4FE-BEF8-15C2-7DBA6F32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E00E-772D-4437-B382-3CBA9B54C360}" type="datetime1">
              <a:rPr lang="it-IT" smtClean="0"/>
              <a:t>03/01/2026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02D50-6EA2-9686-38DC-FAB7048B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8CF44-DB57-60DB-AB41-D2EFB4F8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«Risorse aggiuntive» esterne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Risposta funzionale asimmetrica (1 preda consumata != 1 predatore)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Articolo scientifico: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1696064" y="5027905"/>
            <a:ext cx="87998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355" y="1984705"/>
            <a:ext cx="4601496" cy="23007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Confronto dei risultati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Risultati sperimentali VS Risultati proposti nel paper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Implementazioni accessorie ed esperimenti aggiuntivi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Approfondimenti o altri strumenti per analizzare il modello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blipFill>
                <a:blip r:embed="rId2"/>
                <a:stretch>
                  <a:fillRect l="-886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g1, g2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blipFill>
                <a:blip r:embed="rId2"/>
                <a:stretch>
                  <a:fillRect l="-1069" t="-1089" b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8C9A882-9361-4902-3E01-45EEB4A52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805" y="5056101"/>
            <a:ext cx="8652388" cy="135986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4FCF-82AB-3C42-97F3-7034E745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E6157-C4AE-AA20-58D3-7BDF2E787E20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6D227-FB10-B8F5-CD73-38CAF8192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A6D52-8190-5984-7099-CB3DBC5ABC1B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locale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e globale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BC9BDB6-3720-FBFF-1175-576FA3ADA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08" y="2324439"/>
            <a:ext cx="6577058" cy="1325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19745-CF81-E75F-01A8-EEC41D3DD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79" y="4141713"/>
            <a:ext cx="5037036" cy="1474034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544F69D-41B2-CBC9-0B7A-5FC91BE15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08" y="3772977"/>
            <a:ext cx="5627886" cy="25646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5C0265-C537-1D92-FB35-4AEDBA5F6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41016-63A1-42AC-B939-9B58CF64338C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8EF9A-7C04-23AB-0D0F-D77EDED6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B6F45D-201E-BE3D-32CD-64B2D183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8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B015-236F-096D-B404-8047166F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8BBB70-4BF6-C48E-7D0C-F2F2582BA264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BE814-046A-9F05-4897-03A89BA165F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90A87-3AD7-E597-2E37-E829F4647827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globale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39026EA-245F-66F3-DFC1-37E0A3FD5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6" y="2602412"/>
            <a:ext cx="5578258" cy="1653176"/>
          </a:xfrm>
          <a:prstGeom prst="rect">
            <a:avLst/>
          </a:prstGeom>
        </p:spPr>
      </p:pic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9D9A99-E2F4-C395-2A44-604CC1EA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94" y="2166095"/>
            <a:ext cx="5470490" cy="1915146"/>
          </a:xfrm>
          <a:prstGeom prst="rect">
            <a:avLst/>
          </a:prstGeom>
        </p:spPr>
      </p:pic>
      <p:pic>
        <p:nvPicPr>
          <p:cNvPr id="17" name="Picture 1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C6BB18C-1A93-4330-7FF1-6C7748E55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298" y="4727907"/>
            <a:ext cx="4290432" cy="1585097"/>
          </a:xfrm>
          <a:prstGeom prst="rect">
            <a:avLst/>
          </a:prstGeom>
        </p:spPr>
      </p:pic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1362303D-F2E9-34D7-AE02-33301F5288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783" y="4342077"/>
            <a:ext cx="5613462" cy="207388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2CBF0-95DC-48D4-2572-EB2D407F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55B49-8341-42AA-9537-F1E5653FF438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4C968-B45B-7EB7-B3BD-684553CE3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56642B-83B9-BBDD-F58C-94088171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4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11C4-3795-2E81-9EAD-773F0607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36853-1A98-74C7-6AF3-2A638A554CEE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839F4-775F-7DAA-2804-5B8CD287F4D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3E520-BB9B-997F-7B8D-7F73EBBE6E54}"/>
              </a:ext>
            </a:extLst>
          </p:cNvPr>
          <p:cNvSpPr txBox="1"/>
          <p:nvPr/>
        </p:nvSpPr>
        <p:spPr>
          <a:xfrm>
            <a:off x="688256" y="1242253"/>
            <a:ext cx="79837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globale di alcuni punti d’equilibrio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Implementare i test e verificare che funzionino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CDAC3-2215-8FE6-C245-09209ADB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2B6C-FF82-4F52-8DBB-5FB157E26F63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4C18-38C3-8038-FCFF-FBBC9759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A9E8-D01E-67C2-931C-BA005F2D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62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7" y="1242253"/>
                <a:ext cx="6735098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=1.2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=0.03, 0.0003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=0.005, 0.4, 0.7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=0.1, 0.25, 0.9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42253"/>
                <a:ext cx="6735098" cy="4893647"/>
              </a:xfrm>
              <a:prstGeom prst="rect">
                <a:avLst/>
              </a:prstGeom>
              <a:blipFill>
                <a:blip r:embed="rId2"/>
                <a:stretch>
                  <a:fillRect l="-1267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652784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D807-8DDD-9EAA-751E-700FEAE81398}"/>
              </a:ext>
            </a:extLst>
          </p:cNvPr>
          <p:cNvSpPr txBox="1"/>
          <p:nvPr/>
        </p:nvSpPr>
        <p:spPr>
          <a:xfrm>
            <a:off x="688257" y="1191119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3</a:t>
            </a:r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9324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4</a:t>
            </a:r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276B-D53A-D4EB-435C-5F592361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18FA9-FC5D-B538-7232-2788B44B7877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CONFRONTO DEI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A116B-1487-BCD9-A22F-4DE5B79713E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244F8-11C6-5014-50B5-4D33F89A39A6}"/>
              </a:ext>
            </a:extLst>
          </p:cNvPr>
          <p:cNvSpPr txBox="1"/>
          <p:nvPr/>
        </p:nvSpPr>
        <p:spPr>
          <a:xfrm>
            <a:off x="688257" y="1257642"/>
            <a:ext cx="82885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Maggior parte: risultati confermati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Tuttavia...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inconsistenti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non replicabili</a:t>
            </a:r>
          </a:p>
          <a:p>
            <a:pPr lvl="1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subito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84AA6-E879-C6BC-54DE-FDC21DACB34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DB329-3CCE-4F30-21E6-56D490C15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F2A43-5120-4B7D-95A3-344374AC366D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BCE6-7521-E6FC-9121-FC8F15B9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303E4-3167-FC58-B2DA-4F1D8E5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8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017D8-AFD3-9ECF-888F-78B1E69A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EAB306-B5C9-C2C2-9518-F42386EB11A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55AECD-545C-F2BB-503F-DC60D369564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77567-78A8-4540-A0B0-5DDF183203B7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(paper)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161C93-E697-979E-5CEF-EE525B6D4512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832A08-EC71-B794-47C2-154D92E49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1573E2-3348-0555-2CC6-82281896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3E3F76-D042-3D3C-C405-A1E194CA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098C0D8-EC70-870E-F65A-F825650BC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424" y="2449377"/>
            <a:ext cx="9183150" cy="396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1287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9EBC-E960-80F8-4F38-DE4B7C8E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99946-3FA8-411E-1F48-FD34A694486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EA687-C59E-7030-1D94-51E5843E548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2E841-85E9-5FF2-60D6-1574D81FA1B3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BACEA1-240E-D3D7-F3F2-AF893C247B2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0_0">
            <a:hlinkClick r:id="" action="ppaction://media"/>
            <a:extLst>
              <a:ext uri="{FF2B5EF4-FFF2-40B4-BE49-F238E27FC236}">
                <a16:creationId xmlns:a16="http://schemas.microsoft.com/office/drawing/2014/main" id="{AAEA3DFA-6895-ED91-D3AE-2696E366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8914" y="2501321"/>
            <a:ext cx="9134170" cy="391464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B836-DAC2-9267-C2C5-F936165D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F957D-84CF-9D72-2976-E12DF392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BF30A-8419-AA8E-8F24-C09FCE78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AEBC-42B1-6175-B5AA-846E8D1D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C62D8-4D7A-703C-CBBB-364F4E15906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4DA277-9B4B-44E0-7836-CEDA8642592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/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Esempio: Esperimento 5 (paper)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(a): 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0.01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(b):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0.01 &lt;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≤0.5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(c):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6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blipFill>
                <a:blip r:embed="rId2"/>
                <a:stretch>
                  <a:fillRect l="-1705" t="-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8F60D2B-40BB-7E2A-976F-C051554D1EF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F4F5F-071A-A029-DC45-FE35BEB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ECD1-FEA2-35C1-C58E-6F59D92FD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13C14F-D97B-AD5A-AFF9-355CF467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  <p:pic>
        <p:nvPicPr>
          <p:cNvPr id="10" name="Picture 9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A49F2C5B-FD7A-0466-C4CE-EE22A8A57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4" y="1244240"/>
            <a:ext cx="6295352" cy="501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15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2923-C3F6-36C6-E92B-965CA3B75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701AAC-E917-91A8-A07E-665E33A7748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123C6-739B-4783-904E-CBA17D5F01C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3972-B305-3D52-C6CC-1D6765BB7EEB}"/>
              </a:ext>
            </a:extLst>
          </p:cNvPr>
          <p:cNvSpPr txBox="1"/>
          <p:nvPr/>
        </p:nvSpPr>
        <p:spPr>
          <a:xfrm>
            <a:off x="688257" y="1257642"/>
            <a:ext cx="82885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5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R: 0.005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G: 0.4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B: 0.7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F2EB-4740-D17D-C653-75D632B26AAC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E362-D7C6-712E-DD9E-A57AB37F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6BFBE-294D-CE22-E1F4-13A8F51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C58775-F23C-1494-D35B-E901F386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1" name="Picture 10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2DACABAC-2446-5411-5181-D5CFB873E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747" y="1743147"/>
            <a:ext cx="8870446" cy="450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208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8673-4825-EC4B-F4F7-BF51030C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2CA64F-8E26-E4B7-CAB5-F5EDB878072C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FC2B3-3748-019D-1903-91D4ADDF4F0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determinato con le isocline del paper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determinato nell’esperimento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Nel paper: solo l’approssimazione (33,18)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Simulazione: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l’algoritmo (33.705..., 18.230...)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la simulazione (32.929..., 18.185...)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Implementato altre isocline, risultati più consistenti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6C94292-CE88-EE37-B1D4-09B5FA704ED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96841-2BC8-A799-FB68-877EE9A5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901C-25D2-4418-A5A0-267BB4E58730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8182E-3E51-D74B-1591-7FC530F34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AB016-2E55-8FF2-1B10-330CFE26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0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C9857-1A52-1072-F295-5D0148F3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A2403C-D09D-3F27-55BF-7DC6795B12D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290CE3-5ED5-8A21-4C29-85A33BA673D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 (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=0.0003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Algoritmo implementato: W1 determinato è (6600,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Ha senso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Paper: W1 dichiarato è (2.6,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Impossibile con i parametri proposti...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blipFill>
                <a:blip r:embed="rId2"/>
                <a:stretch>
                  <a:fillRect l="-851" t="-1591" b="-4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577F87D-77B1-C1CB-21C2-9B1FF11224E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FD971-C78C-6A6E-EFC5-E78A9480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2A29-0D40-4C95-BBC3-4CE9585C45D0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D37AF-82E5-70BF-06D3-C8D708DB9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B7FBD-B10B-3C8A-DB5B-8ADFBA75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9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5F63-A6FA-B93E-7CB0-0794D0ECF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7892-5688-0F45-971F-A76C6C5950C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79662-FF70-67AA-B77A-E15BA9B9E32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CE18C-7C78-0931-96B4-3F0A6C387C6A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Cicli limite: OK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... Tuttavia le forme (e le scale) sono diverse!!!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F3B11-A705-CC0C-A494-727CDDCEB86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13BAC56E-B8B8-BF96-3FCC-DEA5B5C84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510" y="2934443"/>
            <a:ext cx="7854978" cy="34090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35BDF-3E2C-FF4F-E5DF-183A1D2E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1BEE-CBDC-4E52-BEE4-6FA4559C220C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FB2F6-531F-BBA0-FBCB-39DB87F8C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E45285-0787-3EA9-02EC-2491CF83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581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25D6-DF3E-3A97-3D95-1AF6E269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B57647-AFEA-49E4-DC17-3F73C7EFD8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16D3D-FD7A-FFED-460F-9F3A48DFE0C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B5244-9BC4-7A7B-CD78-3D99A832B7AA}"/>
              </a:ext>
            </a:extLst>
          </p:cNvPr>
          <p:cNvSpPr txBox="1"/>
          <p:nvPr/>
        </p:nvSpPr>
        <p:spPr>
          <a:xfrm>
            <a:off x="688257" y="1257642"/>
            <a:ext cx="100289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test di stabilità non sono affidabili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Problema: Se x1 &gt; 1, allora chiaramente 1-x1 &lt; 0 e quindi la seconda equazione è sicuramente soddisfatta in quanto psi è positiva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Ridondanza, è «sempre vera»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03D98-FD92-19A8-6C74-C69617A2B6A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0F69CA-E6C0-F97A-9B5F-43083507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239" y="2410783"/>
            <a:ext cx="5816940" cy="203643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9DB-3D3D-8914-0886-852390D12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A915D-2BA8-4F27-943A-17EA02CCA069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EC52C-B23D-BCB5-E5AF-A85DD77BE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26B32F-7F49-17DD-9E16-FF42F586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771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CB2B-DC3A-AED2-DE99-71ADF792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428316-75AB-D183-4E4E-D0605625A83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F6A2-35D7-0C65-9C42-0C4D29A263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8E273-BF7E-5A38-FF53-C27C8435D32D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Alternativa (solo per la stabilità locale):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Calcoliamo direttamente gli autovalori della Jacobiana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ED580-8CEF-579E-F95E-8256EB094D1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B870E-656D-F110-C16F-A80E2691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AB137-0A56-4868-923D-646D7C7CC445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8A38-BBDC-13DF-A25D-5DE1CB1D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9D57B-FEE5-1526-32C4-1589F6092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66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77452-60A4-53B8-652D-008E4EA9F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9C2578-8874-C74D-3E16-6FF3FE3DA224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APPROFONDIMENTO SU W2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77C2D9-F7F5-E652-0366-A39F3F7302A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DC62C6-31C1-2703-CF00-528C89686729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della stabilità con la Jacobiana: W2 rimane «NOT LAS» con i parametri del primo esperimento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Il paper dichiarava che è LAS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Secondo la simulazione lo è «apparentemente»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Risultato inconsistente: rifatto l’esperimento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Prolungato la simulazione (T=600),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Zoom su W2 nel grafico (time series)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9FD846-B850-2EE9-2713-55B4018AB9AE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90EF2-A2B8-BBB5-966B-44A83DF6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21B3C-0FEB-4362-9619-5D2FABF53E43}" type="datetime1">
              <a:rPr lang="it-IT" smtClean="0"/>
              <a:t>03/01/2026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1B956-4499-3184-8C33-996D0739C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BBE54-F7B0-EA44-F857-F163C5680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765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A180-B4A3-A9EB-9C6B-97B7E648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B1847E-2437-275D-BC8A-1158C45A42F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APPROFONDIMENTO SU W2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639D59-BF8C-D069-2A3D-938ED69BB49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9922D-1633-0551-E062-C52E3F0E267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4BA93B-ECEE-4F15-D94B-C334B0127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84578-FC4A-4BC5-A56E-8C608487780F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33D3A-3D73-C032-F75B-02CE82B29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EDF5E-071A-9EF2-4F0B-F1A2F9CE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  <p:pic>
        <p:nvPicPr>
          <p:cNvPr id="10" name="Picture 9" descr="A graph of a sound wave&#10;&#10;AI-generated content may be incorrect.">
            <a:extLst>
              <a:ext uri="{FF2B5EF4-FFF2-40B4-BE49-F238E27FC236}">
                <a16:creationId xmlns:a16="http://schemas.microsoft.com/office/drawing/2014/main" id="{644F473F-2078-AD6E-2303-3291CBD06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61" y="1436711"/>
            <a:ext cx="9515475" cy="45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0385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FE9A4-6EA0-3AB3-6F89-BE1990D2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B0DD3E-4157-B76F-9987-D1CD9DC5873B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APPROFONDIMENTO SU W2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F43595-52D0-D7A0-717D-FDCAAB81CCE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882A3-E78C-B2BA-6C34-867AB5F7AA15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29A26A-3C47-D1AB-FDA1-B2AF227D8AB0}"/>
              </a:ext>
            </a:extLst>
          </p:cNvPr>
          <p:cNvSpPr txBox="1"/>
          <p:nvPr/>
        </p:nvSpPr>
        <p:spPr>
          <a:xfrm>
            <a:off x="688257" y="1257642"/>
            <a:ext cx="100289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In realtà W2 non era mai LAS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 discapito delle apparenze e quanto proposto nel paper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Per confermare che non sia noise dovuto al risolutore: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Rieffettuato l’esperimento con metodi numerici diversi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Stessi risultati, confermato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D846B0-B38C-A692-E9A3-FFA97B603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7C2B-364A-4D71-8BAD-691E9BD64FFE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69EB7-D049-4D97-ECD0-F3AE4915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F40AED-F76D-795E-5333-A4B814668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39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630C4-A2E7-4675-A543-9FEFEB48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900290-CEF3-1C84-ED74-6C905D2E8C3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6E94F-3EDF-85B5-9FE9-C83560FAD80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E974E-5D79-EAAD-8215-1CA8EB2ACDE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B97E06-7102-F81F-5051-50DE12775BFD}"/>
              </a:ext>
            </a:extLst>
          </p:cNvPr>
          <p:cNvSpPr txBox="1"/>
          <p:nvPr/>
        </p:nvSpPr>
        <p:spPr>
          <a:xfrm>
            <a:off x="688257" y="1152875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Disegno del campo vettoriale del modello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Per «intuire» l’analisi della stabilità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E0F7C-1668-FDA7-9EF0-021890FE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5CFCE-A70D-F477-FB32-EC44EEBCE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4F433-73F9-6ECE-A411-3A85C2F9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/>
          </a:p>
        </p:txBody>
      </p:sp>
      <p:pic>
        <p:nvPicPr>
          <p:cNvPr id="10" name="Picture 9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CD6DC7DE-1358-6F55-0D9D-5163B0F2E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99103"/>
            <a:ext cx="6847528" cy="3942016"/>
          </a:xfrm>
          <a:prstGeom prst="rect">
            <a:avLst/>
          </a:prstGeom>
        </p:spPr>
      </p:pic>
      <p:pic>
        <p:nvPicPr>
          <p:cNvPr id="13" name="Picture 12" descr="A math equations with numbers&#10;&#10;AI-generated content may be incorrect.">
            <a:extLst>
              <a:ext uri="{FF2B5EF4-FFF2-40B4-BE49-F238E27FC236}">
                <a16:creationId xmlns:a16="http://schemas.microsoft.com/office/drawing/2014/main" id="{917F945D-FE12-D765-28FF-03F42E5D7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728" y="2588677"/>
            <a:ext cx="4044892" cy="964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3971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Strumento: diagramma di biforcazione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Calcoliamo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«passo passo» e lo confrontiamo con W1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(Esistenza e ciclo limite «attorno» di W2)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 r="-790" b="-2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1536160"/>
                <a:ext cx="5447687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migliore risorse aggiuntive all’esterno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Predatori emigrano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Tuttavia...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Scala logaritmica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536160"/>
                <a:ext cx="5447687" cy="4524315"/>
              </a:xfrm>
              <a:prstGeom prst="rect">
                <a:avLst/>
              </a:prstGeom>
              <a:blipFill>
                <a:blip r:embed="rId3"/>
                <a:stretch>
                  <a:fillRect l="-1454" t="-943" r="-2573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03/01/2026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31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1434</Words>
  <Application>Microsoft Office PowerPoint</Application>
  <PresentationFormat>Widescreen</PresentationFormat>
  <Paragraphs>315</Paragraphs>
  <Slides>31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17</cp:revision>
  <dcterms:created xsi:type="dcterms:W3CDTF">2025-12-30T16:32:43Z</dcterms:created>
  <dcterms:modified xsi:type="dcterms:W3CDTF">2026-01-03T12:11:36Z</dcterms:modified>
</cp:coreProperties>
</file>