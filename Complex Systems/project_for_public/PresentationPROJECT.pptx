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7" r:id="rId2"/>
    <p:sldId id="258" r:id="rId3"/>
    <p:sldId id="259" r:id="rId4"/>
    <p:sldId id="292" r:id="rId5"/>
    <p:sldId id="313" r:id="rId6"/>
    <p:sldId id="263" r:id="rId7"/>
    <p:sldId id="260" r:id="rId8"/>
    <p:sldId id="261" r:id="rId9"/>
    <p:sldId id="262" r:id="rId10"/>
    <p:sldId id="264" r:id="rId11"/>
    <p:sldId id="331" r:id="rId12"/>
    <p:sldId id="266" r:id="rId13"/>
    <p:sldId id="321" r:id="rId14"/>
    <p:sldId id="314" r:id="rId15"/>
    <p:sldId id="315" r:id="rId16"/>
    <p:sldId id="316" r:id="rId17"/>
    <p:sldId id="329" r:id="rId18"/>
    <p:sldId id="330" r:id="rId19"/>
    <p:sldId id="320" r:id="rId20"/>
    <p:sldId id="322" r:id="rId21"/>
    <p:sldId id="323" r:id="rId22"/>
    <p:sldId id="327" r:id="rId23"/>
    <p:sldId id="318" r:id="rId24"/>
    <p:sldId id="328" r:id="rId25"/>
    <p:sldId id="319" r:id="rId26"/>
    <p:sldId id="286" r:id="rId27"/>
    <p:sldId id="282" r:id="rId28"/>
    <p:sldId id="284" r:id="rId29"/>
    <p:sldId id="285" r:id="rId30"/>
    <p:sldId id="293" r:id="rId31"/>
    <p:sldId id="300" r:id="rId32"/>
    <p:sldId id="302" r:id="rId33"/>
    <p:sldId id="294" r:id="rId34"/>
    <p:sldId id="301" r:id="rId35"/>
    <p:sldId id="326" r:id="rId36"/>
    <p:sldId id="303" r:id="rId37"/>
    <p:sldId id="310" r:id="rId38"/>
    <p:sldId id="311" r:id="rId39"/>
    <p:sldId id="304" r:id="rId40"/>
    <p:sldId id="307" r:id="rId41"/>
    <p:sldId id="309" r:id="rId42"/>
    <p:sldId id="32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FF7C8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A086CB-A695-49D9-8C2E-9873859BCA4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80E1E-2258-41D2-8B32-8E87B6056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08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80E1E-2258-41D2-8B32-8E87B605637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301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80E1E-2258-41D2-8B32-8E87B605637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2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A1B7-DB72-A681-2033-56C8C70BE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4B660-CAF4-3219-EB44-792D929C4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15C1E-3914-AB6B-3CA2-EA5E6FCF4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9E74-BB92-43A1-93A9-56899A08A8EA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FD7B1-FB33-F83A-27B1-BDF1D7D22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91F03-8979-70F2-ECEA-6E3384D17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39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F1C7A-10E1-DD26-45F1-4B3C9B690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1CD10-3BB0-8EA8-6623-6B9FCC23F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DDC0A-3B65-F5D7-C477-4A4E3B5D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E7E5C-3220-4614-A522-AFD916A4C527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96670-8629-CDBD-2385-84818632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24927-65FB-51BA-8102-D4AEEBD1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45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06355-A4DA-DB3D-D25D-6CE74C95C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4B1C1-1CF7-C71A-0FBE-4EF3DAC4D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ECB99-27F5-4A28-9842-289C6349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044-EFFF-4CBD-97F7-2F91E5899AD1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A4995-9159-6B08-17FD-DE7E17BA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96CB5-B0F0-E3AA-073C-B5C64DF4E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37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6A3E-5A1B-F5FD-FACF-8DA04D63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9B25C-4928-214B-363E-487C1DBD4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98C1E-39AA-0188-CC22-64D81BB82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7D118-BF47-AF47-352E-5B09110F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58A1C-7692-454B-B2B0-19CF8E1B29B2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8DA9D-DE52-9BBD-E0FF-BFDBA75FC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8C15E-C400-FEFF-1290-A6DEB68AA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65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3AC29-F777-E2F6-16AE-EAE703C75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4ABF2-2425-958C-9323-803F873CA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46DEF-E969-0793-D297-F9CF74163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90DF9C-102E-D80A-7E68-CF7369D755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D20BAF-76DE-0BC8-D083-C8C1313B60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A01325-3495-2498-3DA1-878A08F0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4287-8B58-4D94-B233-149ADA4285AB}" type="datetime1">
              <a:rPr lang="it-IT" smtClean="0"/>
              <a:t>21/01/2026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A206E-ACE8-AB81-0614-4989B20BB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BF2F3-2087-D1AA-3AA9-CEAEFCDFC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7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0C88-BBC7-C2F0-B41C-FA324875D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876B24-8A07-0D3B-CB49-BCAF2E5C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9EFB-7A72-40B7-8B4E-23EC3F3D9178}" type="datetime1">
              <a:rPr lang="it-IT" smtClean="0"/>
              <a:t>21/01/2026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432E46-E76A-2D8B-743D-BBD66FB26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6486C1-36B7-5697-C9AD-1B40273A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405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2C0781-351F-4D4C-BBB9-40C29E859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B6C92-C1CD-4F55-ADFF-59EB1DF3CE0B}" type="datetime1">
              <a:rPr lang="it-IT" smtClean="0"/>
              <a:t>21/01/2026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553ED-EBCD-5BED-7D87-958BE8938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DFE19-4251-A3FE-2B05-768E712BC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0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70CCE-E24A-1368-158C-9CC2A1E7F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CD1A9-79B9-04C4-183A-ABEB42673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7F018-9907-24DA-67B7-AB78A72C0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C5A86-BBB9-9C51-C388-1BD0B6BE9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A038-0D44-4453-9D70-4F5E44A505EF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BF32C-3944-3316-33E6-6520F9301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B70AE-F95D-5837-B650-BC5DBA79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0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269E1-1BA9-4E0A-C9EC-830BF45DB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6A815-0A97-9B72-B7E9-1F937307FB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6C0D3-4315-8005-460D-1DA6294A7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6B32C-81D8-D1AD-CD17-94017958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DD4DD-220B-420A-80A9-E353ADB19088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3E62C-C7E7-F97A-57F4-80205B29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191FD-C317-CE02-809C-87ADAE13D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5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A97DD-A9F9-7404-38EB-6D12A4D4C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9CE41-6887-02C4-30C1-A65B22E7A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9D0E2-F731-2F81-F96B-81FBEB951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FB06-37EE-426F-B4C2-4056D956FFB6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3CAE9-F861-789E-BBEA-4F67F7536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5167-1BA4-811F-4D8A-8C4D653A8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01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D30D08-8BAB-44ED-5615-BB6125B95A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773AC-82A3-EC34-0644-68E57B827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10FFD-020E-B0BC-72DD-C7C8C51EF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66374-9FAD-424A-A417-2FC77F42A162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FC030-3D6A-25C0-7668-21CEF0ED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DB095-E1C3-DD27-F709-E521831AC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72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04014F-349A-6C80-8E2C-CB5615472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3B1D5-9190-A3C1-E196-50D937185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5195C-BEFC-41CB-0ED4-891EA0B80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ACF47F-4A45-43A2-A4A7-840A2C11A772}" type="datetime1">
              <a:rPr lang="it-IT" smtClean="0"/>
              <a:t>21/01/2026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904F7-082A-3B23-6CDC-E8FE417FF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nn-NO"/>
              <a:t>DINO MENG [SM3201466], BsC AIDA@MIGE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20877-A428-08AA-89EF-8267193D6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32AC9-143A-477E-841D-1F801B7F8F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853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i.org/10.1007/s13538-024-01594-9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2.png"/><Relationship Id="rId4" Type="http://schemas.openxmlformats.org/officeDocument/2006/relationships/image" Target="../media/image9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4.png"/><Relationship Id="rId4" Type="http://schemas.openxmlformats.org/officeDocument/2006/relationships/image" Target="../media/image1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43.png"/><Relationship Id="rId4" Type="http://schemas.openxmlformats.org/officeDocument/2006/relationships/notesSlide" Target="../notesSlides/notesSlide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9052F-BD7A-1D1B-43D1-C9EDE9616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33497BF-796B-A4A2-27A7-D594593D9E44}"/>
              </a:ext>
            </a:extLst>
          </p:cNvPr>
          <p:cNvSpPr txBox="1"/>
          <p:nvPr/>
        </p:nvSpPr>
        <p:spPr>
          <a:xfrm>
            <a:off x="0" y="2028616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/>
              <a:t>PROGETTO SISTEMI COMPLESSI</a:t>
            </a:r>
          </a:p>
          <a:p>
            <a:pPr algn="ctr"/>
            <a:endParaRPr lang="it-IT" sz="4400" b="1" dirty="0"/>
          </a:p>
          <a:p>
            <a:pPr algn="ctr"/>
            <a:endParaRPr lang="en-US" sz="4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E88BC2-BB4A-9967-895D-53C032476E89}"/>
              </a:ext>
            </a:extLst>
          </p:cNvPr>
          <p:cNvSpPr txBox="1"/>
          <p:nvPr/>
        </p:nvSpPr>
        <p:spPr>
          <a:xfrm>
            <a:off x="747252" y="27211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dirty="0"/>
              <a:t>DINO MENG [SM3201466]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AAD7C6-C278-936E-9D63-9403940955C9}"/>
              </a:ext>
            </a:extLst>
          </p:cNvPr>
          <p:cNvSpPr/>
          <p:nvPr/>
        </p:nvSpPr>
        <p:spPr>
          <a:xfrm>
            <a:off x="1720645" y="1728330"/>
            <a:ext cx="8524568" cy="1156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11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83EDE-02B6-E8AC-2521-60C029C17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0A35CD-D2E2-120B-D1B4-F34531D5C50D}"/>
              </a:ext>
            </a:extLst>
          </p:cNvPr>
          <p:cNvSpPr txBox="1"/>
          <p:nvPr/>
        </p:nvSpPr>
        <p:spPr>
          <a:xfrm>
            <a:off x="688257" y="442035"/>
            <a:ext cx="54077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INTRODUZIONE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2F190A-AADC-AEC9-B613-D7B38E6B36B7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4CDCCF-1BC0-D866-B370-AD2C83637A8F}"/>
              </a:ext>
            </a:extLst>
          </p:cNvPr>
          <p:cNvSpPr txBox="1"/>
          <p:nvPr/>
        </p:nvSpPr>
        <p:spPr>
          <a:xfrm>
            <a:off x="688257" y="1242253"/>
            <a:ext cx="67350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Dinamica prede-predatori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Più fattori: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«Paura» delle prede e fattore di «rifugio»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Competizione di risorse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Quantità e qualità delle risorse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Emigrazione dei predatori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b="1" i="1" u="sng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Articolo scientifico di ispirazione: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F3A0B6-5A5F-4103-CA68-7D3869F21563}"/>
              </a:ext>
            </a:extLst>
          </p:cNvPr>
          <p:cNvSpPr txBox="1"/>
          <p:nvPr/>
        </p:nvSpPr>
        <p:spPr>
          <a:xfrm>
            <a:off x="438027" y="4658573"/>
            <a:ext cx="11315943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Effect of the Fear Factor and Prey Refuge in an Asymmetric Predator–Prey Model</a:t>
            </a:r>
          </a:p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Rasha M. Yaseen · May M. Helal · Kaushik </a:t>
            </a: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Dehingia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· Ahmed A. Mohsen</a:t>
            </a:r>
          </a:p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Brazilian Journal of Physics (2024)</a:t>
            </a:r>
          </a:p>
          <a:p>
            <a:pPr algn="ctr"/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DOI: 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https://doi.org/10.1007/s13538-024-01594-9</a:t>
            </a:r>
            <a:b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A group of black and white books">
            <a:extLst>
              <a:ext uri="{FF2B5EF4-FFF2-40B4-BE49-F238E27FC236}">
                <a16:creationId xmlns:a16="http://schemas.microsoft.com/office/drawing/2014/main" id="{D34E898A-D22B-361E-3757-B9958ED76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204" y="1905975"/>
            <a:ext cx="3896538" cy="1948269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9F9A49-6EAB-475E-F1A0-7281F77EE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09506-6624-4C93-99FC-2FCD7C3B5EE8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3F394-AA29-7D3E-79E3-8E53BC37D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99908-6A31-CACD-4ED7-FFD6629F9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61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0A686-DFD5-2D2F-235D-4DDBFBE48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E1DB56-ABFB-86C3-626B-9709152BDC02}"/>
              </a:ext>
            </a:extLst>
          </p:cNvPr>
          <p:cNvSpPr txBox="1"/>
          <p:nvPr/>
        </p:nvSpPr>
        <p:spPr>
          <a:xfrm>
            <a:off x="688257" y="442035"/>
            <a:ext cx="45441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800" b="1" dirty="0"/>
              <a:t>EQUAZIONE DEL MODELLO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608E6D-59EF-BC53-6D97-AE8E06DBD9BD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D8418-E939-06EA-511E-2EAAD6F76ED1}"/>
              </a:ext>
            </a:extLst>
          </p:cNvPr>
          <p:cNvSpPr txBox="1"/>
          <p:nvPr/>
        </p:nvSpPr>
        <p:spPr>
          <a:xfrm>
            <a:off x="688257" y="1242253"/>
            <a:ext cx="6735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ODE a due variabili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BDC0EA-4505-AAFE-85B4-4BED38C2F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5C1A-9AE7-4CFB-B4BB-FF54D6A71ADB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6902C-A1AD-0D17-FE0F-A6AC2A471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3C6B06-87CC-7D38-FA98-DA670DE27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8625AF-41BF-1309-01A5-3FFADE300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557" y="2718191"/>
            <a:ext cx="9420884" cy="236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696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2A15E-3746-CD8F-3947-6BF57CD4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9D002B-4D76-B070-206B-9D18DC0D25F4}"/>
              </a:ext>
            </a:extLst>
          </p:cNvPr>
          <p:cNvSpPr txBox="1"/>
          <p:nvPr/>
        </p:nvSpPr>
        <p:spPr>
          <a:xfrm>
            <a:off x="688257" y="442035"/>
            <a:ext cx="5925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ANALISI DEL MODELLO: UN’IDEA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5414DF-8D3A-8EB1-392F-00F6B37A7C75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BCA399-369E-6402-B496-FBCC365B7C63}"/>
              </a:ext>
            </a:extLst>
          </p:cNvPr>
          <p:cNvSpPr txBox="1"/>
          <p:nvPr/>
        </p:nvSpPr>
        <p:spPr>
          <a:xfrm>
            <a:off x="688257" y="1242253"/>
            <a:ext cx="6735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ODE a due variabili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1FF5B7-8874-0F28-594B-7CA044AC7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557" y="2718191"/>
            <a:ext cx="9420884" cy="236553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539F47-1891-6A1F-8FF1-9DE33A64B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5C1A-9AE7-4CFB-B4BB-FF54D6A71ADB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F4854-2402-AD96-2E4E-78D062C68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3C0F7E-1C25-F0B8-437E-BED56DA5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4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A96DE-2492-D896-75BA-C6A0F6BD514A}"/>
              </a:ext>
            </a:extLst>
          </p:cNvPr>
          <p:cNvSpPr/>
          <p:nvPr/>
        </p:nvSpPr>
        <p:spPr>
          <a:xfrm>
            <a:off x="2859024" y="3006094"/>
            <a:ext cx="1179576" cy="870962"/>
          </a:xfrm>
          <a:prstGeom prst="rect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67EB51-EB35-9F51-4DFA-4ABCA3E5A209}"/>
              </a:ext>
            </a:extLst>
          </p:cNvPr>
          <p:cNvCxnSpPr>
            <a:cxnSpLocks/>
          </p:cNvCxnSpPr>
          <p:nvPr/>
        </p:nvCxnSpPr>
        <p:spPr>
          <a:xfrm flipH="1" flipV="1">
            <a:off x="2468880" y="2421055"/>
            <a:ext cx="530352" cy="585039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F5AA7A5-E76F-6ED8-449D-07BCE193FD21}"/>
              </a:ext>
            </a:extLst>
          </p:cNvPr>
          <p:cNvSpPr txBox="1"/>
          <p:nvPr/>
        </p:nvSpPr>
        <p:spPr>
          <a:xfrm>
            <a:off x="4443984" y="1947036"/>
            <a:ext cx="1127760" cy="786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54C168-29A1-A77C-B478-CFB4B46A0765}"/>
              </a:ext>
            </a:extLst>
          </p:cNvPr>
          <p:cNvSpPr txBox="1"/>
          <p:nvPr/>
        </p:nvSpPr>
        <p:spPr>
          <a:xfrm>
            <a:off x="1716957" y="1774724"/>
            <a:ext cx="3152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Reproduction rate dipendente da 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FF1A88-F6F6-E071-6198-222AEC29167C}"/>
              </a:ext>
            </a:extLst>
          </p:cNvPr>
          <p:cNvSpPr/>
          <p:nvPr/>
        </p:nvSpPr>
        <p:spPr>
          <a:xfrm>
            <a:off x="8610600" y="3128147"/>
            <a:ext cx="792480" cy="491354"/>
          </a:xfrm>
          <a:prstGeom prst="rect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93B809A-3A49-D107-DF01-58C7869B08A6}"/>
              </a:ext>
            </a:extLst>
          </p:cNvPr>
          <p:cNvCxnSpPr>
            <a:cxnSpLocks/>
          </p:cNvCxnSpPr>
          <p:nvPr/>
        </p:nvCxnSpPr>
        <p:spPr>
          <a:xfrm flipH="1" flipV="1">
            <a:off x="7786411" y="2543108"/>
            <a:ext cx="1100033" cy="585039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3CB2303-409B-F1DF-1068-1AD8E47AA92B}"/>
              </a:ext>
            </a:extLst>
          </p:cNvPr>
          <p:cNvSpPr txBox="1"/>
          <p:nvPr/>
        </p:nvSpPr>
        <p:spPr>
          <a:xfrm>
            <a:off x="7034488" y="1896777"/>
            <a:ext cx="3152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Mortalità dovuta alla paura psicologica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409B31-B0D4-4266-EF0A-45F142BF0093}"/>
              </a:ext>
            </a:extLst>
          </p:cNvPr>
          <p:cNvSpPr/>
          <p:nvPr/>
        </p:nvSpPr>
        <p:spPr>
          <a:xfrm>
            <a:off x="4310167" y="2904883"/>
            <a:ext cx="3379223" cy="1048233"/>
          </a:xfrm>
          <a:prstGeom prst="rect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4F13D53-05A6-26E2-A86C-1EDD9FCAEFA8}"/>
              </a:ext>
            </a:extLst>
          </p:cNvPr>
          <p:cNvCxnSpPr>
            <a:cxnSpLocks/>
          </p:cNvCxnSpPr>
          <p:nvPr/>
        </p:nvCxnSpPr>
        <p:spPr>
          <a:xfrm flipH="1" flipV="1">
            <a:off x="5668765" y="1848856"/>
            <a:ext cx="747446" cy="1056028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80EED8E-5C58-7DBC-8046-A1F377BBE2BC}"/>
              </a:ext>
            </a:extLst>
          </p:cNvPr>
          <p:cNvSpPr txBox="1"/>
          <p:nvPr/>
        </p:nvSpPr>
        <p:spPr>
          <a:xfrm>
            <a:off x="4737820" y="1373063"/>
            <a:ext cx="3152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Predazione, limitata da più fattori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1ACEDB6-80E5-5079-2503-4E33F8A9B059}"/>
              </a:ext>
            </a:extLst>
          </p:cNvPr>
          <p:cNvSpPr/>
          <p:nvPr/>
        </p:nvSpPr>
        <p:spPr>
          <a:xfrm>
            <a:off x="2840736" y="4156857"/>
            <a:ext cx="260604" cy="343745"/>
          </a:xfrm>
          <a:prstGeom prst="rect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28C6900-212A-5427-0043-F3AC95BC90F3}"/>
              </a:ext>
            </a:extLst>
          </p:cNvPr>
          <p:cNvCxnSpPr>
            <a:cxnSpLocks/>
          </p:cNvCxnSpPr>
          <p:nvPr/>
        </p:nvCxnSpPr>
        <p:spPr>
          <a:xfrm flipH="1">
            <a:off x="2209800" y="4500602"/>
            <a:ext cx="750528" cy="78704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12D83CE-E4BD-6BC1-E24B-C02A9DD3530C}"/>
              </a:ext>
            </a:extLst>
          </p:cNvPr>
          <p:cNvSpPr txBox="1"/>
          <p:nvPr/>
        </p:nvSpPr>
        <p:spPr>
          <a:xfrm>
            <a:off x="1157944" y="5246414"/>
            <a:ext cx="3152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Risposta asimmetrica</a:t>
            </a:r>
            <a:b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alla predazione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5315B9E-6E65-8BBD-EAC8-BF32556D9A42}"/>
              </a:ext>
            </a:extLst>
          </p:cNvPr>
          <p:cNvSpPr/>
          <p:nvPr/>
        </p:nvSpPr>
        <p:spPr>
          <a:xfrm>
            <a:off x="7293052" y="4019404"/>
            <a:ext cx="2254807" cy="872718"/>
          </a:xfrm>
          <a:prstGeom prst="rect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0AD12A-FA9F-EBF3-689B-528D5B3F6CEF}"/>
              </a:ext>
            </a:extLst>
          </p:cNvPr>
          <p:cNvSpPr txBox="1"/>
          <p:nvPr/>
        </p:nvSpPr>
        <p:spPr>
          <a:xfrm>
            <a:off x="4968240" y="5380865"/>
            <a:ext cx="533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Emigrazione, incentivata o dalla risorsa alternativa di cibo o dalla quantità di prede «scoperte»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115AA91-FD02-C605-7AD1-F642D97E99CE}"/>
              </a:ext>
            </a:extLst>
          </p:cNvPr>
          <p:cNvCxnSpPr>
            <a:cxnSpLocks/>
          </p:cNvCxnSpPr>
          <p:nvPr/>
        </p:nvCxnSpPr>
        <p:spPr>
          <a:xfrm flipH="1">
            <a:off x="8153400" y="4906870"/>
            <a:ext cx="163363" cy="473995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FA8B5DF-643F-5123-65F9-8E995966C4B4}"/>
              </a:ext>
            </a:extLst>
          </p:cNvPr>
          <p:cNvSpPr/>
          <p:nvPr/>
        </p:nvSpPr>
        <p:spPr>
          <a:xfrm>
            <a:off x="9807654" y="2904883"/>
            <a:ext cx="661415" cy="1987239"/>
          </a:xfrm>
          <a:prstGeom prst="rect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1F8491-B262-ACB7-D6A4-08D0607F2D68}"/>
              </a:ext>
            </a:extLst>
          </p:cNvPr>
          <p:cNvCxnSpPr>
            <a:cxnSpLocks/>
          </p:cNvCxnSpPr>
          <p:nvPr/>
        </p:nvCxnSpPr>
        <p:spPr>
          <a:xfrm flipV="1">
            <a:off x="10469069" y="3369811"/>
            <a:ext cx="274225" cy="531149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519A07A-03E8-5ED2-4800-FEB5D3DA9AC6}"/>
              </a:ext>
            </a:extLst>
          </p:cNvPr>
          <p:cNvSpPr txBox="1"/>
          <p:nvPr/>
        </p:nvSpPr>
        <p:spPr>
          <a:xfrm>
            <a:off x="10565096" y="2682928"/>
            <a:ext cx="3152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Competizione</a:t>
            </a:r>
            <a:b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delle risorse</a:t>
            </a:r>
          </a:p>
        </p:txBody>
      </p:sp>
    </p:spTree>
    <p:extLst>
      <p:ext uri="{BB962C8B-B14F-4D97-AF65-F5344CB8AC3E}">
        <p14:creationId xmlns:p14="http://schemas.microsoft.com/office/powerpoint/2010/main" val="3807585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7213D-0A80-C1C0-CA30-4659965E5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7D450E-7AF7-6095-AB1C-869D7154CD7C}"/>
              </a:ext>
            </a:extLst>
          </p:cNvPr>
          <p:cNvSpPr txBox="1"/>
          <p:nvPr/>
        </p:nvSpPr>
        <p:spPr>
          <a:xfrm>
            <a:off x="688257" y="442035"/>
            <a:ext cx="5925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ANALISI DEL MODELLO: UN’IDEA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B8F344-B360-67F4-F49F-4A068BA9F7A4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3E36C3-7325-147B-7AA5-71BF4F3C3D4E}"/>
              </a:ext>
            </a:extLst>
          </p:cNvPr>
          <p:cNvSpPr txBox="1"/>
          <p:nvPr/>
        </p:nvSpPr>
        <p:spPr>
          <a:xfrm>
            <a:off x="688257" y="1242253"/>
            <a:ext cx="67350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Riassunto: diagramma (</a:t>
            </a:r>
            <a:r>
              <a:rPr lang="it-IT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molto qualitativa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) del modello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EDB7A-DA70-A42C-2439-A16C1C37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5C1A-9AE7-4CFB-B4BB-FF54D6A71ADB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19720-C9CC-48AA-867D-79A9AC47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B4BF3E-93AC-E9A7-7080-ACA026BD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5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FDC86E-7C6A-8F88-4254-47A4D959C711}"/>
              </a:ext>
            </a:extLst>
          </p:cNvPr>
          <p:cNvSpPr/>
          <p:nvPr/>
        </p:nvSpPr>
        <p:spPr>
          <a:xfrm>
            <a:off x="1418301" y="2576052"/>
            <a:ext cx="7070373" cy="2694038"/>
          </a:xfrm>
          <a:prstGeom prst="rect">
            <a:avLst/>
          </a:prstGeom>
          <a:noFill/>
          <a:ln w="57150">
            <a:solidFill>
              <a:srgbClr val="FF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20700A-A9A7-FCBE-AA64-7AC6B3CED7E4}"/>
              </a:ext>
            </a:extLst>
          </p:cNvPr>
          <p:cNvSpPr/>
          <p:nvPr/>
        </p:nvSpPr>
        <p:spPr>
          <a:xfrm>
            <a:off x="9144000" y="2576052"/>
            <a:ext cx="2359742" cy="2694038"/>
          </a:xfrm>
          <a:prstGeom prst="rect">
            <a:avLst/>
          </a:prstGeom>
          <a:noFill/>
          <a:ln w="57150">
            <a:solidFill>
              <a:srgbClr val="99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51D4822-B85C-EC3D-BBF5-8C2205C35E95}"/>
              </a:ext>
            </a:extLst>
          </p:cNvPr>
          <p:cNvSpPr/>
          <p:nvPr/>
        </p:nvSpPr>
        <p:spPr>
          <a:xfrm>
            <a:off x="2155722" y="3876475"/>
            <a:ext cx="108156" cy="10243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56A45AA-7FCA-E192-3E66-DFC5A29D81B0}"/>
              </a:ext>
            </a:extLst>
          </p:cNvPr>
          <p:cNvSpPr/>
          <p:nvPr/>
        </p:nvSpPr>
        <p:spPr>
          <a:xfrm>
            <a:off x="7050810" y="3871851"/>
            <a:ext cx="108156" cy="10243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AD606C-9BB3-B2B4-A51F-0ACEDF21DF81}"/>
              </a:ext>
            </a:extLst>
          </p:cNvPr>
          <p:cNvSpPr txBox="1"/>
          <p:nvPr/>
        </p:nvSpPr>
        <p:spPr>
          <a:xfrm>
            <a:off x="2050518" y="3461405"/>
            <a:ext cx="318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37849D-3CF4-4B07-ACE5-6DCB4CBC0313}"/>
              </a:ext>
            </a:extLst>
          </p:cNvPr>
          <p:cNvSpPr txBox="1"/>
          <p:nvPr/>
        </p:nvSpPr>
        <p:spPr>
          <a:xfrm>
            <a:off x="6945606" y="3410186"/>
            <a:ext cx="318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9A0DF350-62FF-9423-1901-FB17AF73C2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658355" y="1112173"/>
            <a:ext cx="36218" cy="4856849"/>
          </a:xfrm>
          <a:prstGeom prst="curvedConnector3">
            <a:avLst>
              <a:gd name="adj1" fmla="val -1205091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F3D67F9-0109-1C6B-506A-A5BDFBFB8528}"/>
              </a:ext>
            </a:extLst>
          </p:cNvPr>
          <p:cNvCxnSpPr>
            <a:cxnSpLocks/>
          </p:cNvCxnSpPr>
          <p:nvPr/>
        </p:nvCxnSpPr>
        <p:spPr>
          <a:xfrm>
            <a:off x="2369082" y="3923070"/>
            <a:ext cx="462912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6407424-61EB-63D1-FD4C-738ECF4F4C6E}"/>
              </a:ext>
            </a:extLst>
          </p:cNvPr>
          <p:cNvCxnSpPr>
            <a:cxnSpLocks/>
          </p:cNvCxnSpPr>
          <p:nvPr/>
        </p:nvCxnSpPr>
        <p:spPr>
          <a:xfrm>
            <a:off x="762000" y="3923070"/>
            <a:ext cx="11963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81AD31B-47AE-4478-8322-95F4517BD776}"/>
              </a:ext>
            </a:extLst>
          </p:cNvPr>
          <p:cNvCxnSpPr>
            <a:cxnSpLocks/>
          </p:cNvCxnSpPr>
          <p:nvPr/>
        </p:nvCxnSpPr>
        <p:spPr>
          <a:xfrm>
            <a:off x="2208137" y="4084780"/>
            <a:ext cx="0" cy="1574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FD8DB69-0499-53D4-8E13-03F7FEFC269A}"/>
              </a:ext>
            </a:extLst>
          </p:cNvPr>
          <p:cNvCxnSpPr>
            <a:cxnSpLocks/>
          </p:cNvCxnSpPr>
          <p:nvPr/>
        </p:nvCxnSpPr>
        <p:spPr>
          <a:xfrm>
            <a:off x="7104889" y="4084780"/>
            <a:ext cx="0" cy="1574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F48865E-C1CC-20AA-8441-9D57330C23EC}"/>
              </a:ext>
            </a:extLst>
          </p:cNvPr>
          <p:cNvCxnSpPr>
            <a:cxnSpLocks/>
          </p:cNvCxnSpPr>
          <p:nvPr/>
        </p:nvCxnSpPr>
        <p:spPr>
          <a:xfrm>
            <a:off x="7264170" y="3923070"/>
            <a:ext cx="26113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65E44C5-BEE6-8090-F9E4-C34A1C35DE43}"/>
              </a:ext>
            </a:extLst>
          </p:cNvPr>
          <p:cNvSpPr txBox="1"/>
          <p:nvPr/>
        </p:nvSpPr>
        <p:spPr>
          <a:xfrm>
            <a:off x="3289624" y="2717089"/>
            <a:ext cx="277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COMPETONO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73A11E-4D44-3C29-23FB-FE98B3A92569}"/>
              </a:ext>
            </a:extLst>
          </p:cNvPr>
          <p:cNvSpPr txBox="1"/>
          <p:nvPr/>
        </p:nvSpPr>
        <p:spPr>
          <a:xfrm>
            <a:off x="3217902" y="3568786"/>
            <a:ext cx="277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VIENE MANGIATO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F49FA4-5E43-BEE5-7F18-B86148328040}"/>
              </a:ext>
            </a:extLst>
          </p:cNvPr>
          <p:cNvSpPr txBox="1"/>
          <p:nvPr/>
        </p:nvSpPr>
        <p:spPr>
          <a:xfrm>
            <a:off x="2278631" y="5336825"/>
            <a:ext cx="124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MUORE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BA492DB-ABA4-7082-D8A2-6915F1823240}"/>
              </a:ext>
            </a:extLst>
          </p:cNvPr>
          <p:cNvSpPr txBox="1"/>
          <p:nvPr/>
        </p:nvSpPr>
        <p:spPr>
          <a:xfrm>
            <a:off x="7158966" y="5336825"/>
            <a:ext cx="124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MUORE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8BD6DB-99D5-02D3-9458-2A52A3F811FF}"/>
              </a:ext>
            </a:extLst>
          </p:cNvPr>
          <p:cNvSpPr txBox="1"/>
          <p:nvPr/>
        </p:nvSpPr>
        <p:spPr>
          <a:xfrm>
            <a:off x="7264170" y="3604958"/>
            <a:ext cx="3114270" cy="369332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EMIGRA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22DA3A2-667B-EEA0-D202-0C1253B9BBDC}"/>
              </a:ext>
            </a:extLst>
          </p:cNvPr>
          <p:cNvSpPr txBox="1"/>
          <p:nvPr/>
        </p:nvSpPr>
        <p:spPr>
          <a:xfrm>
            <a:off x="838200" y="3558707"/>
            <a:ext cx="124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NASCE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2A98A8-CE62-8355-DC8B-EE3AB103270E}"/>
              </a:ext>
            </a:extLst>
          </p:cNvPr>
          <p:cNvSpPr txBox="1"/>
          <p:nvPr/>
        </p:nvSpPr>
        <p:spPr>
          <a:xfrm>
            <a:off x="5718048" y="2181111"/>
            <a:ext cx="277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latin typeface="Arial" panose="020B0604020202020204" pitchFamily="34" charset="0"/>
                <a:cs typeface="Arial" panose="020B0604020202020204" pitchFamily="34" charset="0"/>
              </a:rPr>
              <a:t>ENV. 1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48B8996-8A4D-E385-6428-B8DC7FD494C6}"/>
              </a:ext>
            </a:extLst>
          </p:cNvPr>
          <p:cNvSpPr txBox="1"/>
          <p:nvPr/>
        </p:nvSpPr>
        <p:spPr>
          <a:xfrm>
            <a:off x="8730062" y="2206720"/>
            <a:ext cx="277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latin typeface="Arial" panose="020B0604020202020204" pitchFamily="34" charset="0"/>
                <a:cs typeface="Arial" panose="020B0604020202020204" pitchFamily="34" charset="0"/>
              </a:rPr>
              <a:t>ENV. 2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179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A4A0F-6F25-08C5-784E-E83B02315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91D8DD-B481-4C6B-4717-5A0CC11A8287}"/>
              </a:ext>
            </a:extLst>
          </p:cNvPr>
          <p:cNvSpPr txBox="1"/>
          <p:nvPr/>
        </p:nvSpPr>
        <p:spPr>
          <a:xfrm>
            <a:off x="688257" y="442035"/>
            <a:ext cx="45441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PUNTI D’EQUILIBRIO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A1F8A8-B389-92E2-11ED-7FDA9114401C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67131C-4276-79B6-316A-0ECA1B1F2593}"/>
                  </a:ext>
                </a:extLst>
              </p:cNvPr>
              <p:cNvSpPr txBox="1"/>
              <p:nvPr/>
            </p:nvSpPr>
            <p:spPr>
              <a:xfrm>
                <a:off x="688256" y="1242253"/>
                <a:ext cx="10406464" cy="4972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Tre punti d’equilibrio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W0: Punto d’equilibrio di estinzione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X=Y=0</a:t>
                </a:r>
              </a:p>
              <a:p>
                <a:pPr lvl="1"/>
                <a:endParaRPr lang="it-IT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W1: Punto d’equilibrio di assenza dei predatori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X=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num>
                      <m:den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Y=0</a:t>
                </a:r>
              </a:p>
              <a:p>
                <a:pPr lvl="1"/>
                <a:endParaRPr lang="it-IT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W2: Punto d’equilibrio di coesistenza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Intersezione delle isocline di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x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̇, 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y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̇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Metodi numerici (fsolve)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Notazione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Li chiameremo W0, W1, W2 o, rispettivamente, «estinzione», «assenza di predatori» e «coesistenza»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67131C-4276-79B6-316A-0ECA1B1F2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6" y="1242253"/>
                <a:ext cx="10406464" cy="4972387"/>
              </a:xfrm>
              <a:prstGeom prst="rect">
                <a:avLst/>
              </a:prstGeom>
              <a:blipFill>
                <a:blip r:embed="rId2"/>
                <a:stretch>
                  <a:fillRect l="-820" t="-859" r="-1113" b="-1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402504-592C-00C0-F28F-9918461FC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CD83-F29B-4178-A789-3E26EABE1C7A}" type="datetime1">
              <a:rPr lang="it-IT" smtClean="0"/>
              <a:t>21/01/2026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2A2D0-C8C4-7061-346C-B0C7DD175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F251D3-0D90-6B83-FD34-5B0132A56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42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3727E-27C8-3BC2-0BE9-6E847212F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AC9E22-B53F-66C9-EC08-8C202BDA41B1}"/>
              </a:ext>
            </a:extLst>
          </p:cNvPr>
          <p:cNvSpPr txBox="1"/>
          <p:nvPr/>
        </p:nvSpPr>
        <p:spPr>
          <a:xfrm>
            <a:off x="688257" y="442035"/>
            <a:ext cx="49911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OBBIETTIVI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8E64B5-1412-B215-45FD-678D251A3117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6B2414-6B16-579D-3FCD-A65D35926A16}"/>
                  </a:ext>
                </a:extLst>
              </p:cNvPr>
              <p:cNvSpPr txBox="1"/>
              <p:nvPr/>
            </p:nvSpPr>
            <p:spPr>
              <a:xfrm>
                <a:off x="688256" y="1242253"/>
                <a:ext cx="9634303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Implementazione del modello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Con Python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Riproduzione dei risultati con i parametri proposti nell’articolo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Con 7 esperimenti</a:t>
                </a: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it-IT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1 simulazione/i per ogni esperimento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Interpretazione biologica dei risultati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Esperimenti aggiuntive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Ciò che non è stato svolto nel paper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Modifiche al modello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6B2414-6B16-579D-3FCD-A65D35926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6" y="1242253"/>
                <a:ext cx="9634303" cy="4524315"/>
              </a:xfrm>
              <a:prstGeom prst="rect">
                <a:avLst/>
              </a:prstGeom>
              <a:blipFill>
                <a:blip r:embed="rId2"/>
                <a:stretch>
                  <a:fillRect l="-886" t="-943" b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3D3DA8-4ED4-1FFD-5BF3-665CBDEC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E659-987F-4162-B81F-7A5AC08EB42B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BE40E-DBD2-F0C8-470A-B85277778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78F72-A646-3A49-DE0A-CCD78E625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2A9BA-5805-9D04-E204-7C7F76A5D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85787D-45A4-A2E5-5B2C-B76D23295D2E}"/>
              </a:ext>
            </a:extLst>
          </p:cNvPr>
          <p:cNvSpPr txBox="1"/>
          <p:nvPr/>
        </p:nvSpPr>
        <p:spPr>
          <a:xfrm>
            <a:off x="688257" y="442035"/>
            <a:ext cx="45441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PARAMETRI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E3D087-4C3C-CD56-67B9-CA955C5B6B48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AD28E0-95C7-B671-EA20-F641E6B270F5}"/>
                  </a:ext>
                </a:extLst>
              </p:cNvPr>
              <p:cNvSpPr txBox="1"/>
              <p:nvPr/>
            </p:nvSpPr>
            <p:spPr>
              <a:xfrm>
                <a:off x="688256" y="1242253"/>
                <a:ext cx="9763433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Parametri «base»: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Variazioni individuali (una mia suddivisione in esperimenti)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0: invariato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1: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2: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002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3: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f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4: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03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0003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ε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001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5: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005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7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6: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25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9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AD28E0-95C7-B671-EA20-F641E6B27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6" y="1242253"/>
                <a:ext cx="9763433" cy="4893647"/>
              </a:xfrm>
              <a:prstGeom prst="rect">
                <a:avLst/>
              </a:prstGeom>
              <a:blipFill>
                <a:blip r:embed="rId2"/>
                <a:stretch>
                  <a:fillRect l="-874" t="-872" b="-1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678160E-EA03-704B-3D41-7A9490F23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233" y="1703918"/>
            <a:ext cx="6621532" cy="13341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D61C79-F204-6CF4-13CA-732C09B8B500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Riproduzione dei risultati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889BB-5A95-B1E2-6295-EC7F00A50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D5E0C-B568-4CE8-9D10-8B739A803584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8BAF1-AF64-079F-5229-460CF5B64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ABA7F1-7DC5-4666-91FC-19BCF9883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306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C1407-7F3D-0C56-D370-740285DC4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B9DCAF-EBA1-6A30-4917-0DCF76E2332D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SECONDO IL PAPER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58EBDD-964C-07FA-E24B-477E6E4847D1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C67B88-1CAA-66E4-C897-C0F1FB28C201}"/>
              </a:ext>
            </a:extLst>
          </p:cNvPr>
          <p:cNvSpPr txBox="1"/>
          <p:nvPr/>
        </p:nvSpPr>
        <p:spPr>
          <a:xfrm>
            <a:off x="688257" y="1147031"/>
            <a:ext cx="8288595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Obbiettivo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: Replicare i seguenti risultati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0: W2 esiste ed è GAS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1: W1 è GAS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2: W0 è GAS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3: Cicli limite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4: W2 GAS per k «grandi», W1 gas per k «piccoli»; cicli limite per epsilon «piccoli»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5: W2 per e piccoli, W1 per e «intermedi» e cicli limite per e «grandi»</a:t>
            </a:r>
          </a:p>
          <a:p>
            <a:pPr lvl="1"/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6: meno predatori per m più grande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FC90B2-4911-9B9D-5A25-7D2058CE2756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Riproduzione dei risultati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446B3F-C9D6-4636-C312-27288D6CA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7D956-8483-48F0-B072-75AF7025ADAB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A5B5-971E-48A8-D742-D1D6E5E26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24FF1-F6C1-419D-6F3D-940B6066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729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C0431-0AB3-F77F-566E-4B9CF6348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72F745-6616-B2F2-E21B-7DFF699640EF}"/>
              </a:ext>
            </a:extLst>
          </p:cNvPr>
          <p:cNvSpPr txBox="1"/>
          <p:nvPr/>
        </p:nvSpPr>
        <p:spPr>
          <a:xfrm>
            <a:off x="688257" y="442035"/>
            <a:ext cx="5742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ESEMPI DI RISULTATI PROPOSTI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1CB0BB-4A2F-1D61-87D7-7F648C57868E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FF9FB1-0FBB-FFB5-95EB-58B7FEEBF26A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Riproduzione dei risultati</a:t>
            </a:r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C1AF1D3-A3B9-9EE7-EB0F-CCA3A8ECF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308" y="2028068"/>
            <a:ext cx="8329382" cy="358171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6C4089-FE40-029D-72F0-3F33CF96F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D458A-1DE7-4BA5-AF5A-3746645FA5DB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D5796-009F-4FB3-876F-1E72E390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5410E-20B5-BE1F-45CE-AB8242380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03D181-7A07-426F-76A1-12764B85F819}"/>
              </a:ext>
            </a:extLst>
          </p:cNvPr>
          <p:cNvSpPr txBox="1"/>
          <p:nvPr/>
        </p:nvSpPr>
        <p:spPr>
          <a:xfrm>
            <a:off x="688257" y="1354929"/>
            <a:ext cx="8288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0</a:t>
            </a:r>
          </a:p>
        </p:txBody>
      </p:sp>
    </p:spTree>
    <p:extLst>
      <p:ext uri="{BB962C8B-B14F-4D97-AF65-F5344CB8AC3E}">
        <p14:creationId xmlns:p14="http://schemas.microsoft.com/office/powerpoint/2010/main" val="871290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56562-8BDE-93CA-B8A3-6627BD45F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914F5B-1802-26F2-D852-42E5D0E4616C}"/>
              </a:ext>
            </a:extLst>
          </p:cNvPr>
          <p:cNvSpPr txBox="1"/>
          <p:nvPr/>
        </p:nvSpPr>
        <p:spPr>
          <a:xfrm>
            <a:off x="688257" y="442035"/>
            <a:ext cx="5742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ESEMPI DI RISULTATI PROPOSTI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3D6C5F-0C3F-8092-57F6-A24F854AB900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D50DA-682F-70E0-40F1-4DAA7E8481A4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Riproduzione dei risultati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90376F-0715-75DD-395E-50C12943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D458A-1DE7-4BA5-AF5A-3746645FA5DB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E4C15-3B5F-8EBB-4429-C59438062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5C400-9ECE-1550-61A9-D1E21F6A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1E5226-C710-E2E7-6EB0-D4D69DFA00B1}"/>
              </a:ext>
            </a:extLst>
          </p:cNvPr>
          <p:cNvSpPr txBox="1"/>
          <p:nvPr/>
        </p:nvSpPr>
        <p:spPr>
          <a:xfrm>
            <a:off x="688257" y="1354929"/>
            <a:ext cx="8288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357260-B120-EA12-FA66-1B98762DB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820" y="2095384"/>
            <a:ext cx="9352358" cy="379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497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6954A-AA7D-8F4D-5329-13B7E38AD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A663B9-820B-B0E5-FB9A-7C8D6DA24DD6}"/>
              </a:ext>
            </a:extLst>
          </p:cNvPr>
          <p:cNvSpPr txBox="1"/>
          <p:nvPr/>
        </p:nvSpPr>
        <p:spPr>
          <a:xfrm>
            <a:off x="688257" y="442035"/>
            <a:ext cx="5742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ESEMPI DI RISULTATI PROPOSTI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F7F1AE-A981-0DE1-3B8F-3562054A01F3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510718-E9DA-374A-5B2F-A3754C324383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Riproduzione dei risultati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EB2DAB-3681-44D7-3171-493A72B47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7CAD-8672-4530-9999-911CF4F320CA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6014F-5003-48C8-1105-7E71707E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963C8-5380-3EFE-D4AE-C25881A2A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8F7B66-6F76-A0EB-BE9D-0CFD56CBD1F0}"/>
              </a:ext>
            </a:extLst>
          </p:cNvPr>
          <p:cNvSpPr txBox="1"/>
          <p:nvPr/>
        </p:nvSpPr>
        <p:spPr>
          <a:xfrm>
            <a:off x="688257" y="1142135"/>
            <a:ext cx="60946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6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CBE3438-1D1E-B28C-7DDB-BDE4312D9320}"/>
              </a:ext>
            </a:extLst>
          </p:cNvPr>
          <p:cNvGrpSpPr/>
          <p:nvPr/>
        </p:nvGrpSpPr>
        <p:grpSpPr>
          <a:xfrm>
            <a:off x="838200" y="1946935"/>
            <a:ext cx="10718560" cy="2964130"/>
            <a:chOff x="688257" y="1593242"/>
            <a:chExt cx="12075413" cy="332768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8A29B57-E549-5DC0-4B9C-A91505FCE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8257" y="1593242"/>
              <a:ext cx="8026719" cy="332768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56B8CB5-FC50-D1AC-1B21-8B0136FC2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14976" y="1603800"/>
              <a:ext cx="4048694" cy="3192240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056BEB5-99ED-3D7A-4B6B-0DE374129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734" y="4920470"/>
            <a:ext cx="5654530" cy="23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287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9CD3-4EE7-6933-6A3A-59C26663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2FBEE5-44C1-ECF7-3BA7-9A5F6E46E216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OTTENUTI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1DF848-6AF8-DC16-B208-60344BE66511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7DBE0B-BACB-F64C-6A97-72A26CF11C2D}"/>
              </a:ext>
            </a:extLst>
          </p:cNvPr>
          <p:cNvSpPr txBox="1"/>
          <p:nvPr/>
        </p:nvSpPr>
        <p:spPr>
          <a:xfrm>
            <a:off x="688257" y="1147031"/>
            <a:ext cx="107141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I risultati sono più o meno consistenti come quelli proposti nel paper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Vediamo i risultati prodotti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+ Una loro interpretazione biologica, dove opportuna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358E90-8217-EFBA-DB66-3487AC7F402E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dei risultati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718F2-8A54-5130-92C7-BBB091EE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7D956-8483-48F0-B072-75AF7025ADAB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52282-2159-84DD-2221-BACE5EF2F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4F787-F6AA-4168-5912-0643BF33C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09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7FFBD-9EAD-F3DD-6BE5-A8CE817F3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CC3CD2-59C3-1AF5-63FE-0ADB4E37851D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OTTENUTI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28B654-44FB-BA0F-C22E-88F638613D01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068918-6D12-ECB7-FAB8-A7A2010C838D}"/>
                  </a:ext>
                </a:extLst>
              </p:cNvPr>
              <p:cNvSpPr txBox="1"/>
              <p:nvPr/>
            </p:nvSpPr>
            <p:spPr>
              <a:xfrm>
                <a:off x="688257" y="1147031"/>
                <a:ext cx="1071412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0: Otteniamo che W2 è GAS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r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	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068918-6D12-ECB7-FAB8-A7A2010C8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147031"/>
                <a:ext cx="10714121" cy="1200329"/>
              </a:xfrm>
              <a:prstGeom prst="rect">
                <a:avLst/>
              </a:prstGeom>
              <a:blipFill>
                <a:blip r:embed="rId4"/>
                <a:stretch>
                  <a:fillRect l="-797" t="-3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3B55D9-8FC5-3A6A-6FA8-498BBB8B4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7D956-8483-48F0-B072-75AF7025ADAB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58DB9-B3B8-F3A2-5406-B006DEF7E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2B928-77B9-A9B6-15EA-F138F5F8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14</a:t>
            </a:fld>
            <a:endParaRPr lang="en-US"/>
          </a:p>
        </p:txBody>
      </p:sp>
      <p:pic>
        <p:nvPicPr>
          <p:cNvPr id="12" name="0_0">
            <a:hlinkClick r:id="" action="ppaction://media"/>
            <a:extLst>
              <a:ext uri="{FF2B5EF4-FFF2-40B4-BE49-F238E27FC236}">
                <a16:creationId xmlns:a16="http://schemas.microsoft.com/office/drawing/2014/main" id="{2560D90F-E0BD-38D7-F3FC-52D61D5FBEA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1999" y="1593242"/>
            <a:ext cx="10668000" cy="4572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BF8743A-E25B-AE38-04DD-36F377DEAC0D}"/>
              </a:ext>
            </a:extLst>
          </p:cNvPr>
          <p:cNvSpPr txBox="1"/>
          <p:nvPr/>
        </p:nvSpPr>
        <p:spPr>
          <a:xfrm>
            <a:off x="7669161" y="128994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dirty="0">
                <a:highlight>
                  <a:srgbClr val="C0C0C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it-IT" sz="2400" b="0" dirty="0">
                <a:highlight>
                  <a:srgbClr val="C0C0C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_0.MP4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F929CE-F124-71A1-776C-03A4D46483CF}"/>
              </a:ext>
            </a:extLst>
          </p:cNvPr>
          <p:cNvSpPr txBox="1"/>
          <p:nvPr/>
        </p:nvSpPr>
        <p:spPr>
          <a:xfrm>
            <a:off x="4925961" y="514495"/>
            <a:ext cx="6577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e Interpretazione dei risultati</a:t>
            </a:r>
          </a:p>
        </p:txBody>
      </p:sp>
    </p:spTree>
    <p:extLst>
      <p:ext uri="{BB962C8B-B14F-4D97-AF65-F5344CB8AC3E}">
        <p14:creationId xmlns:p14="http://schemas.microsoft.com/office/powerpoint/2010/main" val="369901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1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EB0EB-C765-E11C-AB96-F5F10876D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0413DA-474D-4017-5AB0-16E513907F23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OTTENUTI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F87341-58ED-1C1C-7144-08ECEF26046E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0BA51B-6D63-F1E0-55C8-46A05EE80027}"/>
              </a:ext>
            </a:extLst>
          </p:cNvPr>
          <p:cNvSpPr txBox="1"/>
          <p:nvPr/>
        </p:nvSpPr>
        <p:spPr>
          <a:xfrm>
            <a:off x="688257" y="1147031"/>
            <a:ext cx="107141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1: W1 è GAS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F9A156-EFBA-E4B3-1280-4C4F6E0D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7D956-8483-48F0-B072-75AF7025ADAB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F8B0D-0643-D3D6-B95D-12D686DF3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44CEF-4262-0F0D-716B-D77DF8F33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15</a:t>
            </a:fld>
            <a:endParaRPr lang="en-US"/>
          </a:p>
        </p:txBody>
      </p:sp>
      <p:pic>
        <p:nvPicPr>
          <p:cNvPr id="8" name="1_0">
            <a:hlinkClick r:id="" action="ppaction://media"/>
            <a:extLst>
              <a:ext uri="{FF2B5EF4-FFF2-40B4-BE49-F238E27FC236}">
                <a16:creationId xmlns:a16="http://schemas.microsoft.com/office/drawing/2014/main" id="{50ABF2D2-21B1-2FFA-9AC9-395F62F445B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11317" y="1593242"/>
            <a:ext cx="10668000" cy="4572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D325F0-F235-284C-EB89-464BA5A1424F}"/>
              </a:ext>
            </a:extLst>
          </p:cNvPr>
          <p:cNvSpPr txBox="1"/>
          <p:nvPr/>
        </p:nvSpPr>
        <p:spPr>
          <a:xfrm>
            <a:off x="7669161" y="128994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0" dirty="0">
                <a:highlight>
                  <a:srgbClr val="C0C0C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1_0.MP4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F8336A-03FD-F02C-F1AE-23453B901EA2}"/>
              </a:ext>
            </a:extLst>
          </p:cNvPr>
          <p:cNvSpPr txBox="1"/>
          <p:nvPr/>
        </p:nvSpPr>
        <p:spPr>
          <a:xfrm>
            <a:off x="4925961" y="514495"/>
            <a:ext cx="6577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e Interpretazione dei risultati</a:t>
            </a:r>
          </a:p>
        </p:txBody>
      </p:sp>
    </p:spTree>
    <p:extLst>
      <p:ext uri="{BB962C8B-B14F-4D97-AF65-F5344CB8AC3E}">
        <p14:creationId xmlns:p14="http://schemas.microsoft.com/office/powerpoint/2010/main" val="97511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1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6273C-37EB-16E3-C154-A953DDFAC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F2400D-662C-F504-2C46-35D2A3EF4871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OTTENUTI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225558-3052-AB72-A9C9-2A3365F72FD3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EA1807-E2C4-9CCC-A4A0-1C82E5C6C3F3}"/>
                  </a:ext>
                </a:extLst>
              </p:cNvPr>
              <p:cNvSpPr txBox="1"/>
              <p:nvPr/>
            </p:nvSpPr>
            <p:spPr>
              <a:xfrm>
                <a:off x="688257" y="1147031"/>
                <a:ext cx="1071412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2: W0 è GAS (</a:t>
                </a:r>
                <a14:m>
                  <m:oMath xmlns:m="http://schemas.openxmlformats.org/officeDocument/2006/math">
                    <m: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</m:t>
                    </m:r>
                    <m: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002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EA1807-E2C4-9CCC-A4A0-1C82E5C6C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147031"/>
                <a:ext cx="10714121" cy="1200329"/>
              </a:xfrm>
              <a:prstGeom prst="rect">
                <a:avLst/>
              </a:prstGeom>
              <a:blipFill>
                <a:blip r:embed="rId4"/>
                <a:stretch>
                  <a:fillRect l="-797" t="-3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021DC0-70AD-9AB6-F421-2A3212059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7D956-8483-48F0-B072-75AF7025ADAB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8BCD8-E666-EA74-AB3F-8E40090EE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FAA61-DF28-0AD4-808A-ECB99DD58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16</a:t>
            </a:fld>
            <a:endParaRPr lang="en-US"/>
          </a:p>
        </p:txBody>
      </p:sp>
      <p:pic>
        <p:nvPicPr>
          <p:cNvPr id="8" name="2_0">
            <a:hlinkClick r:id="" action="ppaction://media"/>
            <a:extLst>
              <a:ext uri="{FF2B5EF4-FFF2-40B4-BE49-F238E27FC236}">
                <a16:creationId xmlns:a16="http://schemas.microsoft.com/office/drawing/2014/main" id="{B4811720-C0CC-A3F6-4B3B-BFD2EFA561F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11317" y="1593242"/>
            <a:ext cx="10668000" cy="4572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0895D2-389B-1C8E-21EB-D4D4F4CC6A8D}"/>
              </a:ext>
            </a:extLst>
          </p:cNvPr>
          <p:cNvSpPr txBox="1"/>
          <p:nvPr/>
        </p:nvSpPr>
        <p:spPr>
          <a:xfrm>
            <a:off x="7669161" y="128994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dirty="0">
                <a:highlight>
                  <a:srgbClr val="C0C0C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it-IT" sz="2400" b="0" dirty="0">
                <a:highlight>
                  <a:srgbClr val="C0C0C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_0.MP4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B56D63-2F03-637A-1ABC-DBE5E95CF8B1}"/>
              </a:ext>
            </a:extLst>
          </p:cNvPr>
          <p:cNvSpPr txBox="1"/>
          <p:nvPr/>
        </p:nvSpPr>
        <p:spPr>
          <a:xfrm>
            <a:off x="4925961" y="514495"/>
            <a:ext cx="6577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e Interpretazione dei risultati</a:t>
            </a:r>
          </a:p>
        </p:txBody>
      </p:sp>
    </p:spTree>
    <p:extLst>
      <p:ext uri="{BB962C8B-B14F-4D97-AF65-F5344CB8AC3E}">
        <p14:creationId xmlns:p14="http://schemas.microsoft.com/office/powerpoint/2010/main" val="1018082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1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F058E-B7A6-44FA-7387-5A484046E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75ED75-2F14-F3F6-BD49-2EF00FCB2A3D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OTTENUTI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FA1366-FBD3-EB0A-4114-8AE87726CB38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66736C-6D59-0F63-0609-3D84C946114A}"/>
                  </a:ext>
                </a:extLst>
              </p:cNvPr>
              <p:cNvSpPr txBox="1"/>
              <p:nvPr/>
            </p:nvSpPr>
            <p:spPr>
              <a:xfrm>
                <a:off x="688257" y="1147031"/>
                <a:ext cx="1071412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3: Cicli limite (traiettoria verde: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r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66736C-6D59-0F63-0609-3D84C9461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147031"/>
                <a:ext cx="10714121" cy="1200329"/>
              </a:xfrm>
              <a:prstGeom prst="rect">
                <a:avLst/>
              </a:prstGeom>
              <a:blipFill>
                <a:blip r:embed="rId2"/>
                <a:stretch>
                  <a:fillRect l="-797" t="-3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93743-0BB0-3D4B-CE13-61A73E15A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7D956-8483-48F0-B072-75AF7025ADAB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E70B0-3713-4ACA-D1C6-D19E62206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CB71A-14ED-4BAB-DECF-293E951B0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17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1C0738-2692-8174-626A-8A95B72FB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419" y="1747195"/>
            <a:ext cx="8823160" cy="44844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D8251A-BE9C-41F0-DFED-ADD0D368CDAF}"/>
              </a:ext>
            </a:extLst>
          </p:cNvPr>
          <p:cNvSpPr txBox="1"/>
          <p:nvPr/>
        </p:nvSpPr>
        <p:spPr>
          <a:xfrm>
            <a:off x="4925961" y="514495"/>
            <a:ext cx="6577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e Interpretazione dei risultati</a:t>
            </a:r>
          </a:p>
        </p:txBody>
      </p:sp>
    </p:spTree>
    <p:extLst>
      <p:ext uri="{BB962C8B-B14F-4D97-AF65-F5344CB8AC3E}">
        <p14:creationId xmlns:p14="http://schemas.microsoft.com/office/powerpoint/2010/main" val="3815442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E86E9-580B-373C-B337-26674DCBE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985A73-FD36-D39F-BA51-A1934D55BCDA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OTTENUTI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823E86-1AAE-EF69-5343-8068F060D009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5B694C-D5D2-CF03-6405-0A47C58B851B}"/>
                  </a:ext>
                </a:extLst>
              </p:cNvPr>
              <p:cNvSpPr txBox="1"/>
              <p:nvPr/>
            </p:nvSpPr>
            <p:spPr>
              <a:xfrm>
                <a:off x="688257" y="1147031"/>
                <a:ext cx="1071412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it-I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Osservazione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Traiettorie diverse per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r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diversi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5B694C-D5D2-CF03-6405-0A47C58B8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147031"/>
                <a:ext cx="10714121" cy="1569660"/>
              </a:xfrm>
              <a:prstGeom prst="rect">
                <a:avLst/>
              </a:prstGeom>
              <a:blipFill>
                <a:blip r:embed="rId2"/>
                <a:stretch>
                  <a:fillRect l="-797" t="-27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DEF78F-3CB3-570D-AAC7-38E6D560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7D956-8483-48F0-B072-75AF7025ADAB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86D33-EDF6-A976-0FB9-D66222439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F0CBD-858B-9736-7008-B258F990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18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6BEB33-6F19-6677-AD12-1A8625B374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92" t="7100"/>
          <a:stretch>
            <a:fillRect/>
          </a:stretch>
        </p:blipFill>
        <p:spPr>
          <a:xfrm>
            <a:off x="7906404" y="2356295"/>
            <a:ext cx="3620808" cy="3509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73753A-6C6C-9CE9-0BA9-382EBAEEC0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34" t="6649"/>
          <a:stretch>
            <a:fillRect/>
          </a:stretch>
        </p:blipFill>
        <p:spPr>
          <a:xfrm>
            <a:off x="4309065" y="2316574"/>
            <a:ext cx="3546085" cy="33943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9AC70E-6747-E545-B0C9-6F96878071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22" t="6143"/>
          <a:stretch>
            <a:fillRect/>
          </a:stretch>
        </p:blipFill>
        <p:spPr>
          <a:xfrm>
            <a:off x="637003" y="2252156"/>
            <a:ext cx="3620808" cy="35629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34DFE3F-FDDC-921B-11A0-7CE96636BB01}"/>
              </a:ext>
            </a:extLst>
          </p:cNvPr>
          <p:cNvSpPr txBox="1"/>
          <p:nvPr/>
        </p:nvSpPr>
        <p:spPr>
          <a:xfrm>
            <a:off x="4925961" y="514495"/>
            <a:ext cx="6577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e Interpretazione dei risultati</a:t>
            </a:r>
          </a:p>
        </p:txBody>
      </p:sp>
    </p:spTree>
    <p:extLst>
      <p:ext uri="{BB962C8B-B14F-4D97-AF65-F5344CB8AC3E}">
        <p14:creationId xmlns:p14="http://schemas.microsoft.com/office/powerpoint/2010/main" val="1224043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D8A4C-FC40-338E-36D3-9280E0C03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4D3DFE-D3B8-2D4D-3E64-8EBE29F57F90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OTTENUTI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7D5205-3D8C-DA58-2DE3-FB1E628FA701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AC23AE-78C4-4D0B-C1F2-0AFBB89712E1}"/>
                  </a:ext>
                </a:extLst>
              </p:cNvPr>
              <p:cNvSpPr txBox="1"/>
              <p:nvPr/>
            </p:nvSpPr>
            <p:spPr>
              <a:xfrm>
                <a:off x="688257" y="1147031"/>
                <a:ext cx="1071412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4: Scenario «originale»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k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03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AC23AE-78C4-4D0B-C1F2-0AFBB897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147031"/>
                <a:ext cx="10714121" cy="1200329"/>
              </a:xfrm>
              <a:prstGeom prst="rect">
                <a:avLst/>
              </a:prstGeom>
              <a:blipFill>
                <a:blip r:embed="rId2"/>
                <a:stretch>
                  <a:fillRect l="-797" t="-3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FC4AE8-09FA-4086-D041-C589BEDD1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7D956-8483-48F0-B072-75AF7025ADAB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E15A1-0A7C-DA45-E3F6-0FB0DC736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E3826-A35D-1458-39AC-9D708BF7A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19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3FCC87-6928-322F-97A3-D7AB4B1A3F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831" y="1593242"/>
            <a:ext cx="9222972" cy="46876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AF3B9C-FAE2-4B38-3F63-9AB51465D6DA}"/>
              </a:ext>
            </a:extLst>
          </p:cNvPr>
          <p:cNvSpPr txBox="1"/>
          <p:nvPr/>
        </p:nvSpPr>
        <p:spPr>
          <a:xfrm>
            <a:off x="4925961" y="514495"/>
            <a:ext cx="6577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e Interpretazione dei risultati</a:t>
            </a:r>
          </a:p>
        </p:txBody>
      </p:sp>
    </p:spTree>
    <p:extLst>
      <p:ext uri="{BB962C8B-B14F-4D97-AF65-F5344CB8AC3E}">
        <p14:creationId xmlns:p14="http://schemas.microsoft.com/office/powerpoint/2010/main" val="1018029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DE3C1-A9F2-9B3D-DA48-58A8D9BB0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BF0F50-A67F-BD6E-28A6-2DB54222103F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OTTENUTI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73C52-A911-C534-5A49-769D0F2F3A46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6255AB-6350-89EE-F36E-97ED7E75F622}"/>
                  </a:ext>
                </a:extLst>
              </p:cNvPr>
              <p:cNvSpPr txBox="1"/>
              <p:nvPr/>
            </p:nvSpPr>
            <p:spPr>
              <a:xfrm>
                <a:off x="688257" y="1147031"/>
                <a:ext cx="1071412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4: Diminuzione parametro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k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k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0003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6255AB-6350-89EE-F36E-97ED7E75F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147031"/>
                <a:ext cx="10714121" cy="830997"/>
              </a:xfrm>
              <a:prstGeom prst="rect">
                <a:avLst/>
              </a:prstGeom>
              <a:blipFill>
                <a:blip r:embed="rId2"/>
                <a:stretch>
                  <a:fillRect l="-797" t="-51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FEE0B1-5A2C-0141-74E5-7EA60E4B7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7D956-8483-48F0-B072-75AF7025ADAB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76565-B53F-E37B-2712-0B583BCF6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96EB1-53E9-8867-767C-21DF5E6F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44911E-79A9-450D-FC42-9A374CB0D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123" y="1747195"/>
            <a:ext cx="9003752" cy="45057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6BAA4B-1B93-7AE2-95DB-4D05C60BB38E}"/>
              </a:ext>
            </a:extLst>
          </p:cNvPr>
          <p:cNvSpPr txBox="1"/>
          <p:nvPr/>
        </p:nvSpPr>
        <p:spPr>
          <a:xfrm>
            <a:off x="4925961" y="514495"/>
            <a:ext cx="6577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e Interpretazione dei risultati</a:t>
            </a:r>
          </a:p>
        </p:txBody>
      </p:sp>
    </p:spTree>
    <p:extLst>
      <p:ext uri="{BB962C8B-B14F-4D97-AF65-F5344CB8AC3E}">
        <p14:creationId xmlns:p14="http://schemas.microsoft.com/office/powerpoint/2010/main" val="25677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61160-A991-5530-8A41-897097146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BDDC08-24B5-851A-68DD-49FCF4FAA610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OTTENUTI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5575F0-30B7-4B3A-7334-D6020A88A609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094004-9868-C285-3231-86AC1C6DC455}"/>
                  </a:ext>
                </a:extLst>
              </p:cNvPr>
              <p:cNvSpPr txBox="1"/>
              <p:nvPr/>
            </p:nvSpPr>
            <p:spPr>
              <a:xfrm>
                <a:off x="688257" y="1147031"/>
                <a:ext cx="1071412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4: Diminuzione parametro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ε</m:t>
                    </m:r>
                    <m:r>
                      <a:rPr lang="it-IT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ε</m:t>
                    </m:r>
                    <m: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→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ε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001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 mantenendo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k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03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(originale) 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094004-9868-C285-3231-86AC1C6DC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147031"/>
                <a:ext cx="10714121" cy="1569660"/>
              </a:xfrm>
              <a:prstGeom prst="rect">
                <a:avLst/>
              </a:prstGeom>
              <a:blipFill>
                <a:blip r:embed="rId2"/>
                <a:stretch>
                  <a:fillRect l="-797" t="-27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949643-C88E-0E64-F010-C3A459906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7D956-8483-48F0-B072-75AF7025ADAB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332E-06AC-3B39-EDEA-91F48318D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2BF7F-2DE4-8CB2-EA3D-B2118719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2018D1-1CFC-B424-F8A7-29F2FC2CB2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981" y="1873536"/>
            <a:ext cx="8820036" cy="44828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4E6F3A-D8C8-DC1D-AF59-961D1800A9F4}"/>
              </a:ext>
            </a:extLst>
          </p:cNvPr>
          <p:cNvSpPr txBox="1"/>
          <p:nvPr/>
        </p:nvSpPr>
        <p:spPr>
          <a:xfrm>
            <a:off x="4925961" y="514495"/>
            <a:ext cx="6577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e Interpretazione dei risultati</a:t>
            </a:r>
          </a:p>
        </p:txBody>
      </p:sp>
    </p:spTree>
    <p:extLst>
      <p:ext uri="{BB962C8B-B14F-4D97-AF65-F5344CB8AC3E}">
        <p14:creationId xmlns:p14="http://schemas.microsoft.com/office/powerpoint/2010/main" val="2544299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4C007-F670-4731-DF7B-D889C866E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EBFBDC-004D-D5FC-3323-3C44A2FB2732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OTTENUTI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3A80C3-D84E-D7AB-0E4D-B5CDEF890D69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B43730-3A8C-9DCC-8DB3-A1CEB243A7D6}"/>
                  </a:ext>
                </a:extLst>
              </p:cNvPr>
              <p:cNvSpPr txBox="1"/>
              <p:nvPr/>
            </p:nvSpPr>
            <p:spPr>
              <a:xfrm>
                <a:off x="688257" y="1147031"/>
                <a:ext cx="10714121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Interpretazione della 4)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4: i parametri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k</m:t>
                    </m:r>
                    <m: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ε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sfavoriscono prede/predatori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Indica la «forza» esercitata sui predatori nel contesto della competizione delle risorse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Come (quasi) il modello di competizione di Volterra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Fino ad un certo punto! (per epsilon piccoli otteniamo cicli limite)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B43730-3A8C-9DCC-8DB3-A1CEB243A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147031"/>
                <a:ext cx="10714121" cy="3785652"/>
              </a:xfrm>
              <a:prstGeom prst="rect">
                <a:avLst/>
              </a:prstGeom>
              <a:blipFill>
                <a:blip r:embed="rId2"/>
                <a:stretch>
                  <a:fillRect l="-797" t="-1127" r="-1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0F9258-A994-A072-9A95-EFB474201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7D956-8483-48F0-B072-75AF7025ADAB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5465C-8401-64E7-928B-9FB8BFF88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1EFF4-216E-DB04-5330-0B43E0A93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6A453F-2EA1-875A-621D-5D565643AE59}"/>
              </a:ext>
            </a:extLst>
          </p:cNvPr>
          <p:cNvSpPr txBox="1"/>
          <p:nvPr/>
        </p:nvSpPr>
        <p:spPr>
          <a:xfrm>
            <a:off x="4925961" y="514495"/>
            <a:ext cx="6577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e Interpretazione dei risultati</a:t>
            </a:r>
          </a:p>
        </p:txBody>
      </p:sp>
    </p:spTree>
    <p:extLst>
      <p:ext uri="{BB962C8B-B14F-4D97-AF65-F5344CB8AC3E}">
        <p14:creationId xmlns:p14="http://schemas.microsoft.com/office/powerpoint/2010/main" val="3906399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91E21-AAA5-F7A1-E32B-577E28A69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EEE619-CD70-42E6-3AA4-A8F4A37FAB06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OTTENUTI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316D00-6D3F-0792-192A-67D2915B125B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BC6EE2-B158-42DF-54BA-E58A05758F13}"/>
                  </a:ext>
                </a:extLst>
              </p:cNvPr>
              <p:cNvSpPr txBox="1"/>
              <p:nvPr/>
            </p:nvSpPr>
            <p:spPr>
              <a:xfrm>
                <a:off x="688257" y="1147031"/>
                <a:ext cx="1071412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5: Per valori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e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diversi otteniamo traiettorie completamente diverse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BC6EE2-B158-42DF-54BA-E58A05758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147031"/>
                <a:ext cx="10714121" cy="1200329"/>
              </a:xfrm>
              <a:prstGeom prst="rect">
                <a:avLst/>
              </a:prstGeom>
              <a:blipFill>
                <a:blip r:embed="rId2"/>
                <a:stretch>
                  <a:fillRect l="-797" t="-3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F25384-1BA1-F7D5-9F0D-D56DDE8F0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7D956-8483-48F0-B072-75AF7025ADAB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5F702-8582-3B8E-9887-2CB132B1D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7B0F0-51CC-54B0-6AB8-CB2FB2280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A34C78-B93F-6B28-66EB-EFF35CD927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836" y="1687735"/>
            <a:ext cx="9160326" cy="46557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7F7AD2-9A1E-7EE5-1943-6E2E30648199}"/>
              </a:ext>
            </a:extLst>
          </p:cNvPr>
          <p:cNvSpPr txBox="1"/>
          <p:nvPr/>
        </p:nvSpPr>
        <p:spPr>
          <a:xfrm>
            <a:off x="4925961" y="514495"/>
            <a:ext cx="6577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e Interpretazione dei risultati</a:t>
            </a:r>
          </a:p>
        </p:txBody>
      </p:sp>
    </p:spTree>
    <p:extLst>
      <p:ext uri="{BB962C8B-B14F-4D97-AF65-F5344CB8AC3E}">
        <p14:creationId xmlns:p14="http://schemas.microsoft.com/office/powerpoint/2010/main" val="1077698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DEDB1-5A54-BC66-14B9-99438663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6B6110-18E2-DA06-F24F-D3F5F94557D8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OTTENUTI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C4C7E-AB26-5380-649A-62D75E8D4027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F43838-CACA-E6E8-D982-850C52FC6146}"/>
                  </a:ext>
                </a:extLst>
              </p:cNvPr>
              <p:cNvSpPr txBox="1"/>
              <p:nvPr/>
            </p:nvSpPr>
            <p:spPr>
              <a:xfrm>
                <a:off x="688257" y="1147031"/>
                <a:ext cx="10714121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5: Per valori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e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diversi otteniamo traiettorie completamente diverse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W1, W2 o ciclo limite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Determina la «forma» della traiettoria, in forme non topologicamente equivalenti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F43838-CACA-E6E8-D982-850C52FC6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147031"/>
                <a:ext cx="10714121" cy="2677656"/>
              </a:xfrm>
              <a:prstGeom prst="rect">
                <a:avLst/>
              </a:prstGeom>
              <a:blipFill>
                <a:blip r:embed="rId2"/>
                <a:stretch>
                  <a:fillRect l="-797" t="-1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E06098-AC8E-39EA-50E0-1B5A291C5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7D956-8483-48F0-B072-75AF7025ADAB}" type="datetime1">
              <a:rPr lang="it-IT" smtClean="0"/>
              <a:t>21/01/2026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8658F-F0C8-7D01-FCA4-12706EBA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82B62-E064-BA9E-376C-FF01EC275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8EB0E4-3E5C-C68D-E1A8-F8E352388B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471861"/>
            <a:ext cx="7617542" cy="38716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85BF97-E44E-FC97-0CF1-E0BD93EB9E6D}"/>
              </a:ext>
            </a:extLst>
          </p:cNvPr>
          <p:cNvSpPr txBox="1"/>
          <p:nvPr/>
        </p:nvSpPr>
        <p:spPr>
          <a:xfrm>
            <a:off x="4925961" y="514495"/>
            <a:ext cx="6577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e Interpretazione dei risultati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8054D6-308B-3E58-7328-EE4CB55CE885}"/>
              </a:ext>
            </a:extLst>
          </p:cNvPr>
          <p:cNvSpPr txBox="1"/>
          <p:nvPr/>
        </p:nvSpPr>
        <p:spPr>
          <a:xfrm>
            <a:off x="688257" y="3715784"/>
            <a:ext cx="11405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r"/>
            <a:r>
              <a:rPr lang="it-IT" sz="24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Green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r"/>
            <a:r>
              <a:rPr lang="it-IT" sz="24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Blue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443DA1-6AC4-B5C5-1570-E845F539C51A}"/>
                  </a:ext>
                </a:extLst>
              </p:cNvPr>
              <p:cNvSpPr txBox="1"/>
              <p:nvPr/>
            </p:nvSpPr>
            <p:spPr>
              <a:xfrm>
                <a:off x="1828798" y="3715784"/>
                <a:ext cx="154916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𝑒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005</m:t>
                      </m:r>
                    </m:oMath>
                  </m:oMathPara>
                </a14:m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𝑒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</m:oMath>
                  </m:oMathPara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e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7</m:t>
                      </m:r>
                    </m:oMath>
                  </m:oMathPara>
                </a14:m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443DA1-6AC4-B5C5-1570-E845F539C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798" y="3715784"/>
                <a:ext cx="1549165" cy="1200329"/>
              </a:xfrm>
              <a:prstGeom prst="rect">
                <a:avLst/>
              </a:prstGeom>
              <a:blipFill>
                <a:blip r:embed="rId4"/>
                <a:stretch>
                  <a:fillRect r="-1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7640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09A48-0D3D-429B-94EA-9455D0D70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7FDAB9-2FE6-CDBE-0BAD-67FD77FAAF85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OTTENUTI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54EFF6-4A83-D566-94F3-68292166327A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49F0BF-B137-FD67-82A4-28FB311F5613}"/>
                  </a:ext>
                </a:extLst>
              </p:cNvPr>
              <p:cNvSpPr txBox="1"/>
              <p:nvPr/>
            </p:nvSpPr>
            <p:spPr>
              <a:xfrm>
                <a:off x="8004147" y="2188521"/>
                <a:ext cx="3956105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6: Il parametro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m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sfavorisce i predatori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 effetti, indica «quanto si nascondono» le prede; meno prede «visibili» </a:t>
                </a:r>
                <a14:m>
                  <m:oMath xmlns:m="http://schemas.openxmlformats.org/officeDocument/2006/math">
                    <m:r>
                      <a:rPr lang="it-IT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meno predazione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49F0BF-B137-FD67-82A4-28FB311F5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147" y="2188521"/>
                <a:ext cx="3956105" cy="4154984"/>
              </a:xfrm>
              <a:prstGeom prst="rect">
                <a:avLst/>
              </a:prstGeom>
              <a:blipFill>
                <a:blip r:embed="rId2"/>
                <a:stretch>
                  <a:fillRect l="-2003" t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4AB6E78-4D04-F635-A89F-3325199DE87C}"/>
              </a:ext>
            </a:extLst>
          </p:cNvPr>
          <p:cNvSpPr txBox="1"/>
          <p:nvPr/>
        </p:nvSpPr>
        <p:spPr>
          <a:xfrm>
            <a:off x="4925961" y="514495"/>
            <a:ext cx="6577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e Interpretazione dei risultati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48B900-37FE-D891-4C68-3E8577916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7D956-8483-48F0-B072-75AF7025ADAB}" type="datetime1">
              <a:rPr lang="it-IT" smtClean="0"/>
              <a:t>21/01/2026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9F79A-788A-D0EB-FBEB-E5EF7119B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60FC1-6805-1C3C-FE78-EA0540336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D9DCA1-6BFA-A057-A960-8134F8BCF7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97" y="1444265"/>
            <a:ext cx="6905499" cy="35097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84C3ED-9829-00E2-596F-F75EC9709922}"/>
              </a:ext>
            </a:extLst>
          </p:cNvPr>
          <p:cNvSpPr txBox="1"/>
          <p:nvPr/>
        </p:nvSpPr>
        <p:spPr>
          <a:xfrm>
            <a:off x="3047312" y="4866588"/>
            <a:ext cx="11405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r"/>
            <a:r>
              <a:rPr lang="it-IT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Green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r"/>
            <a:r>
              <a:rPr lang="it-IT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76F8B0-5476-C3D3-03BB-ADA9639D4799}"/>
                  </a:ext>
                </a:extLst>
              </p:cNvPr>
              <p:cNvSpPr txBox="1"/>
              <p:nvPr/>
            </p:nvSpPr>
            <p:spPr>
              <a:xfrm>
                <a:off x="4187853" y="4866588"/>
                <a:ext cx="154916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m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1</m:t>
                      </m:r>
                    </m:oMath>
                  </m:oMathPara>
                </a14:m>
                <a:endParaRPr lang="it-IT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m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25</m:t>
                      </m:r>
                    </m:oMath>
                  </m:oMathPara>
                </a14:m>
                <a:endParaRPr lang="it-IT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m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9</m:t>
                      </m:r>
                    </m:oMath>
                  </m:oMathPara>
                </a14:m>
                <a:endParaRPr lang="it-IT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76F8B0-5476-C3D3-03BB-ADA9639D4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853" y="4866588"/>
                <a:ext cx="1549165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3307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BDE77-1D47-6679-BF7F-01B39EDAC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685A1F-5E89-447C-43A5-111C74075040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ULTERIORI SPERIMENTAZIONI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20AC3E-7693-5EF2-ADD1-5171E6B4A390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A9BD0E-6101-BB72-CD0C-F6B3B412E1E3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CCC3012-19D7-C76B-25B0-866D342315B4}"/>
                  </a:ext>
                </a:extLst>
              </p:cNvPr>
              <p:cNvSpPr txBox="1"/>
              <p:nvPr/>
            </p:nvSpPr>
            <p:spPr>
              <a:xfrm>
                <a:off x="688257" y="1152986"/>
                <a:ext cx="10028904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Sperimentazioni con altri parametri: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Non visti/modificati nel paper</a:t>
                </a: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Fattore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αθ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Fattore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</m:oMath>
                </a14:m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Cosa succede al modello? Come viene influenzata la stabilità?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Parametri: stessi dell’esperimento 0 (W2 LAS)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Collegamenti con altri modelli prede-predatori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MacArthur-Rosenzweig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Modifiche al modello (Strada verso al caos)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Periodicizzazione di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σ</m:t>
                    </m:r>
                  </m:oMath>
                </a14:m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CCC3012-19D7-C76B-25B0-866D34231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152986"/>
                <a:ext cx="10028904" cy="4893647"/>
              </a:xfrm>
              <a:prstGeom prst="rect">
                <a:avLst/>
              </a:prstGeom>
              <a:blipFill>
                <a:blip r:embed="rId2"/>
                <a:stretch>
                  <a:fillRect l="-851" t="-872" b="-1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588AD-4A53-AC39-5FDC-962763761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6487E-47B2-E8F5-D950-30C70724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4304-72F4-2CCB-5650-9280065B4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43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425A3-A17A-E86E-40CE-C2602872B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B109E4-023D-9AAE-29E9-40A6930BD57E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FATTORE </a:t>
            </a:r>
            <a:r>
              <a:rPr lang="el-GR" sz="2800" b="1" dirty="0"/>
              <a:t>αθ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D6AE5C-BEBB-50EA-C3A3-F09815BDF230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DBF9D8-6A4A-9DF4-013C-0739E7CEA80A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F1F18-9B90-7C78-D732-B23D9F61B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79F01-0EFF-7581-3164-84C4F218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6FC86-7911-4BBF-01D3-9D5A570E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27</a:t>
            </a:fld>
            <a:endParaRPr lang="en-US" dirty="0"/>
          </a:p>
        </p:txBody>
      </p:sp>
      <p:pic>
        <p:nvPicPr>
          <p:cNvPr id="10" name="Picture 9" descr="A diagram of a diagram&#10;&#10;AI-generated content may be incorrect.">
            <a:extLst>
              <a:ext uri="{FF2B5EF4-FFF2-40B4-BE49-F238E27FC236}">
                <a16:creationId xmlns:a16="http://schemas.microsoft.com/office/drawing/2014/main" id="{913F4DF8-8440-13C2-D076-CAD7EA95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42" y="1488475"/>
            <a:ext cx="5353050" cy="457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C350B4-7901-887D-1E2B-9563234F695E}"/>
                  </a:ext>
                </a:extLst>
              </p:cNvPr>
              <p:cNvSpPr txBox="1"/>
              <p:nvPr/>
            </p:nvSpPr>
            <p:spPr>
              <a:xfrm>
                <a:off x="6213010" y="1696983"/>
                <a:ext cx="5447687" cy="4154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Intuizione modellistica: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Più e migliori risorse </a:t>
                </a:r>
                <a14:m>
                  <m:oMath xmlns:m="http://schemas.openxmlformats.org/officeDocument/2006/math">
                    <m:r>
                      <a:rPr lang="it-IT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⇒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Meno incentivi per predazione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Risultato: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Più e migliori risorse </a:t>
                </a:r>
                <a14:m>
                  <m:oMath xmlns:m="http://schemas.openxmlformats.org/officeDocument/2006/math">
                    <m:r>
                      <a:rPr lang="it-IT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⇒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W2 tende a W1 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Quindi meno predatori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Intuizione confermata; meno predazione implica meno predatori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C350B4-7901-887D-1E2B-9563234F6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010" y="1696983"/>
                <a:ext cx="5447687" cy="4154984"/>
              </a:xfrm>
              <a:prstGeom prst="rect">
                <a:avLst/>
              </a:prstGeom>
              <a:blipFill>
                <a:blip r:embed="rId3"/>
                <a:stretch>
                  <a:fillRect l="-1454" t="-1026" r="-2573" b="-2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6081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5363B-C443-2C30-76AC-1A20ED6B1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D8A499-2D61-3350-373E-8EBD281DB141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FATTORE </a:t>
            </a:r>
            <a:r>
              <a:rPr lang="el-GR" sz="2800" b="1" dirty="0"/>
              <a:t>𝜎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BBA5D8-A77B-7A34-15A4-D5765E556311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2678C-7842-9FB1-14CE-5E5831F4C67F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24BAF3-B0FA-49A4-4F07-372D1C29C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AAAC8-FFC7-7B63-19BE-AF2B8C105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A1E7B-5B7F-2BF9-E56B-74329CFA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3955B6-A31B-BE5E-7BDD-21C6641EF41B}"/>
                  </a:ext>
                </a:extLst>
              </p:cNvPr>
              <p:cNvSpPr txBox="1"/>
              <p:nvPr/>
            </p:nvSpPr>
            <p:spPr>
              <a:xfrm>
                <a:off x="6213010" y="1983429"/>
                <a:ext cx="544768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Risultato analogo per </a:t>
                </a:r>
                <a14:m>
                  <m:oMath xmlns:m="http://schemas.openxmlformats.org/officeDocument/2006/math">
                    <m: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Questa volta fatto variare «solo» in [0,10]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3955B6-A31B-BE5E-7BDD-21C6641EF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010" y="1983429"/>
                <a:ext cx="5447687" cy="1200329"/>
              </a:xfrm>
              <a:prstGeom prst="rect">
                <a:avLst/>
              </a:prstGeom>
              <a:blipFill>
                <a:blip r:embed="rId2"/>
                <a:stretch>
                  <a:fillRect l="-1454" t="-3553" r="-895" b="-1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A diagram of a graph&#10;&#10;AI-generated content may be incorrect.">
            <a:extLst>
              <a:ext uri="{FF2B5EF4-FFF2-40B4-BE49-F238E27FC236}">
                <a16:creationId xmlns:a16="http://schemas.microsoft.com/office/drawing/2014/main" id="{B2263EAB-BD24-3C41-ED62-87EE15141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57" y="1416015"/>
            <a:ext cx="53530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281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B6A40-D661-9A26-0E43-D4D937EBC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F2C9DA-85F0-4279-745E-F5A7627C2113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FATTORE </a:t>
            </a:r>
            <a:r>
              <a:rPr lang="el-GR" sz="2800" b="1" dirty="0"/>
              <a:t>𝜎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C17A29-B201-8A6E-5DFB-AF2E0F3F1329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ADCA7A-CA30-93E7-807D-37D345A7EF64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64E64-4683-F6B2-A4E8-3147F1ED8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6F43F-BCD3-A849-551B-FD5B61092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95E78-CE82-F067-7EBD-C1EB7772B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29</a:t>
            </a:fld>
            <a:endParaRPr lang="en-US"/>
          </a:p>
        </p:txBody>
      </p:sp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5C000E7-208C-EC4A-1744-A812B88A2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40" y="1416015"/>
            <a:ext cx="9891320" cy="462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25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EB176-FD21-9972-85AD-5E86C4416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DD6E96-A531-748B-9AFC-F8F457F979E8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COLLEGAMENTI CON ALTRI MODELLI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A767E-5F74-183F-BD8A-E142A8086684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E33071-B55D-76E6-1141-2406EC6B1E9B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028AEB-CD72-69F8-4F77-009BFED571C8}"/>
              </a:ext>
            </a:extLst>
          </p:cNvPr>
          <p:cNvSpPr txBox="1"/>
          <p:nvPr/>
        </p:nvSpPr>
        <p:spPr>
          <a:xfrm>
            <a:off x="688257" y="1257642"/>
            <a:ext cx="100289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b="0" dirty="0">
                <a:latin typeface="Arial" panose="020B0604020202020204" pitchFamily="34" charset="0"/>
                <a:cs typeface="Arial" panose="020B0604020202020204" pitchFamily="34" charset="0"/>
              </a:rPr>
              <a:t>Modello «assomiglia» a MacArthur-Rosenzweig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b="0" dirty="0">
                <a:latin typeface="Arial" panose="020B0604020202020204" pitchFamily="34" charset="0"/>
                <a:cs typeface="Arial" panose="020B0604020202020204" pitchFamily="34" charset="0"/>
              </a:rPr>
              <a:t>Con una configurazione specifica di parametri il nostro modello diventa effettivamente MacArthur-Rosenzweig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Implicazione: Il modello è una generalizzazione di MacArthur-Rosenzweig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Con più fattori «realistici»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Paura psicologica, competizione di risorse, ...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4DA80-DC8C-1E09-C3EA-F8E7D4919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DB564-13DE-9A02-5657-6CD85B03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CDC1F-2FE3-3237-CE42-54C201545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30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69D56C9-23A1-FE09-2767-EE8B93A25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57" y="4764955"/>
            <a:ext cx="5506488" cy="1382652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F7FD840C-0F7E-A2AC-6942-BFD5CA1B08AE}"/>
              </a:ext>
            </a:extLst>
          </p:cNvPr>
          <p:cNvSpPr/>
          <p:nvPr/>
        </p:nvSpPr>
        <p:spPr>
          <a:xfrm>
            <a:off x="6338412" y="5065121"/>
            <a:ext cx="2128520" cy="78232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6C146A7-E801-86E0-A8D6-3652B801B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4823830"/>
            <a:ext cx="2530059" cy="131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5848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B749-1F4D-3C8D-B04B-64095978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B3DBD2-A48E-B0C8-E3EE-D6BD177A0413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COLLEGAMENTI CON ALTRI MODELLI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B935FA-FED0-BF8A-FDDB-188FD38BFB40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E88E89-A1A5-A9A6-C629-AE652A842AA9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9220AD-08EB-5DFA-1AAD-84CC98F360DE}"/>
                  </a:ext>
                </a:extLst>
              </p:cNvPr>
              <p:cNvSpPr txBox="1"/>
              <p:nvPr/>
            </p:nvSpPr>
            <p:spPr>
              <a:xfrm>
                <a:off x="688257" y="2657439"/>
                <a:ext cx="10028904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Sostituzioni fatte: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f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ψ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σ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ε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a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αθ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Annullo gli «effetti» non previsti da MacArthur e Rosenzweig</a:t>
                </a: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Fattore di paura, competizione, cibo esterno, emigrazione, ...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r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k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it-IT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it-IT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d</m:t>
                    </m:r>
                    <m:r>
                      <a:rPr lang="it-IT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it-IT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Mantengo i tassi di mortalità e di natalità delle prede</a:t>
                </a: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Anche dei predatori, tenendo conto del fattore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</m:oMath>
                </a14:m>
                <a:endParaRPr lang="it-IT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𝜂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it-IT" sz="2400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it-IT" sz="2400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𝐶</m:t>
                    </m:r>
                    <m:r>
                      <a:rPr lang="it-IT" sz="2400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𝜌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β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η</m:t>
                    </m:r>
                  </m:oMath>
                </a14:m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Normalizzo gli effetti della predazione, in particolare dell’effetto «rifugio»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9220AD-08EB-5DFA-1AAD-84CC98F36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2657439"/>
                <a:ext cx="10028904" cy="4154984"/>
              </a:xfrm>
              <a:prstGeom prst="rect">
                <a:avLst/>
              </a:prstGeom>
              <a:blipFill>
                <a:blip r:embed="rId2"/>
                <a:stretch>
                  <a:fillRect l="-851" t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05222-C95B-7886-F96D-987C6F3A6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B2C9D-3B0E-5A1C-A010-2F7175AA8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38F64-D8E6-D642-B507-3F2C72B98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31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B3B561-A5D4-BE9A-91BA-DED51B9AE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57" y="1163780"/>
            <a:ext cx="5506488" cy="13826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94334D-43E6-F262-6E0F-E66844F6E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222655"/>
            <a:ext cx="2530059" cy="1310754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40BF01AD-C16E-E2C3-49B0-4C6C3E1AC506}"/>
              </a:ext>
            </a:extLst>
          </p:cNvPr>
          <p:cNvSpPr/>
          <p:nvPr/>
        </p:nvSpPr>
        <p:spPr>
          <a:xfrm>
            <a:off x="6338412" y="1421944"/>
            <a:ext cx="2128520" cy="78232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0083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602B6-37FB-BC5D-F277-BCD537DCE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6C65D-5EF0-A4C9-FFB3-230F06C844C3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COLLEGAMENTI CON ALTRI MODELLI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39952E-1EAC-3C35-A76D-B77F744168E8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1A43ED-02E2-0709-B026-5B46A23C9233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740828-9B7F-E3FF-41DF-B0BEBF6C6AD4}"/>
                  </a:ext>
                </a:extLst>
              </p:cNvPr>
              <p:cNvSpPr txBox="1"/>
              <p:nvPr/>
            </p:nvSpPr>
            <p:spPr>
              <a:xfrm>
                <a:off x="688257" y="2657439"/>
                <a:ext cx="1002890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Osservazione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Parametro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e</m:t>
                    </m:r>
                  </m:oMath>
                </a14:m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è direttamente proporzionale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ρ</m:t>
                    </m:r>
                  </m:oMath>
                </a14:m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 un certo senso, è il parametro «critico» della biforcazione di Hopf</a:t>
                </a:r>
              </a:p>
              <a:p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740828-9B7F-E3FF-41DF-B0BEBF6C6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2657439"/>
                <a:ext cx="10028904" cy="2308324"/>
              </a:xfrm>
              <a:prstGeom prst="rect">
                <a:avLst/>
              </a:prstGeom>
              <a:blipFill>
                <a:blip r:embed="rId2"/>
                <a:stretch>
                  <a:fillRect l="-851" t="-1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56675-AC97-8054-AFAE-22BE19EAD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834C9-C10A-2D43-D4BA-91FAA7327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6A2E0-0862-6862-886E-E78DB90D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32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896FE-456A-B0E0-FA9A-C97EFD0E5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57" y="1163780"/>
            <a:ext cx="5506488" cy="13826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38540F-A84A-A67D-19A1-6526AD6EC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222655"/>
            <a:ext cx="2530059" cy="1310754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AE116618-FDEE-E0A1-F9F1-081061B15F2C}"/>
              </a:ext>
            </a:extLst>
          </p:cNvPr>
          <p:cNvSpPr/>
          <p:nvPr/>
        </p:nvSpPr>
        <p:spPr>
          <a:xfrm>
            <a:off x="6338412" y="1421944"/>
            <a:ext cx="2128520" cy="78232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4171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878E8-7228-B9DF-2B81-8282CD904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AE2B87-9447-308D-6B54-CA5D1C35FFC9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COLLEGAMENTI CON ALTRI MODELLI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A108AF-49E3-4FE1-C520-FA2DFF57EF1C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17D058-20F9-DCF2-3796-597833C76136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BFAA65-C227-660C-8375-B2514318FC7D}"/>
                  </a:ext>
                </a:extLst>
              </p:cNvPr>
              <p:cNvSpPr txBox="1"/>
              <p:nvPr/>
            </p:nvSpPr>
            <p:spPr>
              <a:xfrm>
                <a:off x="688257" y="1257642"/>
                <a:ext cx="10028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Alcuni esempi di simulazioni, con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η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75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BFAA65-C227-660C-8375-B2514318F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257642"/>
                <a:ext cx="10028904" cy="461665"/>
              </a:xfrm>
              <a:prstGeom prst="rect">
                <a:avLst/>
              </a:prstGeom>
              <a:blipFill>
                <a:blip r:embed="rId2"/>
                <a:stretch>
                  <a:fillRect l="-851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A6C41-10ED-D903-C8AC-A707055C5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AEFA8-026E-CB1A-C27A-334804137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5CF99-446E-61A9-B7B1-A07C2993D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698638-306C-FC9C-21F1-E7B93D6E6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55" y="1932721"/>
            <a:ext cx="10695088" cy="37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7876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BF7E6-343D-DABC-5484-2D48BF007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4040A3-5C4C-1D73-B92C-A950F7E2EE20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COLLEGAMENTI CON ALTRI MODELLI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17D963-34FB-63CD-59A5-B0457CAFDA62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0096CF-6995-9BE2-127D-FD1BEA41E29D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14FBE6-8F2B-5DB2-21DE-41802B7A24A3}"/>
              </a:ext>
            </a:extLst>
          </p:cNvPr>
          <p:cNvSpPr txBox="1"/>
          <p:nvPr/>
        </p:nvSpPr>
        <p:spPr>
          <a:xfrm>
            <a:off x="688257" y="1257642"/>
            <a:ext cx="10028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b="0" dirty="0">
                <a:latin typeface="Arial" panose="020B0604020202020204" pitchFamily="34" charset="0"/>
                <a:cs typeface="Arial" panose="020B0604020202020204" pitchFamily="34" charset="0"/>
              </a:rPr>
              <a:t>Altra implementazione di MR (Notebook del corso «</a:t>
            </a:r>
            <a:r>
              <a:rPr lang="it-IT" sz="2400" b="0" dirty="0">
                <a:highlight>
                  <a:srgbClr val="C0C0C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CS6 ROSEN.ipynb</a:t>
            </a:r>
            <a:r>
              <a:rPr lang="it-IT" sz="2400" b="0" dirty="0">
                <a:latin typeface="Arial" panose="020B0604020202020204" pitchFamily="34" charset="0"/>
                <a:cs typeface="Arial" panose="020B0604020202020204" pitchFamily="34" charset="0"/>
              </a:rPr>
              <a:t>»; simulazioni coincidenti </a:t>
            </a: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AD288-F606-2847-61EA-7FF6C73E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DF56F-9104-E659-6738-62E06E1FD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7B094-A599-5F4A-6CC6-7F1D7D7B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4116CA-2D9C-1E57-B5DE-68DA83ABD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849" y="2276259"/>
            <a:ext cx="9328300" cy="396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8873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8717D-328D-1E30-7D92-DF1D9A8DA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70B23C-8420-4275-7CB6-2F7EA88B6344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LA STRADA VERSO IL CHAOS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FA630A-C88E-C897-D482-450113FCA622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E4A4EC-D33E-59B9-7581-5EB9E511C200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93925-065C-EBFC-76EF-7B0DCCC36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F80A6-C104-62A2-FB05-CC314D40F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40545-A8E7-20EC-FC81-8B8038977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35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D6A5C1-1D27-0709-F1EB-63674208A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068" y="2434777"/>
            <a:ext cx="10448596" cy="198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038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2D599-1F26-AB8B-E12F-54DC3F3C0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111B0E-61C1-73E3-72A1-C985A61DD392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LA STRADA VERSO IL CHAOS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664AE7-F5F9-4DF1-76CE-DA9BFCAA3702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9F635B-778E-9D9C-CA6F-D55BBE20AAD9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86A891B-9C9A-7D73-A595-39A4D97F4A45}"/>
                  </a:ext>
                </a:extLst>
              </p:cNvPr>
              <p:cNvSpPr txBox="1"/>
              <p:nvPr/>
            </p:nvSpPr>
            <p:spPr>
              <a:xfrm>
                <a:off x="688257" y="1070022"/>
                <a:ext cx="10028904" cy="56485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Idea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Se rendessimo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σ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una funzione periodica ?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Intuizione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La migrazione è stagionale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Cosa faremo: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Definiamo la famiglia di funzioni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A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ω</m:t>
                        </m:r>
                      </m:sub>
                    </m:sSub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t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):=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A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sin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ωt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)+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Effettuiamo un po’ di esperimenti con questa famiglia di oscillatori</a:t>
                </a: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partire dai parametri dell’esperimento 0</a:t>
                </a:r>
              </a:p>
              <a:p>
                <a:pPr lvl="2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Cosa aspettiamo: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Chaos, Butterfly Effect dovuti a Parametric Resonance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86A891B-9C9A-7D73-A595-39A4D97F4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070022"/>
                <a:ext cx="10028904" cy="5648534"/>
              </a:xfrm>
              <a:prstGeom prst="rect">
                <a:avLst/>
              </a:prstGeom>
              <a:blipFill>
                <a:blip r:embed="rId2"/>
                <a:stretch>
                  <a:fillRect l="-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1BFD0-1E5F-5C56-7B26-A37F4EB7B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3F99-B0AE-AAB2-C0DB-A59B72E9E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90CEC-EE09-D975-1B7E-A9D412D8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BC8050-97D2-F796-46EE-4B5E244F1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753" y="1059117"/>
            <a:ext cx="7708492" cy="146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381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6FC8E-0EB3-51A8-FC02-4BB780421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7DAA87-46CF-A6EA-E41E-1C3116D42124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LA STRADA VERSO IL CHAOS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907262-6745-6934-7DDE-C9989BD0C63A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02C3EC-0405-9EB1-FBDF-6F0C02069943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6129A-57B6-BFAF-39BE-69CE8CB98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EF8E2-2A4F-5E1A-27FF-A6F286C9B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B253F-AFE9-6281-8A9B-5507334AE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9A0F13-0306-3502-5A72-87C9ED08CD3F}"/>
              </a:ext>
            </a:extLst>
          </p:cNvPr>
          <p:cNvSpPr txBox="1"/>
          <p:nvPr/>
        </p:nvSpPr>
        <p:spPr>
          <a:xfrm>
            <a:off x="688257" y="1182283"/>
            <a:ext cx="1002890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VARIAZIONE DELLE FREQUENZE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23EE78-6B09-B336-16DC-95648BAAB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20" y="1708458"/>
            <a:ext cx="11529158" cy="382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589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D2346-7A77-19D3-063D-DA80B3B84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58EF56-9B76-4037-5263-3B78A4DCDDDF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LA STRADA VERSO IL CHAOS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E9298C-8670-D4D1-C260-727A7E0BF959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E73302-800E-25D0-335F-853D9721F781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88698-21CD-6FD5-F535-56DF4A731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52A91-6A23-0755-B5CE-1ED7563C5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4BC75-658D-4EB3-CC2B-2EBFF4A0E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EB83C2-93F5-668C-7EEF-1DAA55C4A31B}"/>
                  </a:ext>
                </a:extLst>
              </p:cNvPr>
              <p:cNvSpPr txBox="1"/>
              <p:nvPr/>
            </p:nvSpPr>
            <p:spPr>
              <a:xfrm>
                <a:off x="688257" y="1182283"/>
                <a:ext cx="1002890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Si ha il «fenomeno caos» per valori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ω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«intermedi»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Troppo piccolo o grande: il modello ha ciclo limite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Intermedio: CHAOS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EB83C2-93F5-668C-7EEF-1DAA55C4A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182283"/>
                <a:ext cx="10028904" cy="1938992"/>
              </a:xfrm>
              <a:prstGeom prst="rect">
                <a:avLst/>
              </a:prstGeom>
              <a:blipFill>
                <a:blip r:embed="rId2"/>
                <a:stretch>
                  <a:fillRect l="-851" t="-2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5DE41AF-B057-165D-0460-F5FABA165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20" y="2382612"/>
            <a:ext cx="11529158" cy="382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0966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5B9A3-0005-4CEA-4FF3-223748B27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4582B9-76D5-D6C1-2F3C-1E3CDF3FE252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LA STRADA VERSO IL CHAOS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41339F-0751-FC43-FF43-6FBBA1B0AB65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D077C3-8945-E7BF-87C7-8DC9ED6FF8DD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F6C81-4A64-06AB-ACCC-B10BD29C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935A9-2255-E575-4411-5458E294B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3981B-3271-56CF-ABC0-D613D9D0F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B547F2-2C4A-A839-F956-C4B95F5AC9AD}"/>
                  </a:ext>
                </a:extLst>
              </p:cNvPr>
              <p:cNvSpPr txBox="1"/>
              <p:nvPr/>
            </p:nvSpPr>
            <p:spPr>
              <a:xfrm>
                <a:off x="688257" y="1070022"/>
                <a:ext cx="10028904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ω</m:t>
                    </m:r>
                    <m:r>
                      <a:rPr lang="it-IT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</m:oMath>
                </a14:m>
                <a:endParaRPr lang="it-IT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Modello CAOTICO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B547F2-2C4A-A839-F956-C4B95F5AC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070022"/>
                <a:ext cx="10028904" cy="16312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75777E55-FB23-9E90-11BE-B6CB814BC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846" y="1986228"/>
            <a:ext cx="8598306" cy="437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9774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42D27-504C-A092-75BF-BF7457186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CA3650-49EA-C6A5-5E74-AE6AA6433103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LA STRADA VERSO IL CHAOS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7EE08D-3AC6-EAE6-DA52-34797B968E03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0DD122-3C8E-38D3-F2C5-613C35384268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AAC2B-F6A9-852D-B552-0A7E4499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26181-02A7-60D3-B432-9DF8F6A4A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E7F87-3F9C-6914-F8B3-4F1910C3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40</a:t>
            </a:fld>
            <a:endParaRPr lang="en-US"/>
          </a:p>
        </p:txBody>
      </p:sp>
      <p:pic>
        <p:nvPicPr>
          <p:cNvPr id="10" name="CHAOS_0">
            <a:hlinkClick r:id="" action="ppaction://media"/>
            <a:extLst>
              <a:ext uri="{FF2B5EF4-FFF2-40B4-BE49-F238E27FC236}">
                <a16:creationId xmlns:a16="http://schemas.microsoft.com/office/drawing/2014/main" id="{EBCA956E-7999-43D9-D26C-6A0F2070CEB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" y="1745848"/>
            <a:ext cx="10757842" cy="46105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A61483-008F-BE28-0F4C-BAD39BF2E609}"/>
              </a:ext>
            </a:extLst>
          </p:cNvPr>
          <p:cNvSpPr txBox="1"/>
          <p:nvPr/>
        </p:nvSpPr>
        <p:spPr>
          <a:xfrm>
            <a:off x="1170039" y="123134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0" dirty="0">
                <a:highlight>
                  <a:srgbClr val="C0C0C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CHAOS_0.MP4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438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34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50237-83F1-E7C6-A033-30B7446FF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76EED3-35ED-C343-7F9C-67B00295CA5A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LA STRADA VERSO IL CHAOS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74BAD-D455-C7DB-5BFB-5457E4746E0C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B83FC-0648-61B7-CBC6-60C5E6B415AA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A6531-19B2-A501-D49D-2E20B44FC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21/01/2026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08A3F-F9DD-DD39-7745-3821C28B9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98CE7-F685-451F-002E-07B8D654C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41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A13012-EDC2-9F54-5AA1-9CC03131FC79}"/>
              </a:ext>
            </a:extLst>
          </p:cNvPr>
          <p:cNvSpPr txBox="1"/>
          <p:nvPr/>
        </p:nvSpPr>
        <p:spPr>
          <a:xfrm>
            <a:off x="688257" y="1286331"/>
            <a:ext cx="1002890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Traiettorie del modello per punti iniziali diversi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CHAOS_ALT_0">
            <a:hlinkClick r:id="" action="ppaction://media"/>
            <a:extLst>
              <a:ext uri="{FF2B5EF4-FFF2-40B4-BE49-F238E27FC236}">
                <a16:creationId xmlns:a16="http://schemas.microsoft.com/office/drawing/2014/main" id="{F8CA034B-F4E6-A6D7-F630-7031EA10ECD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5800" y="1843965"/>
            <a:ext cx="10668000" cy="4572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0E2241-0849-0F1F-3067-11FBAE8615B9}"/>
              </a:ext>
            </a:extLst>
          </p:cNvPr>
          <p:cNvSpPr txBox="1"/>
          <p:nvPr/>
        </p:nvSpPr>
        <p:spPr>
          <a:xfrm>
            <a:off x="8967019" y="18106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0" dirty="0">
                <a:highlight>
                  <a:srgbClr val="C0C0C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CHAOS_ALT_0.MP4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7148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85217-A8C6-9B9E-2F45-959790350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28EB63-E5B1-9F7D-3183-43FAEB1D0947}"/>
              </a:ext>
            </a:extLst>
          </p:cNvPr>
          <p:cNvSpPr txBox="1"/>
          <p:nvPr/>
        </p:nvSpPr>
        <p:spPr>
          <a:xfrm>
            <a:off x="0" y="1976491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/>
              <a:t>Grazie per l’attenzione!</a:t>
            </a:r>
          </a:p>
          <a:p>
            <a:pPr algn="ctr"/>
            <a:endParaRPr lang="it-IT" sz="4400" b="1" dirty="0"/>
          </a:p>
          <a:p>
            <a:pPr algn="ctr"/>
            <a:endParaRPr lang="en-US" sz="44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CE3495-C8C7-F7F0-E99E-C79B299A4809}"/>
              </a:ext>
            </a:extLst>
          </p:cNvPr>
          <p:cNvSpPr/>
          <p:nvPr/>
        </p:nvSpPr>
        <p:spPr>
          <a:xfrm>
            <a:off x="1720645" y="1728330"/>
            <a:ext cx="8524568" cy="1156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93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</TotalTime>
  <Words>1874</Words>
  <Application>Microsoft Office PowerPoint</Application>
  <PresentationFormat>Widescreen</PresentationFormat>
  <Paragraphs>397</Paragraphs>
  <Slides>42</Slides>
  <Notes>2</Notes>
  <HiddenSlides>0</HiddenSlides>
  <MMClips>5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Aptos</vt:lpstr>
      <vt:lpstr>Aptos Display</vt:lpstr>
      <vt:lpstr>Arial</vt:lpstr>
      <vt:lpstr>Cambria Math</vt:lpstr>
      <vt:lpstr>Cascadia Code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 DINO [SM3201466]</dc:creator>
  <cp:lastModifiedBy>MENG DINO [SM3201466]</cp:lastModifiedBy>
  <cp:revision>109</cp:revision>
  <dcterms:created xsi:type="dcterms:W3CDTF">2025-12-30T16:32:43Z</dcterms:created>
  <dcterms:modified xsi:type="dcterms:W3CDTF">2026-01-21T21:03:24Z</dcterms:modified>
</cp:coreProperties>
</file>